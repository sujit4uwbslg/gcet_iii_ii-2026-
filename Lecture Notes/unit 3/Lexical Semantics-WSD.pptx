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9" r:id="rId3"/>
    <p:sldId id="260" r:id="rId4"/>
    <p:sldId id="262" r:id="rId5"/>
    <p:sldId id="263" r:id="rId6"/>
    <p:sldId id="266" r:id="rId7"/>
    <p:sldId id="269" r:id="rId8"/>
    <p:sldId id="271" r:id="rId9"/>
    <p:sldId id="273" r:id="rId10"/>
    <p:sldId id="276" r:id="rId11"/>
    <p:sldId id="277" r:id="rId12"/>
    <p:sldId id="280" r:id="rId13"/>
    <p:sldId id="282" r:id="rId14"/>
    <p:sldId id="284" r:id="rId15"/>
    <p:sldId id="286" r:id="rId16"/>
    <p:sldId id="287" r:id="rId17"/>
    <p:sldId id="288" r:id="rId18"/>
    <p:sldId id="331" r:id="rId19"/>
    <p:sldId id="334" r:id="rId20"/>
    <p:sldId id="335" r:id="rId21"/>
    <p:sldId id="336" r:id="rId22"/>
    <p:sldId id="340" r:id="rId23"/>
    <p:sldId id="347" r:id="rId24"/>
    <p:sldId id="348" r:id="rId25"/>
    <p:sldId id="349" r:id="rId26"/>
    <p:sldId id="350" r:id="rId27"/>
    <p:sldId id="351" r:id="rId28"/>
    <p:sldId id="354" r:id="rId29"/>
    <p:sldId id="356" r:id="rId30"/>
    <p:sldId id="363" r:id="rId31"/>
    <p:sldId id="365" r:id="rId32"/>
    <p:sldId id="367" r:id="rId33"/>
    <p:sldId id="368" r:id="rId34"/>
    <p:sldId id="369" r:id="rId35"/>
    <p:sldId id="370" r:id="rId36"/>
    <p:sldId id="371" r:id="rId37"/>
    <p:sldId id="372" r:id="rId38"/>
    <p:sldId id="373" r:id="rId39"/>
    <p:sldId id="375" r:id="rId40"/>
    <p:sldId id="380" r:id="rId41"/>
    <p:sldId id="381" r:id="rId42"/>
    <p:sldId id="383" r:id="rId43"/>
    <p:sldId id="385" r:id="rId44"/>
    <p:sldId id="386" r:id="rId45"/>
    <p:sldId id="388" r:id="rId46"/>
    <p:sldId id="390" r:id="rId47"/>
    <p:sldId id="391" r:id="rId48"/>
    <p:sldId id="392" r:id="rId49"/>
  </p:sldIdLst>
  <p:sldSz cx="4610100" cy="3460750"/>
  <p:notesSz cx="4610100" cy="34607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76" d="100"/>
          <a:sy n="176" d="100"/>
        </p:scale>
        <p:origin x="-1483" y="-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5300" y="60502"/>
            <a:ext cx="2722245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1">
                <a:solidFill>
                  <a:schemeClr val="bg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1">
                <a:solidFill>
                  <a:schemeClr val="bg1"/>
                </a:solidFill>
                <a:latin typeface="Cambria"/>
                <a:cs typeface="Cambria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20" dirty="0"/>
              <a:t>Pawan</a:t>
            </a:r>
            <a:r>
              <a:rPr spc="15" dirty="0"/>
              <a:t> </a:t>
            </a:r>
            <a:r>
              <a:rPr dirty="0"/>
              <a:t>Goyal</a:t>
            </a:r>
            <a:r>
              <a:rPr spc="170" dirty="0"/>
              <a:t> </a:t>
            </a:r>
            <a:r>
              <a:rPr dirty="0"/>
              <a:t>(IIT</a:t>
            </a:r>
            <a:r>
              <a:rPr spc="15" dirty="0"/>
              <a:t> </a:t>
            </a:r>
            <a:r>
              <a:rPr spc="-10" dirty="0"/>
              <a:t>Kharagpur)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1">
                <a:solidFill>
                  <a:schemeClr val="bg1"/>
                </a:solidFill>
                <a:latin typeface="Cambria"/>
                <a:cs typeface="Cambria"/>
              </a:defRPr>
            </a:lvl1pPr>
          </a:lstStyle>
          <a:p>
            <a:pPr marL="755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dirty="0"/>
              <a:t>‹#›</a:t>
            </a:fld>
            <a:r>
              <a:rPr spc="-5" dirty="0"/>
              <a:t> </a:t>
            </a:r>
            <a:r>
              <a:rPr spc="-110" dirty="0"/>
              <a:t>/</a:t>
            </a:r>
            <a:r>
              <a:rPr spc="15" dirty="0"/>
              <a:t> </a:t>
            </a:r>
            <a:r>
              <a:rPr spc="-25" dirty="0"/>
              <a:t>18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1">
                <a:solidFill>
                  <a:schemeClr val="bg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1">
                <a:solidFill>
                  <a:schemeClr val="bg1"/>
                </a:solidFill>
                <a:latin typeface="Cambria"/>
                <a:cs typeface="Cambria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20" dirty="0"/>
              <a:t>Pawan</a:t>
            </a:r>
            <a:r>
              <a:rPr spc="15" dirty="0"/>
              <a:t> </a:t>
            </a:r>
            <a:r>
              <a:rPr dirty="0"/>
              <a:t>Goyal</a:t>
            </a:r>
            <a:r>
              <a:rPr spc="170" dirty="0"/>
              <a:t> </a:t>
            </a:r>
            <a:r>
              <a:rPr dirty="0"/>
              <a:t>(IIT</a:t>
            </a:r>
            <a:r>
              <a:rPr spc="15" dirty="0"/>
              <a:t> </a:t>
            </a:r>
            <a:r>
              <a:rPr spc="-10" dirty="0"/>
              <a:t>Kharagpur)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1">
                <a:solidFill>
                  <a:schemeClr val="bg1"/>
                </a:solidFill>
                <a:latin typeface="Cambria"/>
                <a:cs typeface="Cambria"/>
              </a:defRPr>
            </a:lvl1pPr>
          </a:lstStyle>
          <a:p>
            <a:pPr marL="755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dirty="0"/>
              <a:t>‹#›</a:t>
            </a:fld>
            <a:r>
              <a:rPr spc="-5" dirty="0"/>
              <a:t> </a:t>
            </a:r>
            <a:r>
              <a:rPr spc="-110" dirty="0"/>
              <a:t>/</a:t>
            </a:r>
            <a:r>
              <a:rPr spc="15" dirty="0"/>
              <a:t> </a:t>
            </a:r>
            <a:r>
              <a:rPr spc="-25" dirty="0"/>
              <a:t>18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1">
                <a:solidFill>
                  <a:schemeClr val="bg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1">
                <a:solidFill>
                  <a:schemeClr val="bg1"/>
                </a:solidFill>
                <a:latin typeface="Cambria"/>
                <a:cs typeface="Cambria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20" dirty="0"/>
              <a:t>Pawan</a:t>
            </a:r>
            <a:r>
              <a:rPr spc="15" dirty="0"/>
              <a:t> </a:t>
            </a:r>
            <a:r>
              <a:rPr dirty="0"/>
              <a:t>Goyal</a:t>
            </a:r>
            <a:r>
              <a:rPr spc="170" dirty="0"/>
              <a:t> </a:t>
            </a:r>
            <a:r>
              <a:rPr dirty="0"/>
              <a:t>(IIT</a:t>
            </a:r>
            <a:r>
              <a:rPr spc="15" dirty="0"/>
              <a:t> </a:t>
            </a:r>
            <a:r>
              <a:rPr spc="-10" dirty="0"/>
              <a:t>Kharagpur)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1">
                <a:solidFill>
                  <a:schemeClr val="bg1"/>
                </a:solidFill>
                <a:latin typeface="Cambria"/>
                <a:cs typeface="Cambria"/>
              </a:defRPr>
            </a:lvl1pPr>
          </a:lstStyle>
          <a:p>
            <a:pPr marL="755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dirty="0"/>
              <a:t>‹#›</a:t>
            </a:fld>
            <a:r>
              <a:rPr spc="-5" dirty="0"/>
              <a:t> </a:t>
            </a:r>
            <a:r>
              <a:rPr spc="-110" dirty="0"/>
              <a:t>/</a:t>
            </a:r>
            <a:r>
              <a:rPr spc="15" dirty="0"/>
              <a:t> </a:t>
            </a:r>
            <a:r>
              <a:rPr spc="-25" dirty="0"/>
              <a:t>18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1">
                <a:solidFill>
                  <a:schemeClr val="bg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1">
                <a:solidFill>
                  <a:schemeClr val="bg1"/>
                </a:solidFill>
                <a:latin typeface="Cambria"/>
                <a:cs typeface="Cambria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20" dirty="0"/>
              <a:t>Pawan</a:t>
            </a:r>
            <a:r>
              <a:rPr spc="15" dirty="0"/>
              <a:t> </a:t>
            </a:r>
            <a:r>
              <a:rPr dirty="0"/>
              <a:t>Goyal</a:t>
            </a:r>
            <a:r>
              <a:rPr spc="170" dirty="0"/>
              <a:t> </a:t>
            </a:r>
            <a:r>
              <a:rPr dirty="0"/>
              <a:t>(IIT</a:t>
            </a:r>
            <a:r>
              <a:rPr spc="15" dirty="0"/>
              <a:t> </a:t>
            </a:r>
            <a:r>
              <a:rPr spc="-10" dirty="0"/>
              <a:t>Kharagpur)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1">
                <a:solidFill>
                  <a:schemeClr val="bg1"/>
                </a:solidFill>
                <a:latin typeface="Cambria"/>
                <a:cs typeface="Cambria"/>
              </a:defRPr>
            </a:lvl1pPr>
          </a:lstStyle>
          <a:p>
            <a:pPr marL="755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dirty="0"/>
              <a:t>‹#›</a:t>
            </a:fld>
            <a:r>
              <a:rPr spc="-5" dirty="0"/>
              <a:t> </a:t>
            </a:r>
            <a:r>
              <a:rPr spc="-110" dirty="0"/>
              <a:t>/</a:t>
            </a:r>
            <a:r>
              <a:rPr spc="15" dirty="0"/>
              <a:t> </a:t>
            </a:r>
            <a:r>
              <a:rPr spc="-25" dirty="0"/>
              <a:t>18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095396" y="3262426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5"/>
                </a:moveTo>
                <a:lnTo>
                  <a:pt x="43014" y="30365"/>
                </a:lnTo>
                <a:lnTo>
                  <a:pt x="43014" y="0"/>
                </a:lnTo>
                <a:lnTo>
                  <a:pt x="0" y="0"/>
                </a:lnTo>
                <a:lnTo>
                  <a:pt x="0" y="30365"/>
                </a:lnTo>
                <a:close/>
              </a:path>
            </a:pathLst>
          </a:custGeom>
          <a:ln w="5054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3015781" y="3258464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49"/>
                </a:lnTo>
                <a:lnTo>
                  <a:pt x="25400" y="38099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3193582" y="3258464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099"/>
                </a:lnTo>
                <a:lnTo>
                  <a:pt x="25400" y="19049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3344659" y="3252114"/>
            <a:ext cx="64135" cy="50800"/>
          </a:xfrm>
          <a:custGeom>
            <a:avLst/>
            <a:gdLst/>
            <a:ahLst/>
            <a:cxnLst/>
            <a:rect l="l" t="t" r="r" b="b"/>
            <a:pathLst>
              <a:path w="64135" h="50800">
                <a:moveTo>
                  <a:pt x="0" y="50799"/>
                </a:moveTo>
                <a:lnTo>
                  <a:pt x="43014" y="50799"/>
                </a:lnTo>
                <a:lnTo>
                  <a:pt x="43014" y="20434"/>
                </a:lnTo>
                <a:lnTo>
                  <a:pt x="0" y="20434"/>
                </a:lnTo>
                <a:lnTo>
                  <a:pt x="0" y="50799"/>
                </a:lnTo>
                <a:close/>
              </a:path>
              <a:path w="64135" h="50800">
                <a:moveTo>
                  <a:pt x="10490" y="20319"/>
                </a:moveTo>
                <a:lnTo>
                  <a:pt x="10490" y="10159"/>
                </a:lnTo>
                <a:lnTo>
                  <a:pt x="53670" y="10159"/>
                </a:lnTo>
                <a:lnTo>
                  <a:pt x="53670" y="40639"/>
                </a:lnTo>
                <a:lnTo>
                  <a:pt x="43510" y="40639"/>
                </a:lnTo>
              </a:path>
              <a:path w="64135" h="50800">
                <a:moveTo>
                  <a:pt x="20650" y="10159"/>
                </a:moveTo>
                <a:lnTo>
                  <a:pt x="20650" y="0"/>
                </a:lnTo>
                <a:lnTo>
                  <a:pt x="63830" y="0"/>
                </a:lnTo>
                <a:lnTo>
                  <a:pt x="63830" y="30479"/>
                </a:lnTo>
                <a:lnTo>
                  <a:pt x="53670" y="30479"/>
                </a:lnTo>
              </a:path>
            </a:pathLst>
          </a:custGeom>
          <a:ln w="5054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3281490" y="3258464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49"/>
                </a:lnTo>
                <a:lnTo>
                  <a:pt x="25400" y="38099"/>
                </a:lnTo>
                <a:lnTo>
                  <a:pt x="25400" y="0"/>
                </a:lnTo>
                <a:close/>
              </a:path>
              <a:path w="203200" h="38100">
                <a:moveTo>
                  <a:pt x="177800" y="0"/>
                </a:moveTo>
                <a:lnTo>
                  <a:pt x="177800" y="38099"/>
                </a:lnTo>
                <a:lnTo>
                  <a:pt x="203200" y="19049"/>
                </a:lnTo>
                <a:lnTo>
                  <a:pt x="1778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3636112" y="3264814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4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3547212" y="3258464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49"/>
                </a:lnTo>
                <a:lnTo>
                  <a:pt x="25400" y="38099"/>
                </a:lnTo>
                <a:lnTo>
                  <a:pt x="25400" y="0"/>
                </a:lnTo>
                <a:close/>
              </a:path>
              <a:path w="203200" h="38100">
                <a:moveTo>
                  <a:pt x="177800" y="0"/>
                </a:moveTo>
                <a:lnTo>
                  <a:pt x="177800" y="38099"/>
                </a:lnTo>
                <a:lnTo>
                  <a:pt x="203200" y="19049"/>
                </a:lnTo>
                <a:lnTo>
                  <a:pt x="1778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3623412" y="3252113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4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3889122" y="3252113"/>
            <a:ext cx="50800" cy="25400"/>
          </a:xfrm>
          <a:custGeom>
            <a:avLst/>
            <a:gdLst/>
            <a:ahLst/>
            <a:cxnLst/>
            <a:rect l="l" t="t" r="r" b="b"/>
            <a:pathLst>
              <a:path w="50800" h="25400">
                <a:moveTo>
                  <a:pt x="0" y="0"/>
                </a:moveTo>
                <a:lnTo>
                  <a:pt x="38100" y="0"/>
                </a:lnTo>
              </a:path>
              <a:path w="50800" h="25400">
                <a:moveTo>
                  <a:pt x="12700" y="12700"/>
                </a:moveTo>
                <a:lnTo>
                  <a:pt x="50800" y="12700"/>
                </a:lnTo>
              </a:path>
              <a:path w="50800" h="25400">
                <a:moveTo>
                  <a:pt x="12700" y="25400"/>
                </a:moveTo>
                <a:lnTo>
                  <a:pt x="50800" y="25400"/>
                </a:lnTo>
              </a:path>
            </a:pathLst>
          </a:custGeom>
          <a:ln w="7594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3812922" y="3258464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49"/>
                </a:lnTo>
                <a:lnTo>
                  <a:pt x="25400" y="38099"/>
                </a:lnTo>
                <a:lnTo>
                  <a:pt x="25400" y="0"/>
                </a:lnTo>
                <a:close/>
              </a:path>
              <a:path w="203200" h="38100">
                <a:moveTo>
                  <a:pt x="177800" y="0"/>
                </a:moveTo>
                <a:lnTo>
                  <a:pt x="177800" y="38099"/>
                </a:lnTo>
                <a:lnTo>
                  <a:pt x="203200" y="19049"/>
                </a:lnTo>
                <a:lnTo>
                  <a:pt x="1778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3889122" y="3290214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0" y="0"/>
                </a:moveTo>
                <a:lnTo>
                  <a:pt x="38100" y="0"/>
                </a:lnTo>
              </a:path>
              <a:path w="50800" h="12700">
                <a:moveTo>
                  <a:pt x="12700" y="12699"/>
                </a:moveTo>
                <a:lnTo>
                  <a:pt x="50800" y="12699"/>
                </a:lnTo>
              </a:path>
            </a:pathLst>
          </a:custGeom>
          <a:ln w="7594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4154831" y="3252113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0" y="1270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4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4451033" y="3282594"/>
            <a:ext cx="20320" cy="20320"/>
          </a:xfrm>
          <a:custGeom>
            <a:avLst/>
            <a:gdLst/>
            <a:ahLst/>
            <a:cxnLst/>
            <a:rect l="l" t="t" r="r" b="b"/>
            <a:pathLst>
              <a:path w="20320" h="20320">
                <a:moveTo>
                  <a:pt x="0" y="0"/>
                </a:moveTo>
                <a:lnTo>
                  <a:pt x="20320" y="20319"/>
                </a:lnTo>
              </a:path>
            </a:pathLst>
          </a:custGeom>
          <a:ln w="7594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4423971" y="3256093"/>
            <a:ext cx="30480" cy="30480"/>
          </a:xfrm>
          <a:custGeom>
            <a:avLst/>
            <a:gdLst/>
            <a:ahLst/>
            <a:cxnLst/>
            <a:rect l="l" t="t" r="r" b="b"/>
            <a:pathLst>
              <a:path w="30479" h="30479">
                <a:moveTo>
                  <a:pt x="30365" y="15189"/>
                </a:moveTo>
                <a:lnTo>
                  <a:pt x="30365" y="6807"/>
                </a:lnTo>
                <a:lnTo>
                  <a:pt x="23571" y="0"/>
                </a:lnTo>
                <a:lnTo>
                  <a:pt x="15176" y="0"/>
                </a:lnTo>
                <a:lnTo>
                  <a:pt x="6794" y="0"/>
                </a:lnTo>
                <a:lnTo>
                  <a:pt x="0" y="6807"/>
                </a:lnTo>
                <a:lnTo>
                  <a:pt x="0" y="15189"/>
                </a:lnTo>
                <a:lnTo>
                  <a:pt x="0" y="23571"/>
                </a:lnTo>
                <a:lnTo>
                  <a:pt x="6794" y="30378"/>
                </a:lnTo>
                <a:lnTo>
                  <a:pt x="15176" y="30378"/>
                </a:lnTo>
                <a:lnTo>
                  <a:pt x="23571" y="30378"/>
                </a:lnTo>
                <a:lnTo>
                  <a:pt x="30365" y="23571"/>
                </a:lnTo>
                <a:lnTo>
                  <a:pt x="30365" y="15189"/>
                </a:lnTo>
                <a:close/>
              </a:path>
            </a:pathLst>
          </a:custGeom>
          <a:ln w="5054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g object 30"/>
          <p:cNvSpPr/>
          <p:nvPr/>
        </p:nvSpPr>
        <p:spPr>
          <a:xfrm>
            <a:off x="4329113" y="3252114"/>
            <a:ext cx="233679" cy="50800"/>
          </a:xfrm>
          <a:custGeom>
            <a:avLst/>
            <a:gdLst/>
            <a:ahLst/>
            <a:cxnLst/>
            <a:rect l="l" t="t" r="r" b="b"/>
            <a:pathLst>
              <a:path w="233679" h="50800">
                <a:moveTo>
                  <a:pt x="40639" y="50799"/>
                </a:moveTo>
                <a:lnTo>
                  <a:pt x="50400" y="48795"/>
                </a:lnTo>
                <a:lnTo>
                  <a:pt x="58488" y="43338"/>
                </a:lnTo>
                <a:lnTo>
                  <a:pt x="64001" y="35262"/>
                </a:lnTo>
                <a:lnTo>
                  <a:pt x="66039" y="25399"/>
                </a:lnTo>
                <a:lnTo>
                  <a:pt x="64035" y="15537"/>
                </a:lnTo>
                <a:lnTo>
                  <a:pt x="58578" y="7461"/>
                </a:lnTo>
                <a:lnTo>
                  <a:pt x="50502" y="2004"/>
                </a:lnTo>
                <a:lnTo>
                  <a:pt x="40639" y="0"/>
                </a:lnTo>
                <a:lnTo>
                  <a:pt x="30777" y="2004"/>
                </a:lnTo>
                <a:lnTo>
                  <a:pt x="22701" y="7461"/>
                </a:lnTo>
                <a:lnTo>
                  <a:pt x="17244" y="15537"/>
                </a:lnTo>
                <a:lnTo>
                  <a:pt x="15239" y="25399"/>
                </a:lnTo>
              </a:path>
              <a:path w="233679" h="50800">
                <a:moveTo>
                  <a:pt x="30479" y="17779"/>
                </a:moveTo>
                <a:lnTo>
                  <a:pt x="15239" y="30479"/>
                </a:lnTo>
                <a:lnTo>
                  <a:pt x="0" y="17779"/>
                </a:lnTo>
              </a:path>
              <a:path w="233679" h="50800">
                <a:moveTo>
                  <a:pt x="193039" y="50799"/>
                </a:moveTo>
                <a:lnTo>
                  <a:pt x="183177" y="48795"/>
                </a:lnTo>
                <a:lnTo>
                  <a:pt x="175101" y="43338"/>
                </a:lnTo>
                <a:lnTo>
                  <a:pt x="169644" y="35262"/>
                </a:lnTo>
                <a:lnTo>
                  <a:pt x="167639" y="25399"/>
                </a:lnTo>
                <a:lnTo>
                  <a:pt x="169644" y="15537"/>
                </a:lnTo>
                <a:lnTo>
                  <a:pt x="175101" y="7461"/>
                </a:lnTo>
                <a:lnTo>
                  <a:pt x="183177" y="2004"/>
                </a:lnTo>
                <a:lnTo>
                  <a:pt x="193039" y="0"/>
                </a:lnTo>
                <a:lnTo>
                  <a:pt x="202902" y="2004"/>
                </a:lnTo>
                <a:lnTo>
                  <a:pt x="210978" y="7461"/>
                </a:lnTo>
                <a:lnTo>
                  <a:pt x="216435" y="15537"/>
                </a:lnTo>
                <a:lnTo>
                  <a:pt x="218439" y="25399"/>
                </a:lnTo>
              </a:path>
              <a:path w="233679" h="50800">
                <a:moveTo>
                  <a:pt x="233679" y="17779"/>
                </a:moveTo>
                <a:lnTo>
                  <a:pt x="218439" y="30479"/>
                </a:lnTo>
                <a:lnTo>
                  <a:pt x="203199" y="17779"/>
                </a:lnTo>
              </a:path>
            </a:pathLst>
          </a:custGeom>
          <a:ln w="5054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1">
                <a:solidFill>
                  <a:schemeClr val="bg1"/>
                </a:solidFill>
                <a:latin typeface="Cambria"/>
                <a:cs typeface="Cambria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20" dirty="0"/>
              <a:t>Pawan</a:t>
            </a:r>
            <a:r>
              <a:rPr spc="15" dirty="0"/>
              <a:t> </a:t>
            </a:r>
            <a:r>
              <a:rPr dirty="0"/>
              <a:t>Goyal</a:t>
            </a:r>
            <a:r>
              <a:rPr spc="170" dirty="0"/>
              <a:t> </a:t>
            </a:r>
            <a:r>
              <a:rPr dirty="0"/>
              <a:t>(IIT</a:t>
            </a:r>
            <a:r>
              <a:rPr spc="15" dirty="0"/>
              <a:t> </a:t>
            </a:r>
            <a:r>
              <a:rPr spc="-10" dirty="0"/>
              <a:t>Kharagpur)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1">
                <a:solidFill>
                  <a:schemeClr val="bg1"/>
                </a:solidFill>
                <a:latin typeface="Cambria"/>
                <a:cs typeface="Cambria"/>
              </a:defRPr>
            </a:lvl1pPr>
          </a:lstStyle>
          <a:p>
            <a:pPr marL="755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dirty="0"/>
              <a:t>‹#›</a:t>
            </a:fld>
            <a:r>
              <a:rPr spc="-5" dirty="0"/>
              <a:t> </a:t>
            </a:r>
            <a:r>
              <a:rPr spc="-110" dirty="0"/>
              <a:t>/</a:t>
            </a:r>
            <a:r>
              <a:rPr spc="15" dirty="0"/>
              <a:t> </a:t>
            </a:r>
            <a:r>
              <a:rPr spc="-25" dirty="0"/>
              <a:t>18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095396" y="3262426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5"/>
                </a:moveTo>
                <a:lnTo>
                  <a:pt x="43014" y="30365"/>
                </a:lnTo>
                <a:lnTo>
                  <a:pt x="43014" y="0"/>
                </a:lnTo>
                <a:lnTo>
                  <a:pt x="0" y="0"/>
                </a:lnTo>
                <a:lnTo>
                  <a:pt x="0" y="30365"/>
                </a:lnTo>
                <a:close/>
              </a:path>
            </a:pathLst>
          </a:custGeom>
          <a:ln w="5054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3015781" y="3258464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49"/>
                </a:lnTo>
                <a:lnTo>
                  <a:pt x="25400" y="38099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3193582" y="3258464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099"/>
                </a:lnTo>
                <a:lnTo>
                  <a:pt x="25400" y="19049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3344659" y="3252114"/>
            <a:ext cx="64135" cy="50800"/>
          </a:xfrm>
          <a:custGeom>
            <a:avLst/>
            <a:gdLst/>
            <a:ahLst/>
            <a:cxnLst/>
            <a:rect l="l" t="t" r="r" b="b"/>
            <a:pathLst>
              <a:path w="64135" h="50800">
                <a:moveTo>
                  <a:pt x="0" y="50799"/>
                </a:moveTo>
                <a:lnTo>
                  <a:pt x="43014" y="50799"/>
                </a:lnTo>
                <a:lnTo>
                  <a:pt x="43014" y="20434"/>
                </a:lnTo>
                <a:lnTo>
                  <a:pt x="0" y="20434"/>
                </a:lnTo>
                <a:lnTo>
                  <a:pt x="0" y="50799"/>
                </a:lnTo>
                <a:close/>
              </a:path>
              <a:path w="64135" h="50800">
                <a:moveTo>
                  <a:pt x="10490" y="20319"/>
                </a:moveTo>
                <a:lnTo>
                  <a:pt x="10490" y="10159"/>
                </a:lnTo>
                <a:lnTo>
                  <a:pt x="53670" y="10159"/>
                </a:lnTo>
                <a:lnTo>
                  <a:pt x="53670" y="40639"/>
                </a:lnTo>
                <a:lnTo>
                  <a:pt x="43510" y="40639"/>
                </a:lnTo>
              </a:path>
              <a:path w="64135" h="50800">
                <a:moveTo>
                  <a:pt x="20650" y="10159"/>
                </a:moveTo>
                <a:lnTo>
                  <a:pt x="20650" y="0"/>
                </a:lnTo>
                <a:lnTo>
                  <a:pt x="63830" y="0"/>
                </a:lnTo>
                <a:lnTo>
                  <a:pt x="63830" y="30479"/>
                </a:lnTo>
                <a:lnTo>
                  <a:pt x="53670" y="30479"/>
                </a:lnTo>
              </a:path>
            </a:pathLst>
          </a:custGeom>
          <a:ln w="5054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3281490" y="3258464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49"/>
                </a:lnTo>
                <a:lnTo>
                  <a:pt x="25400" y="38099"/>
                </a:lnTo>
                <a:lnTo>
                  <a:pt x="25400" y="0"/>
                </a:lnTo>
                <a:close/>
              </a:path>
              <a:path w="203200" h="38100">
                <a:moveTo>
                  <a:pt x="177800" y="0"/>
                </a:moveTo>
                <a:lnTo>
                  <a:pt x="177800" y="38099"/>
                </a:lnTo>
                <a:lnTo>
                  <a:pt x="203200" y="19049"/>
                </a:lnTo>
                <a:lnTo>
                  <a:pt x="1778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3636112" y="3264814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4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3547212" y="3258464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49"/>
                </a:lnTo>
                <a:lnTo>
                  <a:pt x="25400" y="38099"/>
                </a:lnTo>
                <a:lnTo>
                  <a:pt x="25400" y="0"/>
                </a:lnTo>
                <a:close/>
              </a:path>
              <a:path w="203200" h="38100">
                <a:moveTo>
                  <a:pt x="177800" y="0"/>
                </a:moveTo>
                <a:lnTo>
                  <a:pt x="177800" y="38099"/>
                </a:lnTo>
                <a:lnTo>
                  <a:pt x="203200" y="19049"/>
                </a:lnTo>
                <a:lnTo>
                  <a:pt x="1778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3623412" y="3252113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4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3889122" y="3252113"/>
            <a:ext cx="50800" cy="25400"/>
          </a:xfrm>
          <a:custGeom>
            <a:avLst/>
            <a:gdLst/>
            <a:ahLst/>
            <a:cxnLst/>
            <a:rect l="l" t="t" r="r" b="b"/>
            <a:pathLst>
              <a:path w="50800" h="25400">
                <a:moveTo>
                  <a:pt x="0" y="0"/>
                </a:moveTo>
                <a:lnTo>
                  <a:pt x="38100" y="0"/>
                </a:lnTo>
              </a:path>
              <a:path w="50800" h="25400">
                <a:moveTo>
                  <a:pt x="12700" y="12700"/>
                </a:moveTo>
                <a:lnTo>
                  <a:pt x="50800" y="12700"/>
                </a:lnTo>
              </a:path>
              <a:path w="50800" h="25400">
                <a:moveTo>
                  <a:pt x="12700" y="25400"/>
                </a:moveTo>
                <a:lnTo>
                  <a:pt x="50800" y="25400"/>
                </a:lnTo>
              </a:path>
            </a:pathLst>
          </a:custGeom>
          <a:ln w="7594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3812922" y="3258464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49"/>
                </a:lnTo>
                <a:lnTo>
                  <a:pt x="25400" y="38099"/>
                </a:lnTo>
                <a:lnTo>
                  <a:pt x="25400" y="0"/>
                </a:lnTo>
                <a:close/>
              </a:path>
              <a:path w="203200" h="38100">
                <a:moveTo>
                  <a:pt x="177800" y="0"/>
                </a:moveTo>
                <a:lnTo>
                  <a:pt x="177800" y="38099"/>
                </a:lnTo>
                <a:lnTo>
                  <a:pt x="203200" y="19049"/>
                </a:lnTo>
                <a:lnTo>
                  <a:pt x="1778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3889122" y="3290214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0" y="0"/>
                </a:moveTo>
                <a:lnTo>
                  <a:pt x="38100" y="0"/>
                </a:lnTo>
              </a:path>
              <a:path w="50800" h="12700">
                <a:moveTo>
                  <a:pt x="12700" y="12699"/>
                </a:moveTo>
                <a:lnTo>
                  <a:pt x="50800" y="12699"/>
                </a:lnTo>
              </a:path>
            </a:pathLst>
          </a:custGeom>
          <a:ln w="7594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4154831" y="3252113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0" y="1270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4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4451033" y="3282594"/>
            <a:ext cx="20320" cy="20320"/>
          </a:xfrm>
          <a:custGeom>
            <a:avLst/>
            <a:gdLst/>
            <a:ahLst/>
            <a:cxnLst/>
            <a:rect l="l" t="t" r="r" b="b"/>
            <a:pathLst>
              <a:path w="20320" h="20320">
                <a:moveTo>
                  <a:pt x="0" y="0"/>
                </a:moveTo>
                <a:lnTo>
                  <a:pt x="20320" y="20319"/>
                </a:lnTo>
              </a:path>
            </a:pathLst>
          </a:custGeom>
          <a:ln w="7594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4423971" y="3256093"/>
            <a:ext cx="30480" cy="30480"/>
          </a:xfrm>
          <a:custGeom>
            <a:avLst/>
            <a:gdLst/>
            <a:ahLst/>
            <a:cxnLst/>
            <a:rect l="l" t="t" r="r" b="b"/>
            <a:pathLst>
              <a:path w="30479" h="30479">
                <a:moveTo>
                  <a:pt x="30365" y="15189"/>
                </a:moveTo>
                <a:lnTo>
                  <a:pt x="30365" y="6807"/>
                </a:lnTo>
                <a:lnTo>
                  <a:pt x="23571" y="0"/>
                </a:lnTo>
                <a:lnTo>
                  <a:pt x="15176" y="0"/>
                </a:lnTo>
                <a:lnTo>
                  <a:pt x="6794" y="0"/>
                </a:lnTo>
                <a:lnTo>
                  <a:pt x="0" y="6807"/>
                </a:lnTo>
                <a:lnTo>
                  <a:pt x="0" y="15189"/>
                </a:lnTo>
                <a:lnTo>
                  <a:pt x="0" y="23571"/>
                </a:lnTo>
                <a:lnTo>
                  <a:pt x="6794" y="30378"/>
                </a:lnTo>
                <a:lnTo>
                  <a:pt x="15176" y="30378"/>
                </a:lnTo>
                <a:lnTo>
                  <a:pt x="23571" y="30378"/>
                </a:lnTo>
                <a:lnTo>
                  <a:pt x="30365" y="23571"/>
                </a:lnTo>
                <a:lnTo>
                  <a:pt x="30365" y="15189"/>
                </a:lnTo>
                <a:close/>
              </a:path>
            </a:pathLst>
          </a:custGeom>
          <a:ln w="5054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g object 30"/>
          <p:cNvSpPr/>
          <p:nvPr/>
        </p:nvSpPr>
        <p:spPr>
          <a:xfrm>
            <a:off x="4329113" y="3252114"/>
            <a:ext cx="233679" cy="50800"/>
          </a:xfrm>
          <a:custGeom>
            <a:avLst/>
            <a:gdLst/>
            <a:ahLst/>
            <a:cxnLst/>
            <a:rect l="l" t="t" r="r" b="b"/>
            <a:pathLst>
              <a:path w="233679" h="50800">
                <a:moveTo>
                  <a:pt x="40639" y="50799"/>
                </a:moveTo>
                <a:lnTo>
                  <a:pt x="50400" y="48795"/>
                </a:lnTo>
                <a:lnTo>
                  <a:pt x="58488" y="43338"/>
                </a:lnTo>
                <a:lnTo>
                  <a:pt x="64001" y="35262"/>
                </a:lnTo>
                <a:lnTo>
                  <a:pt x="66039" y="25399"/>
                </a:lnTo>
                <a:lnTo>
                  <a:pt x="64035" y="15537"/>
                </a:lnTo>
                <a:lnTo>
                  <a:pt x="58578" y="7461"/>
                </a:lnTo>
                <a:lnTo>
                  <a:pt x="50502" y="2004"/>
                </a:lnTo>
                <a:lnTo>
                  <a:pt x="40639" y="0"/>
                </a:lnTo>
                <a:lnTo>
                  <a:pt x="30777" y="2004"/>
                </a:lnTo>
                <a:lnTo>
                  <a:pt x="22701" y="7461"/>
                </a:lnTo>
                <a:lnTo>
                  <a:pt x="17244" y="15537"/>
                </a:lnTo>
                <a:lnTo>
                  <a:pt x="15239" y="25399"/>
                </a:lnTo>
              </a:path>
              <a:path w="233679" h="50800">
                <a:moveTo>
                  <a:pt x="30479" y="17779"/>
                </a:moveTo>
                <a:lnTo>
                  <a:pt x="15239" y="30479"/>
                </a:lnTo>
                <a:lnTo>
                  <a:pt x="0" y="17779"/>
                </a:lnTo>
              </a:path>
              <a:path w="233679" h="50800">
                <a:moveTo>
                  <a:pt x="193039" y="50799"/>
                </a:moveTo>
                <a:lnTo>
                  <a:pt x="183177" y="48795"/>
                </a:lnTo>
                <a:lnTo>
                  <a:pt x="175101" y="43338"/>
                </a:lnTo>
                <a:lnTo>
                  <a:pt x="169644" y="35262"/>
                </a:lnTo>
                <a:lnTo>
                  <a:pt x="167639" y="25399"/>
                </a:lnTo>
                <a:lnTo>
                  <a:pt x="169644" y="15537"/>
                </a:lnTo>
                <a:lnTo>
                  <a:pt x="175101" y="7461"/>
                </a:lnTo>
                <a:lnTo>
                  <a:pt x="183177" y="2004"/>
                </a:lnTo>
                <a:lnTo>
                  <a:pt x="193039" y="0"/>
                </a:lnTo>
                <a:lnTo>
                  <a:pt x="202902" y="2004"/>
                </a:lnTo>
                <a:lnTo>
                  <a:pt x="210978" y="7461"/>
                </a:lnTo>
                <a:lnTo>
                  <a:pt x="216435" y="15537"/>
                </a:lnTo>
                <a:lnTo>
                  <a:pt x="218439" y="25399"/>
                </a:lnTo>
              </a:path>
              <a:path w="233679" h="50800">
                <a:moveTo>
                  <a:pt x="233679" y="17779"/>
                </a:moveTo>
                <a:lnTo>
                  <a:pt x="218439" y="30479"/>
                </a:lnTo>
                <a:lnTo>
                  <a:pt x="203199" y="17779"/>
                </a:lnTo>
              </a:path>
            </a:pathLst>
          </a:custGeom>
          <a:ln w="5054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bg object 31"/>
          <p:cNvSpPr/>
          <p:nvPr/>
        </p:nvSpPr>
        <p:spPr>
          <a:xfrm>
            <a:off x="0" y="-12"/>
            <a:ext cx="4608195" cy="351790"/>
          </a:xfrm>
          <a:custGeom>
            <a:avLst/>
            <a:gdLst/>
            <a:ahLst/>
            <a:cxnLst/>
            <a:rect l="l" t="t" r="r" b="b"/>
            <a:pathLst>
              <a:path w="4608195" h="351790">
                <a:moveTo>
                  <a:pt x="4608004" y="0"/>
                </a:moveTo>
                <a:lnTo>
                  <a:pt x="0" y="0"/>
                </a:lnTo>
                <a:lnTo>
                  <a:pt x="0" y="351383"/>
                </a:lnTo>
                <a:lnTo>
                  <a:pt x="4608004" y="351383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5300" y="60502"/>
            <a:ext cx="3334385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1">
                <a:solidFill>
                  <a:schemeClr val="bg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5044" y="554206"/>
            <a:ext cx="4408398" cy="242372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82714" y="3339672"/>
            <a:ext cx="970915" cy="116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1">
                <a:solidFill>
                  <a:schemeClr val="bg1"/>
                </a:solidFill>
                <a:latin typeface="Cambria"/>
                <a:cs typeface="Cambria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20" dirty="0"/>
              <a:t>Pawan</a:t>
            </a:r>
            <a:r>
              <a:rPr spc="15" dirty="0"/>
              <a:t> </a:t>
            </a:r>
            <a:r>
              <a:rPr dirty="0"/>
              <a:t>Goyal</a:t>
            </a:r>
            <a:r>
              <a:rPr spc="170" dirty="0"/>
              <a:t> </a:t>
            </a:r>
            <a:r>
              <a:rPr dirty="0"/>
              <a:t>(IIT</a:t>
            </a:r>
            <a:r>
              <a:rPr spc="15" dirty="0"/>
              <a:t> </a:t>
            </a:r>
            <a:r>
              <a:rPr spc="-10" dirty="0"/>
              <a:t>Kharagpur)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30505" y="3218497"/>
            <a:ext cx="1060323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292026" y="3339672"/>
            <a:ext cx="262254" cy="116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1">
                <a:solidFill>
                  <a:schemeClr val="bg1"/>
                </a:solidFill>
                <a:latin typeface="Cambria"/>
                <a:cs typeface="Cambria"/>
              </a:defRPr>
            </a:lvl1pPr>
          </a:lstStyle>
          <a:p>
            <a:pPr marL="755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dirty="0"/>
              <a:t>‹#›</a:t>
            </a:fld>
            <a:r>
              <a:rPr spc="-5" dirty="0"/>
              <a:t> </a:t>
            </a:r>
            <a:r>
              <a:rPr spc="-110" dirty="0"/>
              <a:t>/</a:t>
            </a:r>
            <a:r>
              <a:rPr spc="15" dirty="0"/>
              <a:t> </a:t>
            </a:r>
            <a:r>
              <a:rPr spc="-25" dirty="0"/>
              <a:t>18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2.pn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5" Type="http://schemas.openxmlformats.org/officeDocument/2006/relationships/image" Target="../media/image2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Relationship Id="rId14" Type="http://schemas.openxmlformats.org/officeDocument/2006/relationships/image" Target="../media/image2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13" Type="http://schemas.openxmlformats.org/officeDocument/2006/relationships/image" Target="../media/image46.pn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12" Type="http://schemas.openxmlformats.org/officeDocument/2006/relationships/image" Target="../media/image45.png"/><Relationship Id="rId17" Type="http://schemas.openxmlformats.org/officeDocument/2006/relationships/image" Target="../media/image50.png"/><Relationship Id="rId2" Type="http://schemas.openxmlformats.org/officeDocument/2006/relationships/image" Target="../media/image4.png"/><Relationship Id="rId16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11" Type="http://schemas.openxmlformats.org/officeDocument/2006/relationships/image" Target="../media/image44.png"/><Relationship Id="rId5" Type="http://schemas.openxmlformats.org/officeDocument/2006/relationships/image" Target="../media/image38.png"/><Relationship Id="rId15" Type="http://schemas.openxmlformats.org/officeDocument/2006/relationships/image" Target="../media/image48.png"/><Relationship Id="rId10" Type="http://schemas.openxmlformats.org/officeDocument/2006/relationships/image" Target="../media/image43.png"/><Relationship Id="rId4" Type="http://schemas.openxmlformats.org/officeDocument/2006/relationships/image" Target="../media/image37.png"/><Relationship Id="rId9" Type="http://schemas.openxmlformats.org/officeDocument/2006/relationships/image" Target="../media/image42.png"/><Relationship Id="rId14" Type="http://schemas.openxmlformats.org/officeDocument/2006/relationships/image" Target="../media/image4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image" Target="../media/image52.png"/><Relationship Id="rId7" Type="http://schemas.openxmlformats.org/officeDocument/2006/relationships/image" Target="../media/image56.png"/><Relationship Id="rId12" Type="http://schemas.openxmlformats.org/officeDocument/2006/relationships/image" Target="../media/image60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11" Type="http://schemas.openxmlformats.org/officeDocument/2006/relationships/image" Target="../media/image59.png"/><Relationship Id="rId5" Type="http://schemas.openxmlformats.org/officeDocument/2006/relationships/image" Target="../media/image54.png"/><Relationship Id="rId10" Type="http://schemas.openxmlformats.org/officeDocument/2006/relationships/image" Target="../media/image58.png"/><Relationship Id="rId4" Type="http://schemas.openxmlformats.org/officeDocument/2006/relationships/image" Target="../media/image53.png"/><Relationship Id="rId9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13" Type="http://schemas.openxmlformats.org/officeDocument/2006/relationships/image" Target="../media/image69.png"/><Relationship Id="rId18" Type="http://schemas.openxmlformats.org/officeDocument/2006/relationships/image" Target="../media/image74.png"/><Relationship Id="rId3" Type="http://schemas.openxmlformats.org/officeDocument/2006/relationships/image" Target="../media/image7.png"/><Relationship Id="rId7" Type="http://schemas.openxmlformats.org/officeDocument/2006/relationships/image" Target="../media/image63.png"/><Relationship Id="rId12" Type="http://schemas.openxmlformats.org/officeDocument/2006/relationships/image" Target="../media/image68.png"/><Relationship Id="rId17" Type="http://schemas.openxmlformats.org/officeDocument/2006/relationships/image" Target="../media/image73.png"/><Relationship Id="rId2" Type="http://schemas.openxmlformats.org/officeDocument/2006/relationships/image" Target="../media/image51.png"/><Relationship Id="rId16" Type="http://schemas.openxmlformats.org/officeDocument/2006/relationships/image" Target="../media/image7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png"/><Relationship Id="rId11" Type="http://schemas.openxmlformats.org/officeDocument/2006/relationships/image" Target="../media/image67.png"/><Relationship Id="rId5" Type="http://schemas.openxmlformats.org/officeDocument/2006/relationships/image" Target="../media/image61.png"/><Relationship Id="rId15" Type="http://schemas.openxmlformats.org/officeDocument/2006/relationships/image" Target="../media/image71.png"/><Relationship Id="rId10" Type="http://schemas.openxmlformats.org/officeDocument/2006/relationships/image" Target="../media/image66.png"/><Relationship Id="rId19" Type="http://schemas.openxmlformats.org/officeDocument/2006/relationships/image" Target="../media/image75.png"/><Relationship Id="rId4" Type="http://schemas.openxmlformats.org/officeDocument/2006/relationships/image" Target="../media/image8.png"/><Relationship Id="rId9" Type="http://schemas.openxmlformats.org/officeDocument/2006/relationships/image" Target="../media/image65.png"/><Relationship Id="rId14" Type="http://schemas.openxmlformats.org/officeDocument/2006/relationships/image" Target="../media/image7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png"/><Relationship Id="rId3" Type="http://schemas.openxmlformats.org/officeDocument/2006/relationships/image" Target="../media/image76.png"/><Relationship Id="rId7" Type="http://schemas.openxmlformats.org/officeDocument/2006/relationships/image" Target="../media/image79.png"/><Relationship Id="rId12" Type="http://schemas.openxmlformats.org/officeDocument/2006/relationships/image" Target="../media/image84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11" Type="http://schemas.openxmlformats.org/officeDocument/2006/relationships/image" Target="../media/image83.png"/><Relationship Id="rId5" Type="http://schemas.openxmlformats.org/officeDocument/2006/relationships/image" Target="../media/image78.png"/><Relationship Id="rId10" Type="http://schemas.openxmlformats.org/officeDocument/2006/relationships/image" Target="../media/image82.png"/><Relationship Id="rId4" Type="http://schemas.openxmlformats.org/officeDocument/2006/relationships/image" Target="../media/image77.png"/><Relationship Id="rId9" Type="http://schemas.openxmlformats.org/officeDocument/2006/relationships/image" Target="../media/image8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85.png"/><Relationship Id="rId7" Type="http://schemas.openxmlformats.org/officeDocument/2006/relationships/image" Target="../media/image8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8.png"/><Relationship Id="rId11" Type="http://schemas.openxmlformats.org/officeDocument/2006/relationships/image" Target="../media/image92.png"/><Relationship Id="rId5" Type="http://schemas.openxmlformats.org/officeDocument/2006/relationships/image" Target="../media/image87.png"/><Relationship Id="rId10" Type="http://schemas.openxmlformats.org/officeDocument/2006/relationships/image" Target="../media/image91.png"/><Relationship Id="rId4" Type="http://schemas.openxmlformats.org/officeDocument/2006/relationships/image" Target="../media/image86.png"/><Relationship Id="rId9" Type="http://schemas.openxmlformats.org/officeDocument/2006/relationships/image" Target="../media/image9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8.png"/><Relationship Id="rId13" Type="http://schemas.openxmlformats.org/officeDocument/2006/relationships/image" Target="../media/image86.png"/><Relationship Id="rId3" Type="http://schemas.openxmlformats.org/officeDocument/2006/relationships/image" Target="../media/image93.png"/><Relationship Id="rId7" Type="http://schemas.openxmlformats.org/officeDocument/2006/relationships/image" Target="../media/image97.png"/><Relationship Id="rId12" Type="http://schemas.openxmlformats.org/officeDocument/2006/relationships/image" Target="../media/image85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6.png"/><Relationship Id="rId11" Type="http://schemas.openxmlformats.org/officeDocument/2006/relationships/image" Target="../media/image101.png"/><Relationship Id="rId5" Type="http://schemas.openxmlformats.org/officeDocument/2006/relationships/image" Target="../media/image95.png"/><Relationship Id="rId10" Type="http://schemas.openxmlformats.org/officeDocument/2006/relationships/image" Target="../media/image100.png"/><Relationship Id="rId4" Type="http://schemas.openxmlformats.org/officeDocument/2006/relationships/image" Target="../media/image94.png"/><Relationship Id="rId9" Type="http://schemas.openxmlformats.org/officeDocument/2006/relationships/image" Target="../media/image99.png"/><Relationship Id="rId14" Type="http://schemas.openxmlformats.org/officeDocument/2006/relationships/image" Target="../media/image10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112.png"/><Relationship Id="rId18" Type="http://schemas.openxmlformats.org/officeDocument/2006/relationships/image" Target="../media/image116.png"/><Relationship Id="rId3" Type="http://schemas.openxmlformats.org/officeDocument/2006/relationships/image" Target="../media/image103.png"/><Relationship Id="rId7" Type="http://schemas.openxmlformats.org/officeDocument/2006/relationships/image" Target="../media/image107.png"/><Relationship Id="rId12" Type="http://schemas.openxmlformats.org/officeDocument/2006/relationships/image" Target="../media/image111.png"/><Relationship Id="rId17" Type="http://schemas.openxmlformats.org/officeDocument/2006/relationships/image" Target="../media/image115.png"/><Relationship Id="rId2" Type="http://schemas.openxmlformats.org/officeDocument/2006/relationships/image" Target="../media/image51.png"/><Relationship Id="rId16" Type="http://schemas.openxmlformats.org/officeDocument/2006/relationships/image" Target="../media/image1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6.png"/><Relationship Id="rId11" Type="http://schemas.openxmlformats.org/officeDocument/2006/relationships/image" Target="../media/image110.png"/><Relationship Id="rId5" Type="http://schemas.openxmlformats.org/officeDocument/2006/relationships/image" Target="../media/image105.png"/><Relationship Id="rId15" Type="http://schemas.openxmlformats.org/officeDocument/2006/relationships/image" Target="../media/image113.png"/><Relationship Id="rId10" Type="http://schemas.openxmlformats.org/officeDocument/2006/relationships/image" Target="../media/image109.png"/><Relationship Id="rId19" Type="http://schemas.openxmlformats.org/officeDocument/2006/relationships/image" Target="../media/image117.png"/><Relationship Id="rId4" Type="http://schemas.openxmlformats.org/officeDocument/2006/relationships/image" Target="../media/image104.png"/><Relationship Id="rId9" Type="http://schemas.openxmlformats.org/officeDocument/2006/relationships/image" Target="../media/image108.png"/><Relationship Id="rId14" Type="http://schemas.openxmlformats.org/officeDocument/2006/relationships/image" Target="../media/image45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3.png"/><Relationship Id="rId3" Type="http://schemas.openxmlformats.org/officeDocument/2006/relationships/image" Target="../media/image118.png"/><Relationship Id="rId7" Type="http://schemas.openxmlformats.org/officeDocument/2006/relationships/image" Target="../media/image122.png"/><Relationship Id="rId12" Type="http://schemas.openxmlformats.org/officeDocument/2006/relationships/image" Target="../media/image12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1.png"/><Relationship Id="rId11" Type="http://schemas.openxmlformats.org/officeDocument/2006/relationships/image" Target="../media/image126.png"/><Relationship Id="rId5" Type="http://schemas.openxmlformats.org/officeDocument/2006/relationships/image" Target="../media/image120.png"/><Relationship Id="rId10" Type="http://schemas.openxmlformats.org/officeDocument/2006/relationships/image" Target="../media/image125.png"/><Relationship Id="rId4" Type="http://schemas.openxmlformats.org/officeDocument/2006/relationships/image" Target="../media/image119.png"/><Relationship Id="rId9" Type="http://schemas.openxmlformats.org/officeDocument/2006/relationships/image" Target="../media/image124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3.png"/><Relationship Id="rId3" Type="http://schemas.openxmlformats.org/officeDocument/2006/relationships/image" Target="../media/image129.png"/><Relationship Id="rId7" Type="http://schemas.openxmlformats.org/officeDocument/2006/relationships/image" Target="../media/image132.png"/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1.png"/><Relationship Id="rId5" Type="http://schemas.openxmlformats.org/officeDocument/2006/relationships/image" Target="../media/image130.png"/><Relationship Id="rId4" Type="http://schemas.openxmlformats.org/officeDocument/2006/relationships/image" Target="../media/image4.png"/><Relationship Id="rId9" Type="http://schemas.openxmlformats.org/officeDocument/2006/relationships/image" Target="../media/image134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9.png"/><Relationship Id="rId13" Type="http://schemas.openxmlformats.org/officeDocument/2006/relationships/image" Target="../media/image141.png"/><Relationship Id="rId3" Type="http://schemas.openxmlformats.org/officeDocument/2006/relationships/image" Target="../media/image135.png"/><Relationship Id="rId7" Type="http://schemas.openxmlformats.org/officeDocument/2006/relationships/image" Target="../media/image138.png"/><Relationship Id="rId12" Type="http://schemas.openxmlformats.org/officeDocument/2006/relationships/image" Target="../media/image140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7.png"/><Relationship Id="rId11" Type="http://schemas.openxmlformats.org/officeDocument/2006/relationships/image" Target="../media/image2.png"/><Relationship Id="rId5" Type="http://schemas.openxmlformats.org/officeDocument/2006/relationships/image" Target="../media/image136.png"/><Relationship Id="rId15" Type="http://schemas.openxmlformats.org/officeDocument/2006/relationships/image" Target="../media/image143.png"/><Relationship Id="rId10" Type="http://schemas.openxmlformats.org/officeDocument/2006/relationships/image" Target="../media/image1.png"/><Relationship Id="rId4" Type="http://schemas.openxmlformats.org/officeDocument/2006/relationships/image" Target="../media/image8.png"/><Relationship Id="rId9" Type="http://schemas.openxmlformats.org/officeDocument/2006/relationships/image" Target="../media/image4.png"/><Relationship Id="rId14" Type="http://schemas.openxmlformats.org/officeDocument/2006/relationships/image" Target="../media/image142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7.png"/><Relationship Id="rId3" Type="http://schemas.openxmlformats.org/officeDocument/2006/relationships/image" Target="../media/image144.png"/><Relationship Id="rId7" Type="http://schemas.openxmlformats.org/officeDocument/2006/relationships/image" Target="../media/image59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png"/><Relationship Id="rId5" Type="http://schemas.openxmlformats.org/officeDocument/2006/relationships/image" Target="../media/image146.png"/><Relationship Id="rId4" Type="http://schemas.openxmlformats.org/officeDocument/2006/relationships/image" Target="../media/image14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0.png"/><Relationship Id="rId4" Type="http://schemas.openxmlformats.org/officeDocument/2006/relationships/image" Target="../media/image14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2.png"/><Relationship Id="rId2" Type="http://schemas.openxmlformats.org/officeDocument/2006/relationships/image" Target="../media/image151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53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8.png"/><Relationship Id="rId13" Type="http://schemas.openxmlformats.org/officeDocument/2006/relationships/image" Target="../media/image162.png"/><Relationship Id="rId3" Type="http://schemas.openxmlformats.org/officeDocument/2006/relationships/image" Target="../media/image154.png"/><Relationship Id="rId7" Type="http://schemas.openxmlformats.org/officeDocument/2006/relationships/image" Target="../media/image157.png"/><Relationship Id="rId12" Type="http://schemas.openxmlformats.org/officeDocument/2006/relationships/image" Target="../media/image16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7.png"/><Relationship Id="rId11" Type="http://schemas.openxmlformats.org/officeDocument/2006/relationships/image" Target="../media/image160.png"/><Relationship Id="rId5" Type="http://schemas.openxmlformats.org/officeDocument/2006/relationships/image" Target="../media/image156.png"/><Relationship Id="rId10" Type="http://schemas.openxmlformats.org/officeDocument/2006/relationships/image" Target="../media/image159.png"/><Relationship Id="rId4" Type="http://schemas.openxmlformats.org/officeDocument/2006/relationships/image" Target="../media/image155.png"/><Relationship Id="rId9" Type="http://schemas.openxmlformats.org/officeDocument/2006/relationships/image" Target="../media/image70.png"/><Relationship Id="rId14" Type="http://schemas.openxmlformats.org/officeDocument/2006/relationships/image" Target="../media/image7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4.png"/><Relationship Id="rId2" Type="http://schemas.openxmlformats.org/officeDocument/2006/relationships/image" Target="../media/image16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5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1.png"/><Relationship Id="rId3" Type="http://schemas.openxmlformats.org/officeDocument/2006/relationships/image" Target="../media/image166.png"/><Relationship Id="rId7" Type="http://schemas.openxmlformats.org/officeDocument/2006/relationships/image" Target="../media/image170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9.png"/><Relationship Id="rId5" Type="http://schemas.openxmlformats.org/officeDocument/2006/relationships/image" Target="../media/image168.png"/><Relationship Id="rId10" Type="http://schemas.openxmlformats.org/officeDocument/2006/relationships/image" Target="../media/image173.png"/><Relationship Id="rId4" Type="http://schemas.openxmlformats.org/officeDocument/2006/relationships/image" Target="../media/image167.png"/><Relationship Id="rId9" Type="http://schemas.openxmlformats.org/officeDocument/2006/relationships/image" Target="../media/image172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4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6.png"/><Relationship Id="rId2" Type="http://schemas.openxmlformats.org/officeDocument/2006/relationships/image" Target="../media/image17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8.jpg"/><Relationship Id="rId4" Type="http://schemas.openxmlformats.org/officeDocument/2006/relationships/image" Target="../media/image177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9.jp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0.jp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1.jp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2.jp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18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6.png"/><Relationship Id="rId2" Type="http://schemas.openxmlformats.org/officeDocument/2006/relationships/image" Target="../media/image18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2.png"/><Relationship Id="rId2" Type="http://schemas.openxmlformats.org/officeDocument/2006/relationships/image" Target="../media/image151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5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8.png"/><Relationship Id="rId2" Type="http://schemas.openxmlformats.org/officeDocument/2006/relationships/image" Target="../media/image18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9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5.png"/><Relationship Id="rId3" Type="http://schemas.openxmlformats.org/officeDocument/2006/relationships/image" Target="../media/image190.png"/><Relationship Id="rId7" Type="http://schemas.openxmlformats.org/officeDocument/2006/relationships/image" Target="../media/image19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3.png"/><Relationship Id="rId5" Type="http://schemas.openxmlformats.org/officeDocument/2006/relationships/image" Target="../media/image192.png"/><Relationship Id="rId10" Type="http://schemas.openxmlformats.org/officeDocument/2006/relationships/image" Target="../media/image197.png"/><Relationship Id="rId4" Type="http://schemas.openxmlformats.org/officeDocument/2006/relationships/image" Target="../media/image191.png"/><Relationship Id="rId9" Type="http://schemas.openxmlformats.org/officeDocument/2006/relationships/image" Target="../media/image196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2.png"/><Relationship Id="rId3" Type="http://schemas.openxmlformats.org/officeDocument/2006/relationships/image" Target="../media/image198.png"/><Relationship Id="rId7" Type="http://schemas.openxmlformats.org/officeDocument/2006/relationships/image" Target="../media/image193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1.png"/><Relationship Id="rId5" Type="http://schemas.openxmlformats.org/officeDocument/2006/relationships/image" Target="../media/image200.png"/><Relationship Id="rId4" Type="http://schemas.openxmlformats.org/officeDocument/2006/relationships/image" Target="../media/image199.png"/><Relationship Id="rId9" Type="http://schemas.openxmlformats.org/officeDocument/2006/relationships/image" Target="../media/image203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4.jpg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" Target="slide30.xml"/><Relationship Id="rId2" Type="http://schemas.openxmlformats.org/officeDocument/2006/relationships/image" Target="../media/image205.jpg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6.jpg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7.jpg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13" Type="http://schemas.openxmlformats.org/officeDocument/2006/relationships/image" Target="../media/image217.png"/><Relationship Id="rId3" Type="http://schemas.openxmlformats.org/officeDocument/2006/relationships/image" Target="../media/image208.png"/><Relationship Id="rId7" Type="http://schemas.openxmlformats.org/officeDocument/2006/relationships/image" Target="../media/image212.png"/><Relationship Id="rId12" Type="http://schemas.openxmlformats.org/officeDocument/2006/relationships/image" Target="../media/image216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1.png"/><Relationship Id="rId11" Type="http://schemas.openxmlformats.org/officeDocument/2006/relationships/image" Target="../media/image215.png"/><Relationship Id="rId5" Type="http://schemas.openxmlformats.org/officeDocument/2006/relationships/image" Target="../media/image210.png"/><Relationship Id="rId10" Type="http://schemas.openxmlformats.org/officeDocument/2006/relationships/image" Target="../media/image214.png"/><Relationship Id="rId4" Type="http://schemas.openxmlformats.org/officeDocument/2006/relationships/image" Target="../media/image209.png"/><Relationship Id="rId9" Type="http://schemas.openxmlformats.org/officeDocument/2006/relationships/image" Target="../media/image213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3.png"/><Relationship Id="rId3" Type="http://schemas.openxmlformats.org/officeDocument/2006/relationships/image" Target="../media/image218.png"/><Relationship Id="rId7" Type="http://schemas.openxmlformats.org/officeDocument/2006/relationships/image" Target="../media/image22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1.png"/><Relationship Id="rId5" Type="http://schemas.openxmlformats.org/officeDocument/2006/relationships/image" Target="../media/image220.png"/><Relationship Id="rId4" Type="http://schemas.openxmlformats.org/officeDocument/2006/relationships/image" Target="../media/image219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9.png"/><Relationship Id="rId3" Type="http://schemas.openxmlformats.org/officeDocument/2006/relationships/image" Target="../media/image224.png"/><Relationship Id="rId7" Type="http://schemas.openxmlformats.org/officeDocument/2006/relationships/image" Target="../media/image228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7.png"/><Relationship Id="rId11" Type="http://schemas.openxmlformats.org/officeDocument/2006/relationships/image" Target="../media/image232.png"/><Relationship Id="rId5" Type="http://schemas.openxmlformats.org/officeDocument/2006/relationships/image" Target="../media/image226.png"/><Relationship Id="rId10" Type="http://schemas.openxmlformats.org/officeDocument/2006/relationships/image" Target="../media/image231.png"/><Relationship Id="rId4" Type="http://schemas.openxmlformats.org/officeDocument/2006/relationships/image" Target="../media/image225.png"/><Relationship Id="rId9" Type="http://schemas.openxmlformats.org/officeDocument/2006/relationships/image" Target="../media/image230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3.jpg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5.png"/><Relationship Id="rId7" Type="http://schemas.openxmlformats.org/officeDocument/2006/relationships/image" Target="../media/image238.png"/><Relationship Id="rId2" Type="http://schemas.openxmlformats.org/officeDocument/2006/relationships/image" Target="../media/image2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7.png"/><Relationship Id="rId5" Type="http://schemas.openxmlformats.org/officeDocument/2006/relationships/image" Target="../media/image236.png"/><Relationship Id="rId4" Type="http://schemas.openxmlformats.org/officeDocument/2006/relationships/image" Target="../media/image4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0.png"/><Relationship Id="rId2" Type="http://schemas.openxmlformats.org/officeDocument/2006/relationships/image" Target="../media/image2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2.png"/><Relationship Id="rId5" Type="http://schemas.openxmlformats.org/officeDocument/2006/relationships/image" Target="../media/image241.png"/><Relationship Id="rId4" Type="http://schemas.openxmlformats.org/officeDocument/2006/relationships/image" Target="../media/image187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hyperlink" Target="http://www.merriam-webster.com/" TargetMode="External"/><Relationship Id="rId3" Type="http://schemas.openxmlformats.org/officeDocument/2006/relationships/image" Target="../media/image244.png"/><Relationship Id="rId7" Type="http://schemas.openxmlformats.org/officeDocument/2006/relationships/image" Target="../media/image248.jpg"/><Relationship Id="rId2" Type="http://schemas.openxmlformats.org/officeDocument/2006/relationships/image" Target="../media/image24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47.png"/><Relationship Id="rId5" Type="http://schemas.openxmlformats.org/officeDocument/2006/relationships/image" Target="../media/image246.png"/><Relationship Id="rId4" Type="http://schemas.openxmlformats.org/officeDocument/2006/relationships/image" Target="../media/image245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0.png"/><Relationship Id="rId2" Type="http://schemas.openxmlformats.org/officeDocument/2006/relationships/image" Target="../media/image249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1.png"/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2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7743" y="908939"/>
            <a:ext cx="4432935" cy="82550"/>
          </a:xfrm>
          <a:custGeom>
            <a:avLst/>
            <a:gdLst/>
            <a:ahLst/>
            <a:cxnLst/>
            <a:rect l="l" t="t" r="r" b="b"/>
            <a:pathLst>
              <a:path w="4432935" h="82550">
                <a:moveTo>
                  <a:pt x="4381766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82384"/>
                </a:lnTo>
                <a:lnTo>
                  <a:pt x="4432566" y="82384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4" y="14922"/>
                </a:lnTo>
                <a:lnTo>
                  <a:pt x="4401491" y="4008"/>
                </a:lnTo>
                <a:lnTo>
                  <a:pt x="4381766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87743" y="953363"/>
            <a:ext cx="4483735" cy="347345"/>
            <a:chOff x="87743" y="953363"/>
            <a:chExt cx="4483735" cy="34734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8544" y="1198854"/>
              <a:ext cx="101599" cy="1016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344" y="1186154"/>
              <a:ext cx="4381715" cy="1143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20311" y="959510"/>
              <a:ext cx="50749" cy="239344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87743" y="953363"/>
              <a:ext cx="4432935" cy="296545"/>
            </a:xfrm>
            <a:custGeom>
              <a:avLst/>
              <a:gdLst/>
              <a:ahLst/>
              <a:cxnLst/>
              <a:rect l="l" t="t" r="r" b="b"/>
              <a:pathLst>
                <a:path w="4432935" h="296544">
                  <a:moveTo>
                    <a:pt x="4432566" y="0"/>
                  </a:moveTo>
                  <a:lnTo>
                    <a:pt x="0" y="0"/>
                  </a:lnTo>
                  <a:lnTo>
                    <a:pt x="0" y="245490"/>
                  </a:lnTo>
                  <a:lnTo>
                    <a:pt x="4008" y="265215"/>
                  </a:lnTo>
                  <a:lnTo>
                    <a:pt x="14922" y="281368"/>
                  </a:lnTo>
                  <a:lnTo>
                    <a:pt x="31075" y="292282"/>
                  </a:lnTo>
                  <a:lnTo>
                    <a:pt x="50800" y="296290"/>
                  </a:lnTo>
                  <a:lnTo>
                    <a:pt x="4381766" y="296290"/>
                  </a:lnTo>
                  <a:lnTo>
                    <a:pt x="4401491" y="292282"/>
                  </a:lnTo>
                  <a:lnTo>
                    <a:pt x="4417644" y="281368"/>
                  </a:lnTo>
                  <a:lnTo>
                    <a:pt x="4428558" y="265215"/>
                  </a:lnTo>
                  <a:lnTo>
                    <a:pt x="4432566" y="245490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520309" y="997597"/>
              <a:ext cx="0" cy="220345"/>
            </a:xfrm>
            <a:custGeom>
              <a:avLst/>
              <a:gdLst/>
              <a:ahLst/>
              <a:cxnLst/>
              <a:rect l="l" t="t" r="r" b="b"/>
              <a:pathLst>
                <a:path h="220344">
                  <a:moveTo>
                    <a:pt x="0" y="220306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520309" y="98490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09" y="97220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09" y="95950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632762" y="957732"/>
            <a:ext cx="134302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Lexical</a:t>
            </a:r>
            <a:r>
              <a:rPr sz="1400" i="1" spc="12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spc="-10" dirty="0">
                <a:solidFill>
                  <a:srgbClr val="FFFFFF"/>
                </a:solidFill>
                <a:latin typeface="Cambria"/>
                <a:cs typeface="Cambria"/>
              </a:rPr>
              <a:t>Semantics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xfrm>
            <a:off x="282574" y="3339672"/>
            <a:ext cx="970915" cy="116204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20" dirty="0"/>
              <a:t>Pawan</a:t>
            </a:r>
            <a:r>
              <a:rPr spc="15" dirty="0"/>
              <a:t> </a:t>
            </a:r>
            <a:r>
              <a:rPr dirty="0"/>
              <a:t>Goyal</a:t>
            </a:r>
            <a:r>
              <a:rPr spc="170" dirty="0"/>
              <a:t> </a:t>
            </a:r>
            <a:r>
              <a:rPr dirty="0"/>
              <a:t>(IIT</a:t>
            </a:r>
            <a:r>
              <a:rPr spc="15" dirty="0"/>
              <a:t> </a:t>
            </a:r>
            <a:r>
              <a:rPr spc="-10" dirty="0"/>
              <a:t>Kharagpur)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364622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1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dirty="0"/>
              <a:t>1</a:t>
            </a:fld>
            <a:r>
              <a:rPr spc="-5" dirty="0"/>
              <a:t> </a:t>
            </a:r>
            <a:r>
              <a:rPr spc="-110" dirty="0"/>
              <a:t>/</a:t>
            </a:r>
            <a:r>
              <a:rPr spc="15" dirty="0"/>
              <a:t> </a:t>
            </a:r>
            <a:r>
              <a:rPr spc="-25" dirty="0"/>
              <a:t>18</a:t>
            </a: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Lexical</a:t>
            </a:r>
            <a:r>
              <a:rPr spc="125" dirty="0"/>
              <a:t> </a:t>
            </a:r>
            <a:r>
              <a:rPr spc="-10" dirty="0"/>
              <a:t>Semantics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551472"/>
            <a:ext cx="4483735" cy="774700"/>
            <a:chOff x="87743" y="551472"/>
            <a:chExt cx="4483735" cy="774700"/>
          </a:xfrm>
        </p:grpSpPr>
        <p:sp>
          <p:nvSpPr>
            <p:cNvPr id="4" name="object 4"/>
            <p:cNvSpPr/>
            <p:nvPr/>
          </p:nvSpPr>
          <p:spPr>
            <a:xfrm>
              <a:off x="87743" y="551472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4">
                  <a:moveTo>
                    <a:pt x="438176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66" y="185674"/>
                  </a:lnTo>
                  <a:lnTo>
                    <a:pt x="4432566" y="50800"/>
                  </a:lnTo>
                  <a:lnTo>
                    <a:pt x="4428558" y="31075"/>
                  </a:lnTo>
                  <a:lnTo>
                    <a:pt x="4417644" y="14922"/>
                  </a:lnTo>
                  <a:lnTo>
                    <a:pt x="4401491" y="4008"/>
                  </a:lnTo>
                  <a:lnTo>
                    <a:pt x="4381766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724496"/>
              <a:ext cx="4432566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1224254"/>
              <a:ext cx="101599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1211554"/>
              <a:ext cx="4381715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311" y="595718"/>
              <a:ext cx="50749" cy="628535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768769"/>
              <a:ext cx="4432935" cy="506730"/>
            </a:xfrm>
            <a:custGeom>
              <a:avLst/>
              <a:gdLst/>
              <a:ahLst/>
              <a:cxnLst/>
              <a:rect l="l" t="t" r="r" b="b"/>
              <a:pathLst>
                <a:path w="4432935" h="506730">
                  <a:moveTo>
                    <a:pt x="4432566" y="0"/>
                  </a:moveTo>
                  <a:lnTo>
                    <a:pt x="0" y="0"/>
                  </a:lnTo>
                  <a:lnTo>
                    <a:pt x="0" y="455485"/>
                  </a:lnTo>
                  <a:lnTo>
                    <a:pt x="4008" y="475210"/>
                  </a:lnTo>
                  <a:lnTo>
                    <a:pt x="14922" y="491363"/>
                  </a:lnTo>
                  <a:lnTo>
                    <a:pt x="31075" y="502277"/>
                  </a:lnTo>
                  <a:lnTo>
                    <a:pt x="50800" y="506285"/>
                  </a:lnTo>
                  <a:lnTo>
                    <a:pt x="4381766" y="506285"/>
                  </a:lnTo>
                  <a:lnTo>
                    <a:pt x="4401491" y="502277"/>
                  </a:lnTo>
                  <a:lnTo>
                    <a:pt x="4417644" y="491363"/>
                  </a:lnTo>
                  <a:lnTo>
                    <a:pt x="4428558" y="475210"/>
                  </a:lnTo>
                  <a:lnTo>
                    <a:pt x="4432566" y="455485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09" y="633806"/>
              <a:ext cx="0" cy="609600"/>
            </a:xfrm>
            <a:custGeom>
              <a:avLst/>
              <a:gdLst/>
              <a:ahLst/>
              <a:cxnLst/>
              <a:rect l="l" t="t" r="r" b="b"/>
              <a:pathLst>
                <a:path h="609600">
                  <a:moveTo>
                    <a:pt x="0" y="60949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09" y="62110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09" y="60840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09" y="59570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87743" y="1426984"/>
            <a:ext cx="4483735" cy="455295"/>
            <a:chOff x="87743" y="1426984"/>
            <a:chExt cx="4483735" cy="455295"/>
          </a:xfrm>
        </p:grpSpPr>
        <p:sp>
          <p:nvSpPr>
            <p:cNvPr id="15" name="object 15"/>
            <p:cNvSpPr/>
            <p:nvPr/>
          </p:nvSpPr>
          <p:spPr>
            <a:xfrm>
              <a:off x="87743" y="1426984"/>
              <a:ext cx="4432935" cy="82550"/>
            </a:xfrm>
            <a:custGeom>
              <a:avLst/>
              <a:gdLst/>
              <a:ahLst/>
              <a:cxnLst/>
              <a:rect l="l" t="t" r="r" b="b"/>
              <a:pathLst>
                <a:path w="4432935" h="82550">
                  <a:moveTo>
                    <a:pt x="438176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4432566" y="82384"/>
                  </a:lnTo>
                  <a:lnTo>
                    <a:pt x="4432566" y="50800"/>
                  </a:lnTo>
                  <a:lnTo>
                    <a:pt x="4428558" y="31075"/>
                  </a:lnTo>
                  <a:lnTo>
                    <a:pt x="4417644" y="14922"/>
                  </a:lnTo>
                  <a:lnTo>
                    <a:pt x="4401491" y="4008"/>
                  </a:lnTo>
                  <a:lnTo>
                    <a:pt x="4381766" y="0"/>
                  </a:lnTo>
                  <a:close/>
                </a:path>
              </a:pathLst>
            </a:custGeom>
            <a:solidFill>
              <a:srgbClr val="E5F2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8544" y="1780362"/>
              <a:ext cx="101599" cy="10160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89344" y="1767662"/>
              <a:ext cx="4381715" cy="11430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520311" y="1477543"/>
              <a:ext cx="50749" cy="302818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87743" y="1471396"/>
              <a:ext cx="4432935" cy="360045"/>
            </a:xfrm>
            <a:custGeom>
              <a:avLst/>
              <a:gdLst/>
              <a:ahLst/>
              <a:cxnLst/>
              <a:rect l="l" t="t" r="r" b="b"/>
              <a:pathLst>
                <a:path w="4432935" h="360044">
                  <a:moveTo>
                    <a:pt x="4432566" y="0"/>
                  </a:moveTo>
                  <a:lnTo>
                    <a:pt x="0" y="0"/>
                  </a:lnTo>
                  <a:lnTo>
                    <a:pt x="0" y="308965"/>
                  </a:lnTo>
                  <a:lnTo>
                    <a:pt x="4008" y="328690"/>
                  </a:lnTo>
                  <a:lnTo>
                    <a:pt x="14922" y="344843"/>
                  </a:lnTo>
                  <a:lnTo>
                    <a:pt x="31075" y="355757"/>
                  </a:lnTo>
                  <a:lnTo>
                    <a:pt x="50800" y="359765"/>
                  </a:lnTo>
                  <a:lnTo>
                    <a:pt x="4381766" y="359765"/>
                  </a:lnTo>
                  <a:lnTo>
                    <a:pt x="4401491" y="355757"/>
                  </a:lnTo>
                  <a:lnTo>
                    <a:pt x="4417644" y="344843"/>
                  </a:lnTo>
                  <a:lnTo>
                    <a:pt x="4428558" y="328690"/>
                  </a:lnTo>
                  <a:lnTo>
                    <a:pt x="4432566" y="308965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E5F2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520309" y="1515630"/>
              <a:ext cx="0" cy="283845"/>
            </a:xfrm>
            <a:custGeom>
              <a:avLst/>
              <a:gdLst/>
              <a:ahLst/>
              <a:cxnLst/>
              <a:rect l="l" t="t" r="r" b="b"/>
              <a:pathLst>
                <a:path h="283844">
                  <a:moveTo>
                    <a:pt x="0" y="283781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520309" y="150293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520309" y="149023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520309" y="147753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4" name="object 24"/>
          <p:cNvGrpSpPr/>
          <p:nvPr/>
        </p:nvGrpSpPr>
        <p:grpSpPr>
          <a:xfrm>
            <a:off x="87743" y="1983092"/>
            <a:ext cx="4483735" cy="1212215"/>
            <a:chOff x="87743" y="1983092"/>
            <a:chExt cx="4483735" cy="1212215"/>
          </a:xfrm>
        </p:grpSpPr>
        <p:sp>
          <p:nvSpPr>
            <p:cNvPr id="25" name="object 25"/>
            <p:cNvSpPr/>
            <p:nvPr/>
          </p:nvSpPr>
          <p:spPr>
            <a:xfrm>
              <a:off x="87743" y="1983092"/>
              <a:ext cx="4432935" cy="176530"/>
            </a:xfrm>
            <a:custGeom>
              <a:avLst/>
              <a:gdLst/>
              <a:ahLst/>
              <a:cxnLst/>
              <a:rect l="l" t="t" r="r" b="b"/>
              <a:pathLst>
                <a:path w="4432935" h="176530">
                  <a:moveTo>
                    <a:pt x="438176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76314"/>
                  </a:lnTo>
                  <a:lnTo>
                    <a:pt x="4432566" y="176314"/>
                  </a:lnTo>
                  <a:lnTo>
                    <a:pt x="4432566" y="50800"/>
                  </a:lnTo>
                  <a:lnTo>
                    <a:pt x="4428558" y="31075"/>
                  </a:lnTo>
                  <a:lnTo>
                    <a:pt x="4417644" y="14922"/>
                  </a:lnTo>
                  <a:lnTo>
                    <a:pt x="4401491" y="4008"/>
                  </a:lnTo>
                  <a:lnTo>
                    <a:pt x="4381766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2146757"/>
              <a:ext cx="4432566" cy="50609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38544" y="3093643"/>
              <a:ext cx="101599" cy="101600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89344" y="3080943"/>
              <a:ext cx="4381715" cy="114300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520311" y="2027326"/>
              <a:ext cx="50749" cy="1066317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87743" y="2191029"/>
              <a:ext cx="4432935" cy="953769"/>
            </a:xfrm>
            <a:custGeom>
              <a:avLst/>
              <a:gdLst/>
              <a:ahLst/>
              <a:cxnLst/>
              <a:rect l="l" t="t" r="r" b="b"/>
              <a:pathLst>
                <a:path w="4432935" h="953769">
                  <a:moveTo>
                    <a:pt x="4432566" y="0"/>
                  </a:moveTo>
                  <a:lnTo>
                    <a:pt x="0" y="0"/>
                  </a:lnTo>
                  <a:lnTo>
                    <a:pt x="0" y="902614"/>
                  </a:lnTo>
                  <a:lnTo>
                    <a:pt x="4008" y="922339"/>
                  </a:lnTo>
                  <a:lnTo>
                    <a:pt x="14922" y="938491"/>
                  </a:lnTo>
                  <a:lnTo>
                    <a:pt x="31075" y="949405"/>
                  </a:lnTo>
                  <a:lnTo>
                    <a:pt x="50800" y="953414"/>
                  </a:lnTo>
                  <a:lnTo>
                    <a:pt x="4381766" y="953414"/>
                  </a:lnTo>
                  <a:lnTo>
                    <a:pt x="4401491" y="949405"/>
                  </a:lnTo>
                  <a:lnTo>
                    <a:pt x="4417644" y="938491"/>
                  </a:lnTo>
                  <a:lnTo>
                    <a:pt x="4428558" y="922339"/>
                  </a:lnTo>
                  <a:lnTo>
                    <a:pt x="4432566" y="902614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4520309" y="2065426"/>
              <a:ext cx="0" cy="1047750"/>
            </a:xfrm>
            <a:custGeom>
              <a:avLst/>
              <a:gdLst/>
              <a:ahLst/>
              <a:cxnLst/>
              <a:rect l="l" t="t" r="r" b="b"/>
              <a:pathLst>
                <a:path h="1047750">
                  <a:moveTo>
                    <a:pt x="0" y="104726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4520309" y="2052721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4520309" y="2040021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4520309" y="2027321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81597" y="2622880"/>
              <a:ext cx="64757" cy="64757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81597" y="3004985"/>
              <a:ext cx="64757" cy="64757"/>
            </a:xfrm>
            <a:prstGeom prst="rect">
              <a:avLst/>
            </a:prstGeom>
          </p:spPr>
        </p:pic>
      </p:grpSp>
      <p:sp>
        <p:nvSpPr>
          <p:cNvPr id="37" name="object 37"/>
          <p:cNvSpPr txBox="1"/>
          <p:nvPr/>
        </p:nvSpPr>
        <p:spPr>
          <a:xfrm>
            <a:off x="125844" y="477670"/>
            <a:ext cx="4342765" cy="2632710"/>
          </a:xfrm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20"/>
              </a:spcBef>
            </a:pPr>
            <a:r>
              <a:rPr sz="1100" i="1" spc="-10" dirty="0">
                <a:solidFill>
                  <a:srgbClr val="3333B2"/>
                </a:solidFill>
                <a:latin typeface="Cambria"/>
                <a:cs typeface="Cambria"/>
              </a:rPr>
              <a:t>Definition</a:t>
            </a:r>
            <a:endParaRPr sz="1100">
              <a:latin typeface="Cambria"/>
              <a:cs typeface="Cambria"/>
            </a:endParaRPr>
          </a:p>
          <a:p>
            <a:pPr marL="12700" marR="5080">
              <a:lnSpc>
                <a:spcPct val="118900"/>
              </a:lnSpc>
              <a:spcBef>
                <a:spcPts val="200"/>
              </a:spcBef>
            </a:pPr>
            <a:r>
              <a:rPr sz="950" b="1" dirty="0">
                <a:latin typeface="Trebuchet MS"/>
                <a:cs typeface="Trebuchet MS"/>
              </a:rPr>
              <a:t>Lexical</a:t>
            </a:r>
            <a:r>
              <a:rPr sz="950" b="1" spc="95" dirty="0">
                <a:latin typeface="Trebuchet MS"/>
                <a:cs typeface="Trebuchet MS"/>
              </a:rPr>
              <a:t> </a:t>
            </a:r>
            <a:r>
              <a:rPr sz="950" b="1" dirty="0">
                <a:latin typeface="Trebuchet MS"/>
                <a:cs typeface="Trebuchet MS"/>
              </a:rPr>
              <a:t>semantics</a:t>
            </a:r>
            <a:r>
              <a:rPr sz="950" b="1" spc="10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is</a:t>
            </a:r>
            <a:r>
              <a:rPr sz="950" spc="10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concerned</a:t>
            </a:r>
            <a:r>
              <a:rPr sz="950" spc="100" dirty="0">
                <a:latin typeface="Trebuchet MS"/>
                <a:cs typeface="Trebuchet MS"/>
              </a:rPr>
              <a:t> </a:t>
            </a:r>
            <a:r>
              <a:rPr sz="950" spc="-40" dirty="0">
                <a:latin typeface="Trebuchet MS"/>
                <a:cs typeface="Trebuchet MS"/>
              </a:rPr>
              <a:t>with</a:t>
            </a:r>
            <a:r>
              <a:rPr sz="950" spc="10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10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systematic</a:t>
            </a:r>
            <a:r>
              <a:rPr sz="950" spc="10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meaning</a:t>
            </a:r>
            <a:r>
              <a:rPr sz="950" spc="10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related </a:t>
            </a:r>
            <a:r>
              <a:rPr sz="950" dirty="0">
                <a:latin typeface="Trebuchet MS"/>
                <a:cs typeface="Trebuchet MS"/>
              </a:rPr>
              <a:t>connections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among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lexical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items,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and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internal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meaning-related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structure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of </a:t>
            </a:r>
            <a:r>
              <a:rPr sz="950" spc="-10" dirty="0">
                <a:latin typeface="Trebuchet MS"/>
                <a:cs typeface="Trebuchet MS"/>
              </a:rPr>
              <a:t>individual</a:t>
            </a:r>
            <a:r>
              <a:rPr sz="950" spc="-2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lexical</a:t>
            </a:r>
            <a:r>
              <a:rPr sz="950" spc="-2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items.</a:t>
            </a:r>
            <a:endParaRPr sz="9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85"/>
              </a:spcBef>
            </a:pPr>
            <a:endParaRPr sz="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950" dirty="0">
                <a:latin typeface="Trebuchet MS"/>
                <a:cs typeface="Trebuchet MS"/>
              </a:rPr>
              <a:t>To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identify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semantics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-10" dirty="0">
                <a:latin typeface="Trebuchet MS"/>
                <a:cs typeface="Trebuchet MS"/>
              </a:rPr>
              <a:t> lexical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items, </a:t>
            </a:r>
            <a:r>
              <a:rPr sz="950" dirty="0">
                <a:latin typeface="Trebuchet MS"/>
                <a:cs typeface="Trebuchet MS"/>
              </a:rPr>
              <a:t>we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need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to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focus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on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notion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of</a:t>
            </a:r>
            <a:endParaRPr sz="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950" b="1" spc="-10" dirty="0">
                <a:latin typeface="Trebuchet MS"/>
                <a:cs typeface="Trebuchet MS"/>
              </a:rPr>
              <a:t>lexeme</a:t>
            </a:r>
            <a:r>
              <a:rPr sz="950" spc="-10" dirty="0">
                <a:latin typeface="Trebuchet MS"/>
                <a:cs typeface="Trebuchet MS"/>
              </a:rPr>
              <a:t>,</a:t>
            </a:r>
            <a:r>
              <a:rPr sz="950" spc="-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an</a:t>
            </a:r>
            <a:r>
              <a:rPr sz="950" spc="-2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individual</a:t>
            </a:r>
            <a:r>
              <a:rPr sz="950" spc="-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entry</a:t>
            </a:r>
            <a:r>
              <a:rPr sz="950" spc="-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in</a:t>
            </a:r>
            <a:r>
              <a:rPr sz="950" spc="-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2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lexicon.</a:t>
            </a:r>
            <a:endParaRPr sz="9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sz="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100" i="1" spc="-50" dirty="0">
                <a:solidFill>
                  <a:srgbClr val="3333B2"/>
                </a:solidFill>
                <a:latin typeface="Cambria"/>
                <a:cs typeface="Cambria"/>
              </a:rPr>
              <a:t>What</a:t>
            </a:r>
            <a:r>
              <a:rPr sz="1100" i="1" spc="5" dirty="0">
                <a:solidFill>
                  <a:srgbClr val="3333B2"/>
                </a:solidFill>
                <a:latin typeface="Cambria"/>
                <a:cs typeface="Cambria"/>
              </a:rPr>
              <a:t> </a:t>
            </a:r>
            <a:r>
              <a:rPr sz="1100" i="1" dirty="0">
                <a:solidFill>
                  <a:srgbClr val="3333B2"/>
                </a:solidFill>
                <a:latin typeface="Cambria"/>
                <a:cs typeface="Cambria"/>
              </a:rPr>
              <a:t>is</a:t>
            </a:r>
            <a:r>
              <a:rPr sz="1100" i="1" spc="10" dirty="0">
                <a:solidFill>
                  <a:srgbClr val="3333B2"/>
                </a:solidFill>
                <a:latin typeface="Cambria"/>
                <a:cs typeface="Cambria"/>
              </a:rPr>
              <a:t> </a:t>
            </a:r>
            <a:r>
              <a:rPr sz="1100" i="1" dirty="0">
                <a:solidFill>
                  <a:srgbClr val="3333B2"/>
                </a:solidFill>
                <a:latin typeface="Cambria"/>
                <a:cs typeface="Cambria"/>
              </a:rPr>
              <a:t>a</a:t>
            </a:r>
            <a:r>
              <a:rPr sz="1100" i="1" spc="10" dirty="0">
                <a:solidFill>
                  <a:srgbClr val="3333B2"/>
                </a:solidFill>
                <a:latin typeface="Cambria"/>
                <a:cs typeface="Cambria"/>
              </a:rPr>
              <a:t> </a:t>
            </a:r>
            <a:r>
              <a:rPr sz="1100" i="1" spc="-10" dirty="0">
                <a:solidFill>
                  <a:srgbClr val="3333B2"/>
                </a:solidFill>
                <a:latin typeface="Cambria"/>
                <a:cs typeface="Cambria"/>
              </a:rPr>
              <a:t>lexeme?</a:t>
            </a:r>
            <a:endParaRPr sz="1100">
              <a:latin typeface="Cambria"/>
              <a:cs typeface="Cambria"/>
            </a:endParaRPr>
          </a:p>
          <a:p>
            <a:pPr marL="12700" marR="247015">
              <a:lnSpc>
                <a:spcPct val="118900"/>
              </a:lnSpc>
              <a:spcBef>
                <a:spcPts val="135"/>
              </a:spcBef>
            </a:pPr>
            <a:r>
              <a:rPr sz="950" b="1" dirty="0">
                <a:latin typeface="Trebuchet MS"/>
                <a:cs typeface="Trebuchet MS"/>
              </a:rPr>
              <a:t>Lexeme</a:t>
            </a:r>
            <a:r>
              <a:rPr sz="950" b="1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should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be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thought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spc="70" dirty="0">
                <a:latin typeface="Trebuchet MS"/>
                <a:cs typeface="Trebuchet MS"/>
              </a:rPr>
              <a:t>as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pairing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particular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orthographic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and </a:t>
            </a:r>
            <a:r>
              <a:rPr sz="950" dirty="0">
                <a:latin typeface="Trebuchet MS"/>
                <a:cs typeface="Trebuchet MS"/>
              </a:rPr>
              <a:t>phonological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form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spc="-40" dirty="0">
                <a:latin typeface="Trebuchet MS"/>
                <a:cs typeface="Trebuchet MS"/>
              </a:rPr>
              <a:t>with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some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sort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symbolic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meaning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representation.</a:t>
            </a:r>
            <a:endParaRPr sz="950">
              <a:latin typeface="Trebuchet MS"/>
              <a:cs typeface="Trebuchet MS"/>
            </a:endParaRPr>
          </a:p>
          <a:p>
            <a:pPr marL="289560" marR="158115">
              <a:lnSpc>
                <a:spcPct val="118900"/>
              </a:lnSpc>
              <a:spcBef>
                <a:spcPts val="295"/>
              </a:spcBef>
            </a:pPr>
            <a:r>
              <a:rPr sz="950" dirty="0">
                <a:latin typeface="Trebuchet MS"/>
                <a:cs typeface="Trebuchet MS"/>
              </a:rPr>
              <a:t>Orthographic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spc="-30" dirty="0">
                <a:latin typeface="Trebuchet MS"/>
                <a:cs typeface="Trebuchet MS"/>
              </a:rPr>
              <a:t>form,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and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phonological</a:t>
            </a:r>
            <a:r>
              <a:rPr sz="950" spc="-10" dirty="0">
                <a:latin typeface="Trebuchet MS"/>
                <a:cs typeface="Trebuchet MS"/>
              </a:rPr>
              <a:t> form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refer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to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appropriate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form </a:t>
            </a:r>
            <a:r>
              <a:rPr sz="950" dirty="0">
                <a:latin typeface="Trebuchet MS"/>
                <a:cs typeface="Trebuchet MS"/>
              </a:rPr>
              <a:t>part</a:t>
            </a:r>
            <a:r>
              <a:rPr sz="950" spc="-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-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-3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lexeme</a:t>
            </a:r>
            <a:endParaRPr sz="950">
              <a:latin typeface="Trebuchet MS"/>
              <a:cs typeface="Trebuchet MS"/>
            </a:endParaRPr>
          </a:p>
          <a:p>
            <a:pPr marL="289560">
              <a:lnSpc>
                <a:spcPct val="100000"/>
              </a:lnSpc>
              <a:spcBef>
                <a:spcPts val="515"/>
              </a:spcBef>
            </a:pPr>
            <a:r>
              <a:rPr sz="950" spc="70" dirty="0">
                <a:latin typeface="Trebuchet MS"/>
                <a:cs typeface="Trebuchet MS"/>
              </a:rPr>
              <a:t>Sense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refers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to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lexeme’s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meaning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counterpart.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43" name="object 4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20" dirty="0"/>
              <a:t>Pawan</a:t>
            </a:r>
            <a:r>
              <a:rPr spc="15" dirty="0"/>
              <a:t> </a:t>
            </a:r>
            <a:r>
              <a:rPr dirty="0"/>
              <a:t>Goyal</a:t>
            </a:r>
            <a:r>
              <a:rPr spc="170" dirty="0"/>
              <a:t> </a:t>
            </a:r>
            <a:r>
              <a:rPr dirty="0"/>
              <a:t>(IIT</a:t>
            </a:r>
            <a:r>
              <a:rPr spc="15" dirty="0"/>
              <a:t> </a:t>
            </a:r>
            <a:r>
              <a:rPr spc="-10" dirty="0"/>
              <a:t>Kharagpur)</a:t>
            </a:r>
          </a:p>
        </p:txBody>
      </p:sp>
      <p:sp>
        <p:nvSpPr>
          <p:cNvPr id="45" name="object 45"/>
          <p:cNvSpPr txBox="1"/>
          <p:nvPr/>
        </p:nvSpPr>
        <p:spPr>
          <a:xfrm>
            <a:off x="364622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1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4355386" y="3339672"/>
            <a:ext cx="1987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2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18</a:t>
            </a:r>
            <a:endParaRPr sz="600">
              <a:latin typeface="Cambria"/>
              <a:cs typeface="Cambria"/>
            </a:endParaRPr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4608195" cy="351790"/>
          </a:xfrm>
          <a:custGeom>
            <a:avLst/>
            <a:gdLst/>
            <a:ahLst/>
            <a:cxnLst/>
            <a:rect l="l" t="t" r="r" b="b"/>
            <a:pathLst>
              <a:path w="4608195" h="351790">
                <a:moveTo>
                  <a:pt x="4608004" y="0"/>
                </a:moveTo>
                <a:lnTo>
                  <a:pt x="0" y="0"/>
                </a:lnTo>
                <a:lnTo>
                  <a:pt x="0" y="351383"/>
                </a:lnTo>
                <a:lnTo>
                  <a:pt x="4608004" y="351383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5300" y="60502"/>
            <a:ext cx="66294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i="1" spc="-10" dirty="0">
                <a:solidFill>
                  <a:srgbClr val="FFFFFF"/>
                </a:solidFill>
                <a:latin typeface="Cambria"/>
                <a:cs typeface="Cambria"/>
              </a:rPr>
              <a:t>Example</a:t>
            </a:r>
            <a:endParaRPr sz="140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7113" y="652386"/>
            <a:ext cx="4038600" cy="2250440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20" dirty="0"/>
              <a:t>Pawan</a:t>
            </a:r>
            <a:r>
              <a:rPr spc="15" dirty="0"/>
              <a:t> </a:t>
            </a:r>
            <a:r>
              <a:rPr dirty="0"/>
              <a:t>Goyal</a:t>
            </a:r>
            <a:r>
              <a:rPr spc="170" dirty="0"/>
              <a:t> </a:t>
            </a:r>
            <a:r>
              <a:rPr dirty="0"/>
              <a:t>(IIT</a:t>
            </a:r>
            <a:r>
              <a:rPr spc="15" dirty="0"/>
              <a:t> </a:t>
            </a:r>
            <a:r>
              <a:rPr spc="-10" dirty="0"/>
              <a:t>Kharagpur)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64622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1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r>
              <a:rPr dirty="0"/>
              <a:t>3</a:t>
            </a:r>
            <a:r>
              <a:rPr spc="-5" dirty="0"/>
              <a:t> </a:t>
            </a:r>
            <a:r>
              <a:rPr spc="-110" dirty="0"/>
              <a:t>/</a:t>
            </a:r>
            <a:r>
              <a:rPr spc="15" dirty="0"/>
              <a:t> </a:t>
            </a:r>
            <a:r>
              <a:rPr spc="-25" dirty="0"/>
              <a:t>18</a:t>
            </a:r>
          </a:p>
        </p:txBody>
      </p: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Example:</a:t>
            </a:r>
            <a:r>
              <a:rPr spc="105" dirty="0"/>
              <a:t> </a:t>
            </a:r>
            <a:r>
              <a:rPr spc="-20" dirty="0"/>
              <a:t>meaning</a:t>
            </a:r>
            <a:r>
              <a:rPr spc="30" dirty="0"/>
              <a:t> </a:t>
            </a:r>
            <a:r>
              <a:rPr spc="-10" dirty="0"/>
              <a:t>related</a:t>
            </a:r>
            <a:r>
              <a:rPr spc="30" dirty="0"/>
              <a:t> </a:t>
            </a:r>
            <a:r>
              <a:rPr spc="-10" dirty="0"/>
              <a:t>facts?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587590"/>
            <a:ext cx="4483735" cy="1405255"/>
            <a:chOff x="87743" y="587590"/>
            <a:chExt cx="4483735" cy="1405255"/>
          </a:xfrm>
        </p:grpSpPr>
        <p:sp>
          <p:nvSpPr>
            <p:cNvPr id="4" name="object 4"/>
            <p:cNvSpPr/>
            <p:nvPr/>
          </p:nvSpPr>
          <p:spPr>
            <a:xfrm>
              <a:off x="87743" y="587590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4">
                  <a:moveTo>
                    <a:pt x="438176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66" y="185674"/>
                  </a:lnTo>
                  <a:lnTo>
                    <a:pt x="4432566" y="50800"/>
                  </a:lnTo>
                  <a:lnTo>
                    <a:pt x="4428558" y="31075"/>
                  </a:lnTo>
                  <a:lnTo>
                    <a:pt x="4417644" y="14922"/>
                  </a:lnTo>
                  <a:lnTo>
                    <a:pt x="4401491" y="4008"/>
                  </a:lnTo>
                  <a:lnTo>
                    <a:pt x="4381766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760615"/>
              <a:ext cx="4432566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1891207"/>
              <a:ext cx="101599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1878507"/>
              <a:ext cx="4381715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311" y="631825"/>
              <a:ext cx="50749" cy="125938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804875"/>
              <a:ext cx="4432935" cy="1137285"/>
            </a:xfrm>
            <a:custGeom>
              <a:avLst/>
              <a:gdLst/>
              <a:ahLst/>
              <a:cxnLst/>
              <a:rect l="l" t="t" r="r" b="b"/>
              <a:pathLst>
                <a:path w="4432935" h="1137285">
                  <a:moveTo>
                    <a:pt x="4432566" y="0"/>
                  </a:moveTo>
                  <a:lnTo>
                    <a:pt x="0" y="0"/>
                  </a:lnTo>
                  <a:lnTo>
                    <a:pt x="0" y="1086332"/>
                  </a:lnTo>
                  <a:lnTo>
                    <a:pt x="4008" y="1106057"/>
                  </a:lnTo>
                  <a:lnTo>
                    <a:pt x="14922" y="1122210"/>
                  </a:lnTo>
                  <a:lnTo>
                    <a:pt x="31075" y="1133124"/>
                  </a:lnTo>
                  <a:lnTo>
                    <a:pt x="50800" y="1137132"/>
                  </a:lnTo>
                  <a:lnTo>
                    <a:pt x="4381766" y="1137132"/>
                  </a:lnTo>
                  <a:lnTo>
                    <a:pt x="4401491" y="1133124"/>
                  </a:lnTo>
                  <a:lnTo>
                    <a:pt x="4417644" y="1122210"/>
                  </a:lnTo>
                  <a:lnTo>
                    <a:pt x="4428558" y="1106057"/>
                  </a:lnTo>
                  <a:lnTo>
                    <a:pt x="4432566" y="1086332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09" y="669912"/>
              <a:ext cx="0" cy="1240790"/>
            </a:xfrm>
            <a:custGeom>
              <a:avLst/>
              <a:gdLst/>
              <a:ahLst/>
              <a:cxnLst/>
              <a:rect l="l" t="t" r="r" b="b"/>
              <a:pathLst>
                <a:path h="1240789">
                  <a:moveTo>
                    <a:pt x="0" y="1240345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09" y="65720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09" y="64450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09" y="63180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1597" y="854621"/>
              <a:ext cx="64757" cy="6475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1597" y="1236726"/>
              <a:ext cx="64757" cy="64757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81597" y="1446758"/>
              <a:ext cx="64757" cy="64757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81597" y="1656791"/>
              <a:ext cx="64757" cy="64757"/>
            </a:xfrm>
            <a:prstGeom prst="rect">
              <a:avLst/>
            </a:prstGeom>
          </p:spPr>
        </p:pic>
      </p:grpSp>
      <p:grpSp>
        <p:nvGrpSpPr>
          <p:cNvPr id="18" name="object 18"/>
          <p:cNvGrpSpPr/>
          <p:nvPr/>
        </p:nvGrpSpPr>
        <p:grpSpPr>
          <a:xfrm>
            <a:off x="87743" y="2093938"/>
            <a:ext cx="4483735" cy="1047750"/>
            <a:chOff x="87743" y="2093938"/>
            <a:chExt cx="4483735" cy="1047750"/>
          </a:xfrm>
        </p:grpSpPr>
        <p:sp>
          <p:nvSpPr>
            <p:cNvPr id="19" name="object 19"/>
            <p:cNvSpPr/>
            <p:nvPr/>
          </p:nvSpPr>
          <p:spPr>
            <a:xfrm>
              <a:off x="87743" y="2093938"/>
              <a:ext cx="4432935" cy="82550"/>
            </a:xfrm>
            <a:custGeom>
              <a:avLst/>
              <a:gdLst/>
              <a:ahLst/>
              <a:cxnLst/>
              <a:rect l="l" t="t" r="r" b="b"/>
              <a:pathLst>
                <a:path w="4432935" h="82550">
                  <a:moveTo>
                    <a:pt x="438176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4432566" y="82384"/>
                  </a:lnTo>
                  <a:lnTo>
                    <a:pt x="4432566" y="50800"/>
                  </a:lnTo>
                  <a:lnTo>
                    <a:pt x="4428558" y="31075"/>
                  </a:lnTo>
                  <a:lnTo>
                    <a:pt x="4417644" y="14922"/>
                  </a:lnTo>
                  <a:lnTo>
                    <a:pt x="4401491" y="4008"/>
                  </a:lnTo>
                  <a:lnTo>
                    <a:pt x="4381766" y="0"/>
                  </a:lnTo>
                  <a:close/>
                </a:path>
              </a:pathLst>
            </a:custGeom>
            <a:solidFill>
              <a:srgbClr val="FFE5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38544" y="3039465"/>
              <a:ext cx="101599" cy="10160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89344" y="3026765"/>
              <a:ext cx="4381715" cy="114300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520311" y="2144496"/>
              <a:ext cx="50749" cy="894969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87743" y="2138349"/>
              <a:ext cx="4432935" cy="952500"/>
            </a:xfrm>
            <a:custGeom>
              <a:avLst/>
              <a:gdLst/>
              <a:ahLst/>
              <a:cxnLst/>
              <a:rect l="l" t="t" r="r" b="b"/>
              <a:pathLst>
                <a:path w="4432935" h="952500">
                  <a:moveTo>
                    <a:pt x="4432566" y="0"/>
                  </a:moveTo>
                  <a:lnTo>
                    <a:pt x="0" y="0"/>
                  </a:lnTo>
                  <a:lnTo>
                    <a:pt x="0" y="901115"/>
                  </a:lnTo>
                  <a:lnTo>
                    <a:pt x="4008" y="920840"/>
                  </a:lnTo>
                  <a:lnTo>
                    <a:pt x="14922" y="936993"/>
                  </a:lnTo>
                  <a:lnTo>
                    <a:pt x="31075" y="947907"/>
                  </a:lnTo>
                  <a:lnTo>
                    <a:pt x="50800" y="951915"/>
                  </a:lnTo>
                  <a:lnTo>
                    <a:pt x="4381766" y="951915"/>
                  </a:lnTo>
                  <a:lnTo>
                    <a:pt x="4401491" y="947907"/>
                  </a:lnTo>
                  <a:lnTo>
                    <a:pt x="4417644" y="936993"/>
                  </a:lnTo>
                  <a:lnTo>
                    <a:pt x="4428558" y="920840"/>
                  </a:lnTo>
                  <a:lnTo>
                    <a:pt x="4432566" y="901115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FFE5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520309" y="2182596"/>
              <a:ext cx="0" cy="876300"/>
            </a:xfrm>
            <a:custGeom>
              <a:avLst/>
              <a:gdLst/>
              <a:ahLst/>
              <a:cxnLst/>
              <a:rect l="l" t="t" r="r" b="b"/>
              <a:pathLst>
                <a:path h="876300">
                  <a:moveTo>
                    <a:pt x="0" y="87591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520309" y="216989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520309" y="215719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520309" y="214449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81597" y="2188095"/>
              <a:ext cx="64757" cy="64757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81597" y="2398128"/>
              <a:ext cx="64757" cy="64757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81597" y="2780233"/>
              <a:ext cx="64757" cy="64757"/>
            </a:xfrm>
            <a:prstGeom prst="rect">
              <a:avLst/>
            </a:prstGeom>
          </p:spPr>
        </p:pic>
      </p:grpSp>
      <p:sp>
        <p:nvSpPr>
          <p:cNvPr id="31" name="object 31"/>
          <p:cNvSpPr txBox="1"/>
          <p:nvPr/>
        </p:nvSpPr>
        <p:spPr>
          <a:xfrm>
            <a:off x="125844" y="512944"/>
            <a:ext cx="4334510" cy="2544445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100" i="1" spc="-20" dirty="0">
                <a:solidFill>
                  <a:srgbClr val="3333B2"/>
                </a:solidFill>
                <a:latin typeface="Cambria"/>
                <a:cs typeface="Cambria"/>
              </a:rPr>
              <a:t>Definitions</a:t>
            </a:r>
            <a:r>
              <a:rPr sz="1100" i="1" dirty="0">
                <a:solidFill>
                  <a:srgbClr val="3333B2"/>
                </a:solidFill>
                <a:latin typeface="Cambria"/>
                <a:cs typeface="Cambria"/>
              </a:rPr>
              <a:t> </a:t>
            </a:r>
            <a:r>
              <a:rPr sz="1100" i="1" spc="-50" dirty="0">
                <a:solidFill>
                  <a:srgbClr val="3333B2"/>
                </a:solidFill>
                <a:latin typeface="Cambria"/>
                <a:cs typeface="Cambria"/>
              </a:rPr>
              <a:t>from</a:t>
            </a:r>
            <a:r>
              <a:rPr sz="1100" i="1" spc="5" dirty="0">
                <a:solidFill>
                  <a:srgbClr val="3333B2"/>
                </a:solidFill>
                <a:latin typeface="Cambria"/>
                <a:cs typeface="Cambria"/>
              </a:rPr>
              <a:t> </a:t>
            </a:r>
            <a:r>
              <a:rPr sz="1100" i="1" spc="-30" dirty="0">
                <a:solidFill>
                  <a:srgbClr val="3333B2"/>
                </a:solidFill>
                <a:latin typeface="Cambria"/>
                <a:cs typeface="Cambria"/>
              </a:rPr>
              <a:t>the</a:t>
            </a:r>
            <a:r>
              <a:rPr sz="1100" i="1" spc="5" dirty="0">
                <a:solidFill>
                  <a:srgbClr val="3333B2"/>
                </a:solidFill>
                <a:latin typeface="Cambria"/>
                <a:cs typeface="Cambria"/>
              </a:rPr>
              <a:t> </a:t>
            </a:r>
            <a:r>
              <a:rPr sz="1100" i="1" spc="-20" dirty="0">
                <a:solidFill>
                  <a:srgbClr val="3333B2"/>
                </a:solidFill>
                <a:latin typeface="Cambria"/>
                <a:cs typeface="Cambria"/>
              </a:rPr>
              <a:t>American</a:t>
            </a:r>
            <a:r>
              <a:rPr sz="1100" i="1" spc="5" dirty="0">
                <a:solidFill>
                  <a:srgbClr val="3333B2"/>
                </a:solidFill>
                <a:latin typeface="Cambria"/>
                <a:cs typeface="Cambria"/>
              </a:rPr>
              <a:t> </a:t>
            </a:r>
            <a:r>
              <a:rPr sz="1100" i="1" spc="-20" dirty="0">
                <a:solidFill>
                  <a:srgbClr val="3333B2"/>
                </a:solidFill>
                <a:latin typeface="Cambria"/>
                <a:cs typeface="Cambria"/>
              </a:rPr>
              <a:t>Heritage</a:t>
            </a:r>
            <a:r>
              <a:rPr sz="1100" i="1" spc="5" dirty="0">
                <a:solidFill>
                  <a:srgbClr val="3333B2"/>
                </a:solidFill>
                <a:latin typeface="Cambria"/>
                <a:cs typeface="Cambria"/>
              </a:rPr>
              <a:t> </a:t>
            </a:r>
            <a:r>
              <a:rPr sz="1100" i="1" spc="-10" dirty="0">
                <a:solidFill>
                  <a:srgbClr val="3333B2"/>
                </a:solidFill>
                <a:latin typeface="Cambria"/>
                <a:cs typeface="Cambria"/>
              </a:rPr>
              <a:t>Dictionary</a:t>
            </a:r>
            <a:r>
              <a:rPr sz="1100" i="1" spc="5" dirty="0">
                <a:solidFill>
                  <a:srgbClr val="3333B2"/>
                </a:solidFill>
                <a:latin typeface="Cambria"/>
                <a:cs typeface="Cambria"/>
              </a:rPr>
              <a:t> </a:t>
            </a:r>
            <a:r>
              <a:rPr sz="1100" i="1" dirty="0">
                <a:solidFill>
                  <a:srgbClr val="3333B2"/>
                </a:solidFill>
                <a:latin typeface="Cambria"/>
                <a:cs typeface="Cambria"/>
              </a:rPr>
              <a:t>(Morris, </a:t>
            </a:r>
            <a:r>
              <a:rPr sz="1100" i="1" spc="-10" dirty="0">
                <a:solidFill>
                  <a:srgbClr val="3333B2"/>
                </a:solidFill>
                <a:latin typeface="Cambria"/>
                <a:cs typeface="Cambria"/>
              </a:rPr>
              <a:t>1985)</a:t>
            </a:r>
            <a:endParaRPr sz="1100">
              <a:latin typeface="Cambria"/>
              <a:cs typeface="Cambria"/>
            </a:endParaRPr>
          </a:p>
          <a:p>
            <a:pPr marL="289560" marR="25400">
              <a:lnSpc>
                <a:spcPct val="118900"/>
              </a:lnSpc>
              <a:spcBef>
                <a:spcPts val="209"/>
              </a:spcBef>
            </a:pPr>
            <a:r>
              <a:rPr sz="950" b="1" dirty="0">
                <a:latin typeface="Trebuchet MS"/>
                <a:cs typeface="Trebuchet MS"/>
              </a:rPr>
              <a:t>right</a:t>
            </a:r>
            <a:r>
              <a:rPr sz="950" b="1" spc="-5" dirty="0">
                <a:latin typeface="Trebuchet MS"/>
                <a:cs typeface="Trebuchet MS"/>
              </a:rPr>
              <a:t> </a:t>
            </a:r>
            <a:r>
              <a:rPr sz="950" i="1" spc="-20" dirty="0">
                <a:latin typeface="Trebuchet MS"/>
                <a:cs typeface="Trebuchet MS"/>
              </a:rPr>
              <a:t>adj.</a:t>
            </a:r>
            <a:r>
              <a:rPr sz="950" i="1" spc="6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located near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 </a:t>
            </a:r>
            <a:r>
              <a:rPr sz="950" spc="-20" dirty="0">
                <a:latin typeface="Trebuchet MS"/>
                <a:cs typeface="Trebuchet MS"/>
              </a:rPr>
              <a:t>right</a:t>
            </a:r>
            <a:r>
              <a:rPr sz="950" dirty="0">
                <a:latin typeface="Trebuchet MS"/>
                <a:cs typeface="Trebuchet MS"/>
              </a:rPr>
              <a:t> hand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esp.</a:t>
            </a:r>
            <a:r>
              <a:rPr sz="950" spc="6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being on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 </a:t>
            </a:r>
            <a:r>
              <a:rPr sz="950" spc="-20" dirty="0">
                <a:latin typeface="Trebuchet MS"/>
                <a:cs typeface="Trebuchet MS"/>
              </a:rPr>
              <a:t>right</a:t>
            </a:r>
            <a:r>
              <a:rPr sz="950" dirty="0">
                <a:latin typeface="Trebuchet MS"/>
                <a:cs typeface="Trebuchet MS"/>
              </a:rPr>
              <a:t> when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facing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same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direction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70" dirty="0">
                <a:latin typeface="Trebuchet MS"/>
                <a:cs typeface="Trebuchet MS"/>
              </a:rPr>
              <a:t>as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observer</a:t>
            </a:r>
            <a:endParaRPr sz="950">
              <a:latin typeface="Trebuchet MS"/>
              <a:cs typeface="Trebuchet MS"/>
            </a:endParaRPr>
          </a:p>
          <a:p>
            <a:pPr marL="289560">
              <a:lnSpc>
                <a:spcPct val="100000"/>
              </a:lnSpc>
              <a:spcBef>
                <a:spcPts val="509"/>
              </a:spcBef>
            </a:pPr>
            <a:r>
              <a:rPr sz="950" b="1" spc="-10" dirty="0">
                <a:latin typeface="Trebuchet MS"/>
                <a:cs typeface="Trebuchet MS"/>
              </a:rPr>
              <a:t>left</a:t>
            </a:r>
            <a:r>
              <a:rPr sz="950" b="1" spc="-30" dirty="0">
                <a:latin typeface="Trebuchet MS"/>
                <a:cs typeface="Trebuchet MS"/>
              </a:rPr>
              <a:t> </a:t>
            </a:r>
            <a:r>
              <a:rPr sz="950" i="1" spc="-20" dirty="0">
                <a:latin typeface="Trebuchet MS"/>
                <a:cs typeface="Trebuchet MS"/>
              </a:rPr>
              <a:t>adj.</a:t>
            </a:r>
            <a:r>
              <a:rPr sz="950" i="1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located</a:t>
            </a:r>
            <a:r>
              <a:rPr sz="950" spc="-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near</a:t>
            </a:r>
            <a:r>
              <a:rPr sz="950" spc="-3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to</a:t>
            </a:r>
            <a:r>
              <a:rPr sz="950" spc="-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this</a:t>
            </a:r>
            <a:r>
              <a:rPr sz="950" spc="-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side</a:t>
            </a:r>
            <a:r>
              <a:rPr sz="950" spc="-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-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body</a:t>
            </a:r>
            <a:r>
              <a:rPr sz="950" spc="-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than</a:t>
            </a:r>
            <a:r>
              <a:rPr sz="950" spc="-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3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right</a:t>
            </a:r>
            <a:endParaRPr sz="950">
              <a:latin typeface="Trebuchet MS"/>
              <a:cs typeface="Trebuchet MS"/>
            </a:endParaRPr>
          </a:p>
          <a:p>
            <a:pPr marL="289560">
              <a:lnSpc>
                <a:spcPct val="100000"/>
              </a:lnSpc>
              <a:spcBef>
                <a:spcPts val="515"/>
              </a:spcBef>
            </a:pPr>
            <a:r>
              <a:rPr sz="950" b="1" dirty="0">
                <a:latin typeface="Trebuchet MS"/>
                <a:cs typeface="Trebuchet MS"/>
              </a:rPr>
              <a:t>red</a:t>
            </a:r>
            <a:r>
              <a:rPr sz="950" b="1" spc="-35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n.</a:t>
            </a:r>
            <a:r>
              <a:rPr sz="950" i="1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color</a:t>
            </a:r>
            <a:r>
              <a:rPr sz="950" spc="-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-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blood</a:t>
            </a:r>
            <a:r>
              <a:rPr sz="950" spc="-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or</a:t>
            </a:r>
            <a:r>
              <a:rPr sz="950" spc="-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-3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ruby</a:t>
            </a:r>
            <a:endParaRPr sz="950">
              <a:latin typeface="Trebuchet MS"/>
              <a:cs typeface="Trebuchet MS"/>
            </a:endParaRPr>
          </a:p>
          <a:p>
            <a:pPr marL="289560" marR="140335">
              <a:lnSpc>
                <a:spcPct val="118900"/>
              </a:lnSpc>
              <a:spcBef>
                <a:spcPts val="300"/>
              </a:spcBef>
            </a:pPr>
            <a:r>
              <a:rPr sz="950" b="1" dirty="0">
                <a:latin typeface="Trebuchet MS"/>
                <a:cs typeface="Trebuchet MS"/>
              </a:rPr>
              <a:t>blood</a:t>
            </a:r>
            <a:r>
              <a:rPr sz="950" b="1" spc="-10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n.</a:t>
            </a:r>
            <a:r>
              <a:rPr sz="950" i="1" spc="6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red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liquid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spc="-30" dirty="0">
                <a:latin typeface="Trebuchet MS"/>
                <a:cs typeface="Trebuchet MS"/>
              </a:rPr>
              <a:t>that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circulates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in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heart,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arteries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and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veins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of </a:t>
            </a:r>
            <a:r>
              <a:rPr sz="950" spc="-10" dirty="0">
                <a:latin typeface="Trebuchet MS"/>
                <a:cs typeface="Trebuchet MS"/>
              </a:rPr>
              <a:t>animals</a:t>
            </a:r>
            <a:endParaRPr sz="9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85"/>
              </a:spcBef>
            </a:pPr>
            <a:endParaRPr sz="950">
              <a:latin typeface="Trebuchet MS"/>
              <a:cs typeface="Trebuchet MS"/>
            </a:endParaRPr>
          </a:p>
          <a:p>
            <a:pPr marL="289560">
              <a:lnSpc>
                <a:spcPct val="100000"/>
              </a:lnSpc>
            </a:pP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entries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are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description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lexemes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in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terms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-10" dirty="0">
                <a:latin typeface="Trebuchet MS"/>
                <a:cs typeface="Trebuchet MS"/>
              </a:rPr>
              <a:t> other lexemes</a:t>
            </a:r>
            <a:endParaRPr sz="950">
              <a:latin typeface="Trebuchet MS"/>
              <a:cs typeface="Trebuchet MS"/>
            </a:endParaRPr>
          </a:p>
          <a:p>
            <a:pPr marL="289560" marR="5080">
              <a:lnSpc>
                <a:spcPct val="118900"/>
              </a:lnSpc>
              <a:spcBef>
                <a:spcPts val="300"/>
              </a:spcBef>
            </a:pPr>
            <a:r>
              <a:rPr sz="950" dirty="0">
                <a:latin typeface="Trebuchet MS"/>
                <a:cs typeface="Trebuchet MS"/>
              </a:rPr>
              <a:t>Definitions make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spc="-85" dirty="0">
                <a:latin typeface="Trebuchet MS"/>
                <a:cs typeface="Trebuchet MS"/>
              </a:rPr>
              <a:t>it</a:t>
            </a:r>
            <a:r>
              <a:rPr sz="950" dirty="0">
                <a:latin typeface="Trebuchet MS"/>
                <a:cs typeface="Trebuchet MS"/>
              </a:rPr>
              <a:t> clear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spc="-30" dirty="0">
                <a:latin typeface="Trebuchet MS"/>
                <a:cs typeface="Trebuchet MS"/>
              </a:rPr>
              <a:t>that</a:t>
            </a:r>
            <a:r>
              <a:rPr sz="950" dirty="0">
                <a:latin typeface="Trebuchet MS"/>
                <a:cs typeface="Trebuchet MS"/>
              </a:rPr>
              <a:t> </a:t>
            </a:r>
            <a:r>
              <a:rPr sz="950" i="1" spc="-35" dirty="0">
                <a:latin typeface="Trebuchet MS"/>
                <a:cs typeface="Trebuchet MS"/>
              </a:rPr>
              <a:t>right</a:t>
            </a:r>
            <a:r>
              <a:rPr sz="950" i="1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and </a:t>
            </a:r>
            <a:r>
              <a:rPr sz="950" i="1" spc="-85" dirty="0">
                <a:latin typeface="Trebuchet MS"/>
                <a:cs typeface="Trebuchet MS"/>
              </a:rPr>
              <a:t>left</a:t>
            </a:r>
            <a:r>
              <a:rPr sz="950" i="1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are </a:t>
            </a:r>
            <a:r>
              <a:rPr sz="950" spc="-10" dirty="0">
                <a:latin typeface="Trebuchet MS"/>
                <a:cs typeface="Trebuchet MS"/>
              </a:rPr>
              <a:t>similar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kind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 lexemes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that </a:t>
            </a:r>
            <a:r>
              <a:rPr sz="950" dirty="0">
                <a:latin typeface="Trebuchet MS"/>
                <a:cs typeface="Trebuchet MS"/>
              </a:rPr>
              <a:t>stand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in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some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kind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alternation,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or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opposition,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to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one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another</a:t>
            </a:r>
            <a:endParaRPr sz="950">
              <a:latin typeface="Trebuchet MS"/>
              <a:cs typeface="Trebuchet MS"/>
            </a:endParaRPr>
          </a:p>
          <a:p>
            <a:pPr marL="289560">
              <a:lnSpc>
                <a:spcPct val="100000"/>
              </a:lnSpc>
              <a:spcBef>
                <a:spcPts val="509"/>
              </a:spcBef>
            </a:pPr>
            <a:r>
              <a:rPr sz="950" spc="55" dirty="0">
                <a:latin typeface="Trebuchet MS"/>
                <a:cs typeface="Trebuchet MS"/>
              </a:rPr>
              <a:t>We</a:t>
            </a:r>
            <a:r>
              <a:rPr sz="950" dirty="0">
                <a:latin typeface="Trebuchet MS"/>
                <a:cs typeface="Trebuchet MS"/>
              </a:rPr>
              <a:t> can glean </a:t>
            </a:r>
            <a:r>
              <a:rPr sz="950" spc="-30" dirty="0">
                <a:latin typeface="Trebuchet MS"/>
                <a:cs typeface="Trebuchet MS"/>
              </a:rPr>
              <a:t>that</a:t>
            </a:r>
            <a:r>
              <a:rPr sz="950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red</a:t>
            </a:r>
            <a:r>
              <a:rPr sz="950" i="1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is a </a:t>
            </a:r>
            <a:r>
              <a:rPr sz="950" spc="-25" dirty="0">
                <a:latin typeface="Trebuchet MS"/>
                <a:cs typeface="Trebuchet MS"/>
              </a:rPr>
              <a:t>color,</a:t>
            </a:r>
            <a:r>
              <a:rPr sz="950" dirty="0">
                <a:latin typeface="Trebuchet MS"/>
                <a:cs typeface="Trebuchet MS"/>
              </a:rPr>
              <a:t> </a:t>
            </a:r>
            <a:r>
              <a:rPr sz="950" spc="-85" dirty="0">
                <a:latin typeface="Trebuchet MS"/>
                <a:cs typeface="Trebuchet MS"/>
              </a:rPr>
              <a:t>it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can be applied </a:t>
            </a:r>
            <a:r>
              <a:rPr sz="950" spc="-20" dirty="0">
                <a:latin typeface="Trebuchet MS"/>
                <a:cs typeface="Trebuchet MS"/>
              </a:rPr>
              <a:t>to</a:t>
            </a:r>
            <a:r>
              <a:rPr sz="950" dirty="0">
                <a:latin typeface="Trebuchet MS"/>
                <a:cs typeface="Trebuchet MS"/>
              </a:rPr>
              <a:t> both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blood </a:t>
            </a:r>
            <a:r>
              <a:rPr sz="950" spc="-25" dirty="0">
                <a:latin typeface="Trebuchet MS"/>
                <a:cs typeface="Trebuchet MS"/>
              </a:rPr>
              <a:t>and</a:t>
            </a:r>
            <a:endParaRPr sz="950">
              <a:latin typeface="Trebuchet MS"/>
              <a:cs typeface="Trebuchet MS"/>
            </a:endParaRPr>
          </a:p>
          <a:p>
            <a:pPr marL="289560">
              <a:lnSpc>
                <a:spcPct val="100000"/>
              </a:lnSpc>
              <a:spcBef>
                <a:spcPts val="215"/>
              </a:spcBef>
            </a:pPr>
            <a:r>
              <a:rPr sz="950" i="1" spc="-10" dirty="0">
                <a:latin typeface="Trebuchet MS"/>
                <a:cs typeface="Trebuchet MS"/>
              </a:rPr>
              <a:t>rubies</a:t>
            </a:r>
            <a:r>
              <a:rPr sz="950" spc="-10" dirty="0">
                <a:latin typeface="Trebuchet MS"/>
                <a:cs typeface="Trebuchet MS"/>
              </a:rPr>
              <a:t>,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and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30" dirty="0">
                <a:latin typeface="Trebuchet MS"/>
                <a:cs typeface="Trebuchet MS"/>
              </a:rPr>
              <a:t>that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blood</a:t>
            </a:r>
            <a:r>
              <a:rPr sz="950" i="1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is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liquid.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37" name="object 3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20" dirty="0"/>
              <a:t>Pawan</a:t>
            </a:r>
            <a:r>
              <a:rPr spc="15" dirty="0"/>
              <a:t> </a:t>
            </a:r>
            <a:r>
              <a:rPr dirty="0"/>
              <a:t>Goyal</a:t>
            </a:r>
            <a:r>
              <a:rPr spc="170" dirty="0"/>
              <a:t> </a:t>
            </a:r>
            <a:r>
              <a:rPr dirty="0"/>
              <a:t>(IIT</a:t>
            </a:r>
            <a:r>
              <a:rPr spc="15" dirty="0"/>
              <a:t> </a:t>
            </a:r>
            <a:r>
              <a:rPr spc="-10" dirty="0"/>
              <a:t>Kharagpur)</a:t>
            </a:r>
          </a:p>
        </p:txBody>
      </p:sp>
      <p:sp>
        <p:nvSpPr>
          <p:cNvPr id="39" name="object 39"/>
          <p:cNvSpPr txBox="1"/>
          <p:nvPr/>
        </p:nvSpPr>
        <p:spPr>
          <a:xfrm>
            <a:off x="364622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1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4355386" y="3339672"/>
            <a:ext cx="1987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4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18</a:t>
            </a:r>
            <a:endParaRPr sz="600">
              <a:latin typeface="Cambria"/>
              <a:cs typeface="Cambria"/>
            </a:endParaRPr>
          </a:p>
        </p:txBody>
      </p:sp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60502"/>
            <a:ext cx="251396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Relations</a:t>
            </a:r>
            <a:r>
              <a:rPr spc="-25" dirty="0"/>
              <a:t> </a:t>
            </a:r>
            <a:r>
              <a:rPr spc="-20" dirty="0"/>
              <a:t>between </a:t>
            </a:r>
            <a:r>
              <a:rPr spc="-10" dirty="0"/>
              <a:t>word</a:t>
            </a:r>
            <a:r>
              <a:rPr spc="-25" dirty="0"/>
              <a:t> </a:t>
            </a:r>
            <a:r>
              <a:rPr spc="-10" dirty="0"/>
              <a:t>meanings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597" y="1084732"/>
            <a:ext cx="64757" cy="6475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2932" y="954222"/>
            <a:ext cx="655320" cy="149606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45100"/>
              </a:lnSpc>
              <a:spcBef>
                <a:spcPts val="90"/>
              </a:spcBef>
            </a:pPr>
            <a:r>
              <a:rPr sz="950" spc="-10" dirty="0">
                <a:latin typeface="Trebuchet MS"/>
                <a:cs typeface="Trebuchet MS"/>
              </a:rPr>
              <a:t>Homonymy Polysemy Synonymy Antonymy Hypernymy Hyponymy Meronymy</a:t>
            </a:r>
            <a:endParaRPr sz="950">
              <a:latin typeface="Trebuchet MS"/>
              <a:cs typeface="Trebuchet MS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597" y="1294765"/>
            <a:ext cx="64757" cy="6475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597" y="1504797"/>
            <a:ext cx="64757" cy="64757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597" y="1714830"/>
            <a:ext cx="64757" cy="64757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1597" y="1924862"/>
            <a:ext cx="64757" cy="64757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81597" y="2134895"/>
            <a:ext cx="64757" cy="64757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81597" y="2344928"/>
            <a:ext cx="64757" cy="64757"/>
          </a:xfrm>
          <a:prstGeom prst="rect">
            <a:avLst/>
          </a:prstGeom>
        </p:spPr>
      </p:pic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20" dirty="0"/>
              <a:t>Pawan</a:t>
            </a:r>
            <a:r>
              <a:rPr spc="15" dirty="0"/>
              <a:t> </a:t>
            </a:r>
            <a:r>
              <a:rPr dirty="0"/>
              <a:t>Goyal</a:t>
            </a:r>
            <a:r>
              <a:rPr spc="170" dirty="0"/>
              <a:t> </a:t>
            </a:r>
            <a:r>
              <a:rPr dirty="0"/>
              <a:t>(IIT</a:t>
            </a:r>
            <a:r>
              <a:rPr spc="15" dirty="0"/>
              <a:t> </a:t>
            </a:r>
            <a:r>
              <a:rPr spc="-10" dirty="0"/>
              <a:t>Kharagpur)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364622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1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r>
              <a:rPr dirty="0"/>
              <a:t>5</a:t>
            </a:r>
            <a:r>
              <a:rPr spc="-5" dirty="0"/>
              <a:t> </a:t>
            </a:r>
            <a:r>
              <a:rPr spc="-110" dirty="0"/>
              <a:t>/</a:t>
            </a:r>
            <a:r>
              <a:rPr spc="15" dirty="0"/>
              <a:t> </a:t>
            </a:r>
            <a:r>
              <a:rPr spc="-25" dirty="0"/>
              <a:t>18</a:t>
            </a:r>
          </a:p>
        </p:txBody>
      </p:sp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60502"/>
            <a:ext cx="855344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Homonymy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458508"/>
            <a:ext cx="4483735" cy="629920"/>
            <a:chOff x="87743" y="458508"/>
            <a:chExt cx="4483735" cy="629920"/>
          </a:xfrm>
        </p:grpSpPr>
        <p:sp>
          <p:nvSpPr>
            <p:cNvPr id="4" name="object 4"/>
            <p:cNvSpPr/>
            <p:nvPr/>
          </p:nvSpPr>
          <p:spPr>
            <a:xfrm>
              <a:off x="87743" y="458508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4">
                  <a:moveTo>
                    <a:pt x="438176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66" y="185674"/>
                  </a:lnTo>
                  <a:lnTo>
                    <a:pt x="4432566" y="50800"/>
                  </a:lnTo>
                  <a:lnTo>
                    <a:pt x="4428558" y="31075"/>
                  </a:lnTo>
                  <a:lnTo>
                    <a:pt x="4417644" y="14922"/>
                  </a:lnTo>
                  <a:lnTo>
                    <a:pt x="4401491" y="4008"/>
                  </a:lnTo>
                  <a:lnTo>
                    <a:pt x="4381766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631533"/>
              <a:ext cx="4432566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986269"/>
              <a:ext cx="101599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973569"/>
              <a:ext cx="4381715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311" y="502742"/>
              <a:ext cx="50749" cy="483527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675805"/>
              <a:ext cx="4432935" cy="361315"/>
            </a:xfrm>
            <a:custGeom>
              <a:avLst/>
              <a:gdLst/>
              <a:ahLst/>
              <a:cxnLst/>
              <a:rect l="l" t="t" r="r" b="b"/>
              <a:pathLst>
                <a:path w="4432935" h="361315">
                  <a:moveTo>
                    <a:pt x="4432566" y="0"/>
                  </a:moveTo>
                  <a:lnTo>
                    <a:pt x="0" y="0"/>
                  </a:lnTo>
                  <a:lnTo>
                    <a:pt x="0" y="310464"/>
                  </a:lnTo>
                  <a:lnTo>
                    <a:pt x="4008" y="330188"/>
                  </a:lnTo>
                  <a:lnTo>
                    <a:pt x="14922" y="346341"/>
                  </a:lnTo>
                  <a:lnTo>
                    <a:pt x="31075" y="357255"/>
                  </a:lnTo>
                  <a:lnTo>
                    <a:pt x="50800" y="361264"/>
                  </a:lnTo>
                  <a:lnTo>
                    <a:pt x="4381766" y="361264"/>
                  </a:lnTo>
                  <a:lnTo>
                    <a:pt x="4401491" y="357255"/>
                  </a:lnTo>
                  <a:lnTo>
                    <a:pt x="4417644" y="346341"/>
                  </a:lnTo>
                  <a:lnTo>
                    <a:pt x="4428558" y="330188"/>
                  </a:lnTo>
                  <a:lnTo>
                    <a:pt x="4432566" y="310464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09" y="540842"/>
              <a:ext cx="0" cy="464820"/>
            </a:xfrm>
            <a:custGeom>
              <a:avLst/>
              <a:gdLst/>
              <a:ahLst/>
              <a:cxnLst/>
              <a:rect l="l" t="t" r="r" b="b"/>
              <a:pathLst>
                <a:path h="464819">
                  <a:moveTo>
                    <a:pt x="0" y="46447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09" y="528141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09" y="515441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09" y="502741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87743" y="1151039"/>
            <a:ext cx="4483735" cy="666115"/>
            <a:chOff x="87743" y="1151039"/>
            <a:chExt cx="4483735" cy="666115"/>
          </a:xfrm>
        </p:grpSpPr>
        <p:sp>
          <p:nvSpPr>
            <p:cNvPr id="15" name="object 15"/>
            <p:cNvSpPr/>
            <p:nvPr/>
          </p:nvSpPr>
          <p:spPr>
            <a:xfrm>
              <a:off x="87743" y="1151039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6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66" y="185674"/>
                  </a:lnTo>
                  <a:lnTo>
                    <a:pt x="4432566" y="50800"/>
                  </a:lnTo>
                  <a:lnTo>
                    <a:pt x="4428558" y="31075"/>
                  </a:lnTo>
                  <a:lnTo>
                    <a:pt x="4417644" y="14922"/>
                  </a:lnTo>
                  <a:lnTo>
                    <a:pt x="4401491" y="4008"/>
                  </a:lnTo>
                  <a:lnTo>
                    <a:pt x="4381766" y="0"/>
                  </a:lnTo>
                  <a:close/>
                </a:path>
              </a:pathLst>
            </a:custGeom>
            <a:solidFill>
              <a:srgbClr val="CCE5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7744" y="1324051"/>
              <a:ext cx="4432566" cy="50609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38544" y="1715262"/>
              <a:ext cx="101599" cy="10160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89344" y="1702562"/>
              <a:ext cx="4381715" cy="11430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520311" y="1195273"/>
              <a:ext cx="50749" cy="519988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87743" y="1368336"/>
              <a:ext cx="4432935" cy="398145"/>
            </a:xfrm>
            <a:custGeom>
              <a:avLst/>
              <a:gdLst/>
              <a:ahLst/>
              <a:cxnLst/>
              <a:rect l="l" t="t" r="r" b="b"/>
              <a:pathLst>
                <a:path w="4432935" h="398144">
                  <a:moveTo>
                    <a:pt x="4432566" y="0"/>
                  </a:moveTo>
                  <a:lnTo>
                    <a:pt x="0" y="0"/>
                  </a:lnTo>
                  <a:lnTo>
                    <a:pt x="0" y="346925"/>
                  </a:lnTo>
                  <a:lnTo>
                    <a:pt x="4008" y="366650"/>
                  </a:lnTo>
                  <a:lnTo>
                    <a:pt x="14922" y="382803"/>
                  </a:lnTo>
                  <a:lnTo>
                    <a:pt x="31075" y="393717"/>
                  </a:lnTo>
                  <a:lnTo>
                    <a:pt x="50800" y="397725"/>
                  </a:lnTo>
                  <a:lnTo>
                    <a:pt x="4381766" y="397725"/>
                  </a:lnTo>
                  <a:lnTo>
                    <a:pt x="4401491" y="393717"/>
                  </a:lnTo>
                  <a:lnTo>
                    <a:pt x="4417644" y="382803"/>
                  </a:lnTo>
                  <a:lnTo>
                    <a:pt x="4428558" y="366650"/>
                  </a:lnTo>
                  <a:lnTo>
                    <a:pt x="4432566" y="346925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E5F2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520309" y="1233373"/>
              <a:ext cx="0" cy="501015"/>
            </a:xfrm>
            <a:custGeom>
              <a:avLst/>
              <a:gdLst/>
              <a:ahLst/>
              <a:cxnLst/>
              <a:rect l="l" t="t" r="r" b="b"/>
              <a:pathLst>
                <a:path h="501014">
                  <a:moveTo>
                    <a:pt x="0" y="50093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520309" y="122067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520309" y="120797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520309" y="119527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81597" y="1418069"/>
              <a:ext cx="64757" cy="64757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81597" y="1628102"/>
              <a:ext cx="64757" cy="64757"/>
            </a:xfrm>
            <a:prstGeom prst="rect">
              <a:avLst/>
            </a:prstGeom>
          </p:spPr>
        </p:pic>
      </p:grpSp>
      <p:grpSp>
        <p:nvGrpSpPr>
          <p:cNvPr id="27" name="object 27"/>
          <p:cNvGrpSpPr/>
          <p:nvPr/>
        </p:nvGrpSpPr>
        <p:grpSpPr>
          <a:xfrm>
            <a:off x="87743" y="1891460"/>
            <a:ext cx="4483735" cy="1431925"/>
            <a:chOff x="87743" y="1880031"/>
            <a:chExt cx="4483735" cy="1431925"/>
          </a:xfrm>
        </p:grpSpPr>
        <p:sp>
          <p:nvSpPr>
            <p:cNvPr id="28" name="object 28"/>
            <p:cNvSpPr/>
            <p:nvPr/>
          </p:nvSpPr>
          <p:spPr>
            <a:xfrm>
              <a:off x="87743" y="1880031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6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799"/>
                  </a:lnTo>
                  <a:lnTo>
                    <a:pt x="0" y="185673"/>
                  </a:lnTo>
                  <a:lnTo>
                    <a:pt x="4432566" y="185673"/>
                  </a:lnTo>
                  <a:lnTo>
                    <a:pt x="4432566" y="50799"/>
                  </a:lnTo>
                  <a:lnTo>
                    <a:pt x="4428558" y="31075"/>
                  </a:lnTo>
                  <a:lnTo>
                    <a:pt x="4417644" y="14922"/>
                  </a:lnTo>
                  <a:lnTo>
                    <a:pt x="4401491" y="4008"/>
                  </a:lnTo>
                  <a:lnTo>
                    <a:pt x="4381766" y="0"/>
                  </a:lnTo>
                  <a:close/>
                </a:path>
              </a:pathLst>
            </a:custGeom>
            <a:solidFill>
              <a:srgbClr val="FF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7744" y="2053044"/>
              <a:ext cx="4432566" cy="50609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38544" y="3209963"/>
              <a:ext cx="101599" cy="101599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89344" y="3197263"/>
              <a:ext cx="4381715" cy="114300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520311" y="1924266"/>
              <a:ext cx="50749" cy="1285697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87743" y="2097316"/>
              <a:ext cx="4432935" cy="1163955"/>
            </a:xfrm>
            <a:custGeom>
              <a:avLst/>
              <a:gdLst/>
              <a:ahLst/>
              <a:cxnLst/>
              <a:rect l="l" t="t" r="r" b="b"/>
              <a:pathLst>
                <a:path w="4432935" h="1163954">
                  <a:moveTo>
                    <a:pt x="4432566" y="0"/>
                  </a:moveTo>
                  <a:lnTo>
                    <a:pt x="0" y="0"/>
                  </a:lnTo>
                  <a:lnTo>
                    <a:pt x="0" y="1112647"/>
                  </a:lnTo>
                  <a:lnTo>
                    <a:pt x="4008" y="1132371"/>
                  </a:lnTo>
                  <a:lnTo>
                    <a:pt x="14922" y="1148524"/>
                  </a:lnTo>
                  <a:lnTo>
                    <a:pt x="31075" y="1159438"/>
                  </a:lnTo>
                  <a:lnTo>
                    <a:pt x="50800" y="1163447"/>
                  </a:lnTo>
                  <a:lnTo>
                    <a:pt x="4381766" y="1163447"/>
                  </a:lnTo>
                  <a:lnTo>
                    <a:pt x="4401491" y="1159438"/>
                  </a:lnTo>
                  <a:lnTo>
                    <a:pt x="4417644" y="1148524"/>
                  </a:lnTo>
                  <a:lnTo>
                    <a:pt x="4428558" y="1132371"/>
                  </a:lnTo>
                  <a:lnTo>
                    <a:pt x="4432566" y="1112647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FFE5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4520309" y="1962353"/>
              <a:ext cx="0" cy="1266825"/>
            </a:xfrm>
            <a:custGeom>
              <a:avLst/>
              <a:gdLst/>
              <a:ahLst/>
              <a:cxnLst/>
              <a:rect l="l" t="t" r="r" b="b"/>
              <a:pathLst>
                <a:path h="1266825">
                  <a:moveTo>
                    <a:pt x="0" y="126665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4520309" y="194965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520309" y="193695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4520309" y="192425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81597" y="2529167"/>
              <a:ext cx="64757" cy="64757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81597" y="2739199"/>
              <a:ext cx="64757" cy="64757"/>
            </a:xfrm>
            <a:prstGeom prst="rect">
              <a:avLst/>
            </a:prstGeom>
          </p:spPr>
        </p:pic>
      </p:grpSp>
      <p:sp>
        <p:nvSpPr>
          <p:cNvPr id="40" name="object 40"/>
          <p:cNvSpPr txBox="1"/>
          <p:nvPr/>
        </p:nvSpPr>
        <p:spPr>
          <a:xfrm>
            <a:off x="125844" y="383887"/>
            <a:ext cx="4199255" cy="2842895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100" i="1" spc="-10" dirty="0">
                <a:solidFill>
                  <a:srgbClr val="3333B2"/>
                </a:solidFill>
                <a:latin typeface="Cambria"/>
                <a:cs typeface="Cambria"/>
              </a:rPr>
              <a:t>Definition</a:t>
            </a:r>
            <a:endParaRPr sz="1100">
              <a:latin typeface="Cambria"/>
              <a:cs typeface="Cambria"/>
            </a:endParaRPr>
          </a:p>
          <a:p>
            <a:pPr marL="12700" marR="27305">
              <a:lnSpc>
                <a:spcPct val="118900"/>
              </a:lnSpc>
              <a:spcBef>
                <a:spcPts val="209"/>
              </a:spcBef>
            </a:pPr>
            <a:r>
              <a:rPr sz="950" b="1" dirty="0">
                <a:latin typeface="Trebuchet MS"/>
                <a:cs typeface="Trebuchet MS"/>
              </a:rPr>
              <a:t>Homonymy</a:t>
            </a:r>
            <a:r>
              <a:rPr sz="950" b="1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is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defined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spc="70" dirty="0">
                <a:latin typeface="Trebuchet MS"/>
                <a:cs typeface="Trebuchet MS"/>
              </a:rPr>
              <a:t>as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relation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spc="-30" dirty="0">
                <a:latin typeface="Trebuchet MS"/>
                <a:cs typeface="Trebuchet MS"/>
              </a:rPr>
              <a:t>that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holds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between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words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spc="-30" dirty="0">
                <a:latin typeface="Trebuchet MS"/>
                <a:cs typeface="Trebuchet MS"/>
              </a:rPr>
              <a:t>that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have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the </a:t>
            </a:r>
            <a:r>
              <a:rPr sz="950" dirty="0">
                <a:latin typeface="Trebuchet MS"/>
                <a:cs typeface="Trebuchet MS"/>
              </a:rPr>
              <a:t>same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form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spc="-40" dirty="0">
                <a:latin typeface="Trebuchet MS"/>
                <a:cs typeface="Trebuchet MS"/>
              </a:rPr>
              <a:t>with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unrelated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meanings.</a:t>
            </a:r>
            <a:endParaRPr sz="9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10"/>
              </a:spcBef>
            </a:pPr>
            <a:endParaRPr sz="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100" i="1" spc="-10" dirty="0">
                <a:solidFill>
                  <a:srgbClr val="007F00"/>
                </a:solidFill>
                <a:latin typeface="Cambria"/>
                <a:cs typeface="Cambria"/>
              </a:rPr>
              <a:t>Examples</a:t>
            </a:r>
            <a:endParaRPr sz="1100">
              <a:latin typeface="Cambria"/>
              <a:cs typeface="Cambria"/>
            </a:endParaRPr>
          </a:p>
          <a:p>
            <a:pPr marL="289560" marR="741045">
              <a:lnSpc>
                <a:spcPts val="1650"/>
              </a:lnSpc>
              <a:spcBef>
                <a:spcPts val="55"/>
              </a:spcBef>
            </a:pPr>
            <a:r>
              <a:rPr sz="950" dirty="0">
                <a:latin typeface="Trebuchet MS"/>
                <a:cs typeface="Trebuchet MS"/>
              </a:rPr>
              <a:t>Bat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(wooden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stick-</a:t>
            </a:r>
            <a:r>
              <a:rPr sz="950" dirty="0">
                <a:latin typeface="Trebuchet MS"/>
                <a:cs typeface="Trebuchet MS"/>
              </a:rPr>
              <a:t>like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thing)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spc="60" dirty="0">
                <a:latin typeface="Trebuchet MS"/>
                <a:cs typeface="Trebuchet MS"/>
              </a:rPr>
              <a:t>vs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Bat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(flying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mammal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thing) </a:t>
            </a:r>
            <a:r>
              <a:rPr sz="950" dirty="0">
                <a:latin typeface="Trebuchet MS"/>
                <a:cs typeface="Trebuchet MS"/>
              </a:rPr>
              <a:t>Bank</a:t>
            </a:r>
            <a:r>
              <a:rPr sz="950" spc="7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(financial</a:t>
            </a:r>
            <a:r>
              <a:rPr sz="950" spc="75" dirty="0">
                <a:latin typeface="Trebuchet MS"/>
                <a:cs typeface="Trebuchet MS"/>
              </a:rPr>
              <a:t> </a:t>
            </a:r>
            <a:r>
              <a:rPr sz="950" spc="-30" dirty="0">
                <a:latin typeface="Trebuchet MS"/>
                <a:cs typeface="Trebuchet MS"/>
              </a:rPr>
              <a:t>institution)</a:t>
            </a:r>
            <a:r>
              <a:rPr sz="950" spc="70" dirty="0">
                <a:latin typeface="Trebuchet MS"/>
                <a:cs typeface="Trebuchet MS"/>
              </a:rPr>
              <a:t> </a:t>
            </a:r>
            <a:r>
              <a:rPr sz="950" spc="60" dirty="0">
                <a:latin typeface="Trebuchet MS"/>
                <a:cs typeface="Trebuchet MS"/>
              </a:rPr>
              <a:t>vs</a:t>
            </a:r>
            <a:r>
              <a:rPr sz="950" spc="7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Bank</a:t>
            </a:r>
            <a:r>
              <a:rPr sz="950" spc="7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(riverside)</a:t>
            </a:r>
            <a:endParaRPr sz="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sz="1100" i="1" spc="-35" dirty="0">
                <a:solidFill>
                  <a:srgbClr val="FF0000"/>
                </a:solidFill>
                <a:latin typeface="Cambria"/>
                <a:cs typeface="Cambria"/>
              </a:rPr>
              <a:t>homophones</a:t>
            </a:r>
            <a:r>
              <a:rPr sz="1100" i="1" spc="-10" dirty="0">
                <a:solidFill>
                  <a:srgbClr val="FF0000"/>
                </a:solidFill>
                <a:latin typeface="Cambria"/>
                <a:cs typeface="Cambria"/>
              </a:rPr>
              <a:t> and</a:t>
            </a:r>
            <a:r>
              <a:rPr sz="1100" i="1" spc="-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100" i="1" spc="-10" dirty="0">
                <a:solidFill>
                  <a:srgbClr val="FF0000"/>
                </a:solidFill>
                <a:latin typeface="Cambria"/>
                <a:cs typeface="Cambria"/>
              </a:rPr>
              <a:t>homographs</a:t>
            </a:r>
            <a:endParaRPr sz="1100">
              <a:latin typeface="Cambria"/>
              <a:cs typeface="Cambria"/>
            </a:endParaRPr>
          </a:p>
          <a:p>
            <a:pPr marL="12700" marR="334010">
              <a:lnSpc>
                <a:spcPct val="118900"/>
              </a:lnSpc>
              <a:spcBef>
                <a:spcPts val="209"/>
              </a:spcBef>
            </a:pPr>
            <a:r>
              <a:rPr sz="950" b="1" spc="50" dirty="0">
                <a:latin typeface="Trebuchet MS"/>
                <a:cs typeface="Trebuchet MS"/>
              </a:rPr>
              <a:t>homophones</a:t>
            </a:r>
            <a:r>
              <a:rPr sz="950" b="1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are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words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40" dirty="0">
                <a:latin typeface="Trebuchet MS"/>
                <a:cs typeface="Trebuchet MS"/>
              </a:rPr>
              <a:t>with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same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pronunciation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but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30" dirty="0">
                <a:latin typeface="Trebuchet MS"/>
                <a:cs typeface="Trebuchet MS"/>
              </a:rPr>
              <a:t>different </a:t>
            </a:r>
            <a:r>
              <a:rPr sz="950" spc="-10" dirty="0">
                <a:latin typeface="Trebuchet MS"/>
                <a:cs typeface="Trebuchet MS"/>
              </a:rPr>
              <a:t>spellings.</a:t>
            </a:r>
            <a:endParaRPr sz="950">
              <a:latin typeface="Trebuchet MS"/>
              <a:cs typeface="Trebuchet MS"/>
            </a:endParaRPr>
          </a:p>
          <a:p>
            <a:pPr marL="289560" marR="3069590">
              <a:lnSpc>
                <a:spcPct val="145100"/>
              </a:lnSpc>
            </a:pPr>
            <a:r>
              <a:rPr sz="950" spc="-30" dirty="0">
                <a:latin typeface="Trebuchet MS"/>
                <a:cs typeface="Trebuchet MS"/>
              </a:rPr>
              <a:t>write</a:t>
            </a:r>
            <a:r>
              <a:rPr sz="950" spc="-25" dirty="0">
                <a:latin typeface="Trebuchet MS"/>
                <a:cs typeface="Trebuchet MS"/>
              </a:rPr>
              <a:t> </a:t>
            </a:r>
            <a:r>
              <a:rPr sz="950" spc="60" dirty="0">
                <a:latin typeface="Trebuchet MS"/>
                <a:cs typeface="Trebuchet MS"/>
              </a:rPr>
              <a:t>vs</a:t>
            </a:r>
            <a:r>
              <a:rPr sz="950" spc="-2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right </a:t>
            </a:r>
            <a:r>
              <a:rPr sz="950" dirty="0">
                <a:latin typeface="Trebuchet MS"/>
                <a:cs typeface="Trebuchet MS"/>
              </a:rPr>
              <a:t>piece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60" dirty="0">
                <a:latin typeface="Trebuchet MS"/>
                <a:cs typeface="Trebuchet MS"/>
              </a:rPr>
              <a:t>vs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peace</a:t>
            </a:r>
            <a:endParaRPr sz="950">
              <a:latin typeface="Trebuchet MS"/>
              <a:cs typeface="Trebuchet MS"/>
            </a:endParaRPr>
          </a:p>
          <a:p>
            <a:pPr marL="12700" marR="5080">
              <a:lnSpc>
                <a:spcPct val="118900"/>
              </a:lnSpc>
              <a:spcBef>
                <a:spcPts val="295"/>
              </a:spcBef>
            </a:pPr>
            <a:r>
              <a:rPr sz="950" b="1" spc="55" dirty="0">
                <a:latin typeface="Trebuchet MS"/>
                <a:cs typeface="Trebuchet MS"/>
              </a:rPr>
              <a:t>homographs</a:t>
            </a:r>
            <a:r>
              <a:rPr sz="950" b="1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are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lexemes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40" dirty="0">
                <a:latin typeface="Trebuchet MS"/>
                <a:cs typeface="Trebuchet MS"/>
              </a:rPr>
              <a:t>with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same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orthographic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form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but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spc="-30" dirty="0">
                <a:latin typeface="Trebuchet MS"/>
                <a:cs typeface="Trebuchet MS"/>
              </a:rPr>
              <a:t>different </a:t>
            </a:r>
            <a:r>
              <a:rPr sz="950" dirty="0">
                <a:latin typeface="Trebuchet MS"/>
                <a:cs typeface="Trebuchet MS"/>
              </a:rPr>
              <a:t>meaning.</a:t>
            </a:r>
            <a:r>
              <a:rPr sz="950" spc="1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Ex:</a:t>
            </a:r>
            <a:r>
              <a:rPr sz="950" spc="130" dirty="0">
                <a:latin typeface="Trebuchet MS"/>
                <a:cs typeface="Trebuchet MS"/>
              </a:rPr>
              <a:t> </a:t>
            </a:r>
            <a:r>
              <a:rPr sz="950" spc="45" dirty="0">
                <a:latin typeface="Trebuchet MS"/>
                <a:cs typeface="Trebuchet MS"/>
              </a:rPr>
              <a:t>bass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46" name="object 4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20" dirty="0"/>
              <a:t>Pawan</a:t>
            </a:r>
            <a:r>
              <a:rPr spc="15" dirty="0"/>
              <a:t> </a:t>
            </a:r>
            <a:r>
              <a:rPr dirty="0"/>
              <a:t>Goyal</a:t>
            </a:r>
            <a:r>
              <a:rPr spc="170" dirty="0"/>
              <a:t> </a:t>
            </a:r>
            <a:r>
              <a:rPr dirty="0"/>
              <a:t>(IIT</a:t>
            </a:r>
            <a:r>
              <a:rPr spc="15" dirty="0"/>
              <a:t> </a:t>
            </a:r>
            <a:r>
              <a:rPr spc="-10" dirty="0"/>
              <a:t>Kharagpur)</a:t>
            </a:r>
          </a:p>
        </p:txBody>
      </p:sp>
      <p:sp>
        <p:nvSpPr>
          <p:cNvPr id="48" name="object 48"/>
          <p:cNvSpPr txBox="1"/>
          <p:nvPr/>
        </p:nvSpPr>
        <p:spPr>
          <a:xfrm>
            <a:off x="364622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1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4355386" y="3339672"/>
            <a:ext cx="1987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6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18</a:t>
            </a:r>
            <a:endParaRPr sz="600">
              <a:latin typeface="Cambria"/>
              <a:cs typeface="Cambria"/>
            </a:endParaRPr>
          </a:p>
        </p:txBody>
      </p:sp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Problems</a:t>
            </a:r>
            <a:r>
              <a:rPr spc="30" dirty="0"/>
              <a:t> </a:t>
            </a:r>
            <a:r>
              <a:rPr dirty="0"/>
              <a:t>for</a:t>
            </a:r>
            <a:r>
              <a:rPr spc="35" dirty="0"/>
              <a:t> </a:t>
            </a:r>
            <a:r>
              <a:rPr spc="55" dirty="0"/>
              <a:t>NLP</a:t>
            </a:r>
            <a:r>
              <a:rPr spc="30" dirty="0"/>
              <a:t> </a:t>
            </a:r>
            <a:r>
              <a:rPr spc="-10" dirty="0"/>
              <a:t>applications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913955"/>
            <a:ext cx="4483735" cy="457834"/>
            <a:chOff x="87743" y="913955"/>
            <a:chExt cx="4483735" cy="457834"/>
          </a:xfrm>
        </p:grpSpPr>
        <p:sp>
          <p:nvSpPr>
            <p:cNvPr id="4" name="object 4"/>
            <p:cNvSpPr/>
            <p:nvPr/>
          </p:nvSpPr>
          <p:spPr>
            <a:xfrm>
              <a:off x="87743" y="913955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6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66" y="185674"/>
                  </a:lnTo>
                  <a:lnTo>
                    <a:pt x="4432566" y="50800"/>
                  </a:lnTo>
                  <a:lnTo>
                    <a:pt x="4428558" y="31075"/>
                  </a:lnTo>
                  <a:lnTo>
                    <a:pt x="4417644" y="14922"/>
                  </a:lnTo>
                  <a:lnTo>
                    <a:pt x="4401491" y="4008"/>
                  </a:lnTo>
                  <a:lnTo>
                    <a:pt x="4381766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1086967"/>
              <a:ext cx="4432566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1269631"/>
              <a:ext cx="101599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1256931"/>
              <a:ext cx="4381715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311" y="958189"/>
              <a:ext cx="50749" cy="31144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1131252"/>
              <a:ext cx="4432935" cy="189230"/>
            </a:xfrm>
            <a:custGeom>
              <a:avLst/>
              <a:gdLst/>
              <a:ahLst/>
              <a:cxnLst/>
              <a:rect l="l" t="t" r="r" b="b"/>
              <a:pathLst>
                <a:path w="4432935" h="189230">
                  <a:moveTo>
                    <a:pt x="4432566" y="0"/>
                  </a:moveTo>
                  <a:lnTo>
                    <a:pt x="0" y="0"/>
                  </a:lnTo>
                  <a:lnTo>
                    <a:pt x="0" y="138379"/>
                  </a:lnTo>
                  <a:lnTo>
                    <a:pt x="4008" y="158103"/>
                  </a:lnTo>
                  <a:lnTo>
                    <a:pt x="14922" y="174256"/>
                  </a:lnTo>
                  <a:lnTo>
                    <a:pt x="31075" y="185170"/>
                  </a:lnTo>
                  <a:lnTo>
                    <a:pt x="50800" y="189179"/>
                  </a:lnTo>
                  <a:lnTo>
                    <a:pt x="4381766" y="189179"/>
                  </a:lnTo>
                  <a:lnTo>
                    <a:pt x="4401491" y="185170"/>
                  </a:lnTo>
                  <a:lnTo>
                    <a:pt x="4417644" y="174256"/>
                  </a:lnTo>
                  <a:lnTo>
                    <a:pt x="4428558" y="158103"/>
                  </a:lnTo>
                  <a:lnTo>
                    <a:pt x="4432566" y="138379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09" y="996276"/>
              <a:ext cx="0" cy="292735"/>
            </a:xfrm>
            <a:custGeom>
              <a:avLst/>
              <a:gdLst/>
              <a:ahLst/>
              <a:cxnLst/>
              <a:rect l="l" t="t" r="r" b="b"/>
              <a:pathLst>
                <a:path h="292734">
                  <a:moveTo>
                    <a:pt x="0" y="292404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09" y="98357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09" y="97087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09" y="95817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87743" y="1472361"/>
            <a:ext cx="4483735" cy="457834"/>
            <a:chOff x="87743" y="1472361"/>
            <a:chExt cx="4483735" cy="457834"/>
          </a:xfrm>
        </p:grpSpPr>
        <p:sp>
          <p:nvSpPr>
            <p:cNvPr id="15" name="object 15"/>
            <p:cNvSpPr/>
            <p:nvPr/>
          </p:nvSpPr>
          <p:spPr>
            <a:xfrm>
              <a:off x="87743" y="1472361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6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66" y="185674"/>
                  </a:lnTo>
                  <a:lnTo>
                    <a:pt x="4432566" y="50800"/>
                  </a:lnTo>
                  <a:lnTo>
                    <a:pt x="4428558" y="31075"/>
                  </a:lnTo>
                  <a:lnTo>
                    <a:pt x="4417644" y="14922"/>
                  </a:lnTo>
                  <a:lnTo>
                    <a:pt x="4401491" y="4008"/>
                  </a:lnTo>
                  <a:lnTo>
                    <a:pt x="4381766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1645373"/>
              <a:ext cx="4432566" cy="50609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8544" y="1828050"/>
              <a:ext cx="101599" cy="10160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89344" y="1815350"/>
              <a:ext cx="4381715" cy="11430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520311" y="1516595"/>
              <a:ext cx="50749" cy="311454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87743" y="1689671"/>
              <a:ext cx="4432935" cy="189230"/>
            </a:xfrm>
            <a:custGeom>
              <a:avLst/>
              <a:gdLst/>
              <a:ahLst/>
              <a:cxnLst/>
              <a:rect l="l" t="t" r="r" b="b"/>
              <a:pathLst>
                <a:path w="4432935" h="189230">
                  <a:moveTo>
                    <a:pt x="4432566" y="0"/>
                  </a:moveTo>
                  <a:lnTo>
                    <a:pt x="0" y="0"/>
                  </a:lnTo>
                  <a:lnTo>
                    <a:pt x="0" y="138379"/>
                  </a:lnTo>
                  <a:lnTo>
                    <a:pt x="4008" y="158103"/>
                  </a:lnTo>
                  <a:lnTo>
                    <a:pt x="14922" y="174256"/>
                  </a:lnTo>
                  <a:lnTo>
                    <a:pt x="31075" y="185170"/>
                  </a:lnTo>
                  <a:lnTo>
                    <a:pt x="50800" y="189179"/>
                  </a:lnTo>
                  <a:lnTo>
                    <a:pt x="4381766" y="189179"/>
                  </a:lnTo>
                  <a:lnTo>
                    <a:pt x="4401491" y="185170"/>
                  </a:lnTo>
                  <a:lnTo>
                    <a:pt x="4417644" y="174256"/>
                  </a:lnTo>
                  <a:lnTo>
                    <a:pt x="4428558" y="158103"/>
                  </a:lnTo>
                  <a:lnTo>
                    <a:pt x="4432566" y="138379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520309" y="1554695"/>
              <a:ext cx="0" cy="292735"/>
            </a:xfrm>
            <a:custGeom>
              <a:avLst/>
              <a:gdLst/>
              <a:ahLst/>
              <a:cxnLst/>
              <a:rect l="l" t="t" r="r" b="b"/>
              <a:pathLst>
                <a:path h="292735">
                  <a:moveTo>
                    <a:pt x="0" y="292404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520309" y="1541998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520309" y="1529298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520309" y="1516598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5" name="object 25"/>
          <p:cNvGrpSpPr/>
          <p:nvPr/>
        </p:nvGrpSpPr>
        <p:grpSpPr>
          <a:xfrm>
            <a:off x="87743" y="2030768"/>
            <a:ext cx="4483735" cy="621030"/>
            <a:chOff x="87743" y="2030768"/>
            <a:chExt cx="4483735" cy="621030"/>
          </a:xfrm>
        </p:grpSpPr>
        <p:sp>
          <p:nvSpPr>
            <p:cNvPr id="26" name="object 26"/>
            <p:cNvSpPr/>
            <p:nvPr/>
          </p:nvSpPr>
          <p:spPr>
            <a:xfrm>
              <a:off x="87743" y="2030768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6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66" y="185674"/>
                  </a:lnTo>
                  <a:lnTo>
                    <a:pt x="4432566" y="50800"/>
                  </a:lnTo>
                  <a:lnTo>
                    <a:pt x="4428558" y="31075"/>
                  </a:lnTo>
                  <a:lnTo>
                    <a:pt x="4417644" y="14922"/>
                  </a:lnTo>
                  <a:lnTo>
                    <a:pt x="4401491" y="4008"/>
                  </a:lnTo>
                  <a:lnTo>
                    <a:pt x="4381766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7744" y="2203792"/>
              <a:ext cx="4432566" cy="50609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38544" y="2549931"/>
              <a:ext cx="101599" cy="101599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89344" y="2537231"/>
              <a:ext cx="4381715" cy="114300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520311" y="2075014"/>
              <a:ext cx="50749" cy="474916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87743" y="2248077"/>
              <a:ext cx="4432935" cy="353060"/>
            </a:xfrm>
            <a:custGeom>
              <a:avLst/>
              <a:gdLst/>
              <a:ahLst/>
              <a:cxnLst/>
              <a:rect l="l" t="t" r="r" b="b"/>
              <a:pathLst>
                <a:path w="4432935" h="353060">
                  <a:moveTo>
                    <a:pt x="4432566" y="0"/>
                  </a:moveTo>
                  <a:lnTo>
                    <a:pt x="0" y="0"/>
                  </a:lnTo>
                  <a:lnTo>
                    <a:pt x="0" y="301853"/>
                  </a:lnTo>
                  <a:lnTo>
                    <a:pt x="4008" y="321578"/>
                  </a:lnTo>
                  <a:lnTo>
                    <a:pt x="14922" y="337731"/>
                  </a:lnTo>
                  <a:lnTo>
                    <a:pt x="31075" y="348645"/>
                  </a:lnTo>
                  <a:lnTo>
                    <a:pt x="50800" y="352653"/>
                  </a:lnTo>
                  <a:lnTo>
                    <a:pt x="4381766" y="352653"/>
                  </a:lnTo>
                  <a:lnTo>
                    <a:pt x="4401491" y="348645"/>
                  </a:lnTo>
                  <a:lnTo>
                    <a:pt x="4417644" y="337731"/>
                  </a:lnTo>
                  <a:lnTo>
                    <a:pt x="4428558" y="321578"/>
                  </a:lnTo>
                  <a:lnTo>
                    <a:pt x="4432566" y="301853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4520309" y="2113102"/>
              <a:ext cx="0" cy="455930"/>
            </a:xfrm>
            <a:custGeom>
              <a:avLst/>
              <a:gdLst/>
              <a:ahLst/>
              <a:cxnLst/>
              <a:rect l="l" t="t" r="r" b="b"/>
              <a:pathLst>
                <a:path h="455930">
                  <a:moveTo>
                    <a:pt x="0" y="45587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4520309" y="2100408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4520309" y="2087708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4520309" y="2075008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125844" y="839308"/>
            <a:ext cx="3070225" cy="1728470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100" i="1" spc="-50" dirty="0">
                <a:solidFill>
                  <a:srgbClr val="3333B2"/>
                </a:solidFill>
                <a:latin typeface="Cambria"/>
                <a:cs typeface="Cambria"/>
              </a:rPr>
              <a:t>Text-</a:t>
            </a:r>
            <a:r>
              <a:rPr sz="1100" i="1" spc="-25" dirty="0">
                <a:solidFill>
                  <a:srgbClr val="3333B2"/>
                </a:solidFill>
                <a:latin typeface="Cambria"/>
                <a:cs typeface="Cambria"/>
              </a:rPr>
              <a:t>to-</a:t>
            </a:r>
            <a:r>
              <a:rPr sz="1100" i="1" spc="-10" dirty="0">
                <a:solidFill>
                  <a:srgbClr val="3333B2"/>
                </a:solidFill>
                <a:latin typeface="Cambria"/>
                <a:cs typeface="Cambria"/>
              </a:rPr>
              <a:t>Speech</a:t>
            </a: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950" spc="70" dirty="0">
                <a:latin typeface="Trebuchet MS"/>
                <a:cs typeface="Trebuchet MS"/>
              </a:rPr>
              <a:t>Same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orthographic </a:t>
            </a:r>
            <a:r>
              <a:rPr sz="950" spc="-10" dirty="0">
                <a:latin typeface="Trebuchet MS"/>
                <a:cs typeface="Trebuchet MS"/>
              </a:rPr>
              <a:t>form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but</a:t>
            </a:r>
            <a:r>
              <a:rPr sz="950" dirty="0">
                <a:latin typeface="Trebuchet MS"/>
                <a:cs typeface="Trebuchet MS"/>
              </a:rPr>
              <a:t> </a:t>
            </a:r>
            <a:r>
              <a:rPr sz="950" spc="-35" dirty="0">
                <a:latin typeface="Trebuchet MS"/>
                <a:cs typeface="Trebuchet MS"/>
              </a:rPr>
              <a:t>different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phonological </a:t>
            </a:r>
            <a:r>
              <a:rPr sz="950" spc="-20" dirty="0">
                <a:latin typeface="Trebuchet MS"/>
                <a:cs typeface="Trebuchet MS"/>
              </a:rPr>
              <a:t>form</a:t>
            </a:r>
            <a:endParaRPr sz="9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09"/>
              </a:spcBef>
            </a:pPr>
            <a:endParaRPr sz="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100" i="1" spc="-35" dirty="0">
                <a:solidFill>
                  <a:srgbClr val="3333B2"/>
                </a:solidFill>
                <a:latin typeface="Cambria"/>
                <a:cs typeface="Cambria"/>
              </a:rPr>
              <a:t>Information</a:t>
            </a:r>
            <a:r>
              <a:rPr sz="1100" i="1" spc="25" dirty="0">
                <a:solidFill>
                  <a:srgbClr val="3333B2"/>
                </a:solidFill>
                <a:latin typeface="Cambria"/>
                <a:cs typeface="Cambria"/>
              </a:rPr>
              <a:t> </a:t>
            </a:r>
            <a:r>
              <a:rPr sz="1100" i="1" spc="-10" dirty="0">
                <a:solidFill>
                  <a:srgbClr val="3333B2"/>
                </a:solidFill>
                <a:latin typeface="Cambria"/>
                <a:cs typeface="Cambria"/>
              </a:rPr>
              <a:t>Retrieval</a:t>
            </a: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sz="950" spc="-25" dirty="0">
                <a:latin typeface="Trebuchet MS"/>
                <a:cs typeface="Trebuchet MS"/>
              </a:rPr>
              <a:t>Different</a:t>
            </a:r>
            <a:r>
              <a:rPr sz="950" spc="5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meaning</a:t>
            </a:r>
            <a:r>
              <a:rPr sz="950" spc="5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but</a:t>
            </a:r>
            <a:r>
              <a:rPr sz="950" spc="5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same</a:t>
            </a:r>
            <a:r>
              <a:rPr sz="950" spc="5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orthographic</a:t>
            </a:r>
            <a:r>
              <a:rPr sz="950" spc="5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form</a:t>
            </a:r>
            <a:endParaRPr sz="9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15"/>
              </a:spcBef>
            </a:pPr>
            <a:endParaRPr sz="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100" i="1" spc="-10" dirty="0">
                <a:solidFill>
                  <a:srgbClr val="3333B2"/>
                </a:solidFill>
                <a:latin typeface="Cambria"/>
                <a:cs typeface="Cambria"/>
              </a:rPr>
              <a:t>Speech</a:t>
            </a:r>
            <a:r>
              <a:rPr sz="1100" i="1" spc="-30" dirty="0">
                <a:solidFill>
                  <a:srgbClr val="3333B2"/>
                </a:solidFill>
                <a:latin typeface="Cambria"/>
                <a:cs typeface="Cambria"/>
              </a:rPr>
              <a:t> </a:t>
            </a:r>
            <a:r>
              <a:rPr sz="1100" i="1" spc="-10" dirty="0">
                <a:solidFill>
                  <a:srgbClr val="3333B2"/>
                </a:solidFill>
                <a:latin typeface="Cambria"/>
                <a:cs typeface="Cambria"/>
              </a:rPr>
              <a:t>Recognition</a:t>
            </a: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365"/>
              </a:spcBef>
            </a:pPr>
            <a:r>
              <a:rPr sz="950" spc="-65" dirty="0">
                <a:latin typeface="Trebuchet MS"/>
                <a:cs typeface="Trebuchet MS"/>
              </a:rPr>
              <a:t>to,</a:t>
            </a:r>
            <a:r>
              <a:rPr sz="950" spc="-20" dirty="0">
                <a:latin typeface="Trebuchet MS"/>
                <a:cs typeface="Trebuchet MS"/>
              </a:rPr>
              <a:t> </a:t>
            </a:r>
            <a:r>
              <a:rPr sz="950" spc="-55" dirty="0">
                <a:latin typeface="Trebuchet MS"/>
                <a:cs typeface="Trebuchet MS"/>
              </a:rPr>
              <a:t>two,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too</a:t>
            </a:r>
            <a:endParaRPr sz="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950" i="1" spc="-20" dirty="0">
                <a:latin typeface="Trebuchet MS"/>
                <a:cs typeface="Trebuchet MS"/>
              </a:rPr>
              <a:t>Perfect</a:t>
            </a:r>
            <a:r>
              <a:rPr sz="950" i="1" spc="65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homonyms</a:t>
            </a:r>
            <a:r>
              <a:rPr sz="950" i="1" spc="70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are</a:t>
            </a:r>
            <a:r>
              <a:rPr sz="950" i="1" spc="70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also</a:t>
            </a:r>
            <a:r>
              <a:rPr sz="950" i="1" spc="65" dirty="0">
                <a:latin typeface="Trebuchet MS"/>
                <a:cs typeface="Trebuchet MS"/>
              </a:rPr>
              <a:t> </a:t>
            </a:r>
            <a:r>
              <a:rPr sz="950" i="1" spc="-10" dirty="0">
                <a:latin typeface="Trebuchet MS"/>
                <a:cs typeface="Trebuchet MS"/>
              </a:rPr>
              <a:t>problematic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42" name="object 4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20" dirty="0"/>
              <a:t>Pawan</a:t>
            </a:r>
            <a:r>
              <a:rPr spc="15" dirty="0"/>
              <a:t> </a:t>
            </a:r>
            <a:r>
              <a:rPr dirty="0"/>
              <a:t>Goyal</a:t>
            </a:r>
            <a:r>
              <a:rPr spc="170" dirty="0"/>
              <a:t> </a:t>
            </a:r>
            <a:r>
              <a:rPr dirty="0"/>
              <a:t>(IIT</a:t>
            </a:r>
            <a:r>
              <a:rPr spc="15" dirty="0"/>
              <a:t> </a:t>
            </a:r>
            <a:r>
              <a:rPr spc="-10" dirty="0"/>
              <a:t>Kharagpur)</a:t>
            </a:r>
          </a:p>
        </p:txBody>
      </p:sp>
      <p:sp>
        <p:nvSpPr>
          <p:cNvPr id="44" name="object 44"/>
          <p:cNvSpPr txBox="1"/>
          <p:nvPr/>
        </p:nvSpPr>
        <p:spPr>
          <a:xfrm>
            <a:off x="364622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1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4355386" y="3339672"/>
            <a:ext cx="1987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7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18</a:t>
            </a:r>
            <a:endParaRPr sz="600">
              <a:latin typeface="Cambria"/>
              <a:cs typeface="Cambria"/>
            </a:endParaRPr>
          </a:p>
        </p:txBody>
      </p:sp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Polysemy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741819"/>
            <a:ext cx="4483735" cy="667385"/>
            <a:chOff x="87743" y="741819"/>
            <a:chExt cx="4483735" cy="667385"/>
          </a:xfrm>
        </p:grpSpPr>
        <p:sp>
          <p:nvSpPr>
            <p:cNvPr id="4" name="object 4"/>
            <p:cNvSpPr/>
            <p:nvPr/>
          </p:nvSpPr>
          <p:spPr>
            <a:xfrm>
              <a:off x="87743" y="741819"/>
              <a:ext cx="4432935" cy="187325"/>
            </a:xfrm>
            <a:custGeom>
              <a:avLst/>
              <a:gdLst/>
              <a:ahLst/>
              <a:cxnLst/>
              <a:rect l="l" t="t" r="r" b="b"/>
              <a:pathLst>
                <a:path w="4432935" h="187325">
                  <a:moveTo>
                    <a:pt x="438176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6918"/>
                  </a:lnTo>
                  <a:lnTo>
                    <a:pt x="4432566" y="186918"/>
                  </a:lnTo>
                  <a:lnTo>
                    <a:pt x="4432566" y="50800"/>
                  </a:lnTo>
                  <a:lnTo>
                    <a:pt x="4428558" y="31075"/>
                  </a:lnTo>
                  <a:lnTo>
                    <a:pt x="4417644" y="14922"/>
                  </a:lnTo>
                  <a:lnTo>
                    <a:pt x="4401491" y="4008"/>
                  </a:lnTo>
                  <a:lnTo>
                    <a:pt x="4381766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916076"/>
              <a:ext cx="4432566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1307287"/>
              <a:ext cx="101599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1294587"/>
              <a:ext cx="4381715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311" y="786053"/>
              <a:ext cx="50749" cy="521233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960361"/>
              <a:ext cx="4432935" cy="398145"/>
            </a:xfrm>
            <a:custGeom>
              <a:avLst/>
              <a:gdLst/>
              <a:ahLst/>
              <a:cxnLst/>
              <a:rect l="l" t="t" r="r" b="b"/>
              <a:pathLst>
                <a:path w="4432935" h="398144">
                  <a:moveTo>
                    <a:pt x="4432566" y="0"/>
                  </a:moveTo>
                  <a:lnTo>
                    <a:pt x="0" y="0"/>
                  </a:lnTo>
                  <a:lnTo>
                    <a:pt x="0" y="346925"/>
                  </a:lnTo>
                  <a:lnTo>
                    <a:pt x="4008" y="366650"/>
                  </a:lnTo>
                  <a:lnTo>
                    <a:pt x="14922" y="382803"/>
                  </a:lnTo>
                  <a:lnTo>
                    <a:pt x="31075" y="393717"/>
                  </a:lnTo>
                  <a:lnTo>
                    <a:pt x="50800" y="397725"/>
                  </a:lnTo>
                  <a:lnTo>
                    <a:pt x="4381766" y="397725"/>
                  </a:lnTo>
                  <a:lnTo>
                    <a:pt x="4401491" y="393717"/>
                  </a:lnTo>
                  <a:lnTo>
                    <a:pt x="4417644" y="382803"/>
                  </a:lnTo>
                  <a:lnTo>
                    <a:pt x="4428558" y="366650"/>
                  </a:lnTo>
                  <a:lnTo>
                    <a:pt x="4432566" y="346925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09" y="824153"/>
              <a:ext cx="0" cy="502284"/>
            </a:xfrm>
            <a:custGeom>
              <a:avLst/>
              <a:gdLst/>
              <a:ahLst/>
              <a:cxnLst/>
              <a:rect l="l" t="t" r="r" b="b"/>
              <a:pathLst>
                <a:path h="502284">
                  <a:moveTo>
                    <a:pt x="0" y="50218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09" y="81145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09" y="79875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09" y="78605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1597" y="1010094"/>
              <a:ext cx="64757" cy="6475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1597" y="1220127"/>
              <a:ext cx="64757" cy="64757"/>
            </a:xfrm>
            <a:prstGeom prst="rect">
              <a:avLst/>
            </a:prstGeom>
          </p:spPr>
        </p:pic>
      </p:grpSp>
      <p:grpSp>
        <p:nvGrpSpPr>
          <p:cNvPr id="16" name="object 16"/>
          <p:cNvGrpSpPr/>
          <p:nvPr/>
        </p:nvGrpSpPr>
        <p:grpSpPr>
          <a:xfrm>
            <a:off x="87743" y="1510004"/>
            <a:ext cx="4483735" cy="633095"/>
            <a:chOff x="87743" y="1510004"/>
            <a:chExt cx="4483735" cy="633095"/>
          </a:xfrm>
        </p:grpSpPr>
        <p:sp>
          <p:nvSpPr>
            <p:cNvPr id="17" name="object 17"/>
            <p:cNvSpPr/>
            <p:nvPr/>
          </p:nvSpPr>
          <p:spPr>
            <a:xfrm>
              <a:off x="87743" y="1510004"/>
              <a:ext cx="4432935" cy="176530"/>
            </a:xfrm>
            <a:custGeom>
              <a:avLst/>
              <a:gdLst/>
              <a:ahLst/>
              <a:cxnLst/>
              <a:rect l="l" t="t" r="r" b="b"/>
              <a:pathLst>
                <a:path w="4432935" h="176530">
                  <a:moveTo>
                    <a:pt x="438176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76314"/>
                  </a:lnTo>
                  <a:lnTo>
                    <a:pt x="4432566" y="176314"/>
                  </a:lnTo>
                  <a:lnTo>
                    <a:pt x="4432566" y="50800"/>
                  </a:lnTo>
                  <a:lnTo>
                    <a:pt x="4428558" y="31075"/>
                  </a:lnTo>
                  <a:lnTo>
                    <a:pt x="4417644" y="14922"/>
                  </a:lnTo>
                  <a:lnTo>
                    <a:pt x="4401491" y="4008"/>
                  </a:lnTo>
                  <a:lnTo>
                    <a:pt x="4381766" y="0"/>
                  </a:lnTo>
                  <a:close/>
                </a:path>
              </a:pathLst>
            </a:custGeom>
            <a:solidFill>
              <a:srgbClr val="FF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7744" y="1673669"/>
              <a:ext cx="4432566" cy="50609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38544" y="2041182"/>
              <a:ext cx="101599" cy="10160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89344" y="2028482"/>
              <a:ext cx="4381715" cy="11430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520311" y="1554251"/>
              <a:ext cx="50749" cy="486930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87743" y="1717954"/>
              <a:ext cx="4432935" cy="374650"/>
            </a:xfrm>
            <a:custGeom>
              <a:avLst/>
              <a:gdLst/>
              <a:ahLst/>
              <a:cxnLst/>
              <a:rect l="l" t="t" r="r" b="b"/>
              <a:pathLst>
                <a:path w="4432935" h="374650">
                  <a:moveTo>
                    <a:pt x="4432566" y="0"/>
                  </a:moveTo>
                  <a:lnTo>
                    <a:pt x="0" y="0"/>
                  </a:lnTo>
                  <a:lnTo>
                    <a:pt x="0" y="323227"/>
                  </a:lnTo>
                  <a:lnTo>
                    <a:pt x="4008" y="342952"/>
                  </a:lnTo>
                  <a:lnTo>
                    <a:pt x="14922" y="359105"/>
                  </a:lnTo>
                  <a:lnTo>
                    <a:pt x="31075" y="370019"/>
                  </a:lnTo>
                  <a:lnTo>
                    <a:pt x="50800" y="374027"/>
                  </a:lnTo>
                  <a:lnTo>
                    <a:pt x="4381766" y="374027"/>
                  </a:lnTo>
                  <a:lnTo>
                    <a:pt x="4401491" y="370019"/>
                  </a:lnTo>
                  <a:lnTo>
                    <a:pt x="4417644" y="359105"/>
                  </a:lnTo>
                  <a:lnTo>
                    <a:pt x="4428558" y="342952"/>
                  </a:lnTo>
                  <a:lnTo>
                    <a:pt x="4432566" y="323227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FFE5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520309" y="1592338"/>
              <a:ext cx="0" cy="467995"/>
            </a:xfrm>
            <a:custGeom>
              <a:avLst/>
              <a:gdLst/>
              <a:ahLst/>
              <a:cxnLst/>
              <a:rect l="l" t="t" r="r" b="b"/>
              <a:pathLst>
                <a:path h="467994">
                  <a:moveTo>
                    <a:pt x="0" y="46789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520309" y="157963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520309" y="156693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520309" y="155423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81597" y="1767687"/>
              <a:ext cx="64757" cy="64757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81597" y="1977720"/>
              <a:ext cx="64757" cy="64757"/>
            </a:xfrm>
            <a:prstGeom prst="rect">
              <a:avLst/>
            </a:prstGeom>
          </p:spPr>
        </p:pic>
      </p:grpSp>
      <p:grpSp>
        <p:nvGrpSpPr>
          <p:cNvPr id="29" name="object 29"/>
          <p:cNvGrpSpPr/>
          <p:nvPr/>
        </p:nvGrpSpPr>
        <p:grpSpPr>
          <a:xfrm>
            <a:off x="87743" y="2243912"/>
            <a:ext cx="4483735" cy="666115"/>
            <a:chOff x="87743" y="2243912"/>
            <a:chExt cx="4483735" cy="666115"/>
          </a:xfrm>
        </p:grpSpPr>
        <p:sp>
          <p:nvSpPr>
            <p:cNvPr id="30" name="object 30"/>
            <p:cNvSpPr/>
            <p:nvPr/>
          </p:nvSpPr>
          <p:spPr>
            <a:xfrm>
              <a:off x="87743" y="2243912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6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66" y="185674"/>
                  </a:lnTo>
                  <a:lnTo>
                    <a:pt x="4432566" y="50800"/>
                  </a:lnTo>
                  <a:lnTo>
                    <a:pt x="4428558" y="31075"/>
                  </a:lnTo>
                  <a:lnTo>
                    <a:pt x="4417644" y="14922"/>
                  </a:lnTo>
                  <a:lnTo>
                    <a:pt x="4401491" y="4008"/>
                  </a:lnTo>
                  <a:lnTo>
                    <a:pt x="4381766" y="0"/>
                  </a:lnTo>
                  <a:close/>
                </a:path>
              </a:pathLst>
            </a:custGeom>
            <a:solidFill>
              <a:srgbClr val="CCE5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87744" y="2416924"/>
              <a:ext cx="4432566" cy="50609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38544" y="2808135"/>
              <a:ext cx="101599" cy="101600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89344" y="2795435"/>
              <a:ext cx="4381715" cy="114300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4520311" y="2288146"/>
              <a:ext cx="50749" cy="519988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87743" y="2461209"/>
              <a:ext cx="4432935" cy="398145"/>
            </a:xfrm>
            <a:custGeom>
              <a:avLst/>
              <a:gdLst/>
              <a:ahLst/>
              <a:cxnLst/>
              <a:rect l="l" t="t" r="r" b="b"/>
              <a:pathLst>
                <a:path w="4432935" h="398144">
                  <a:moveTo>
                    <a:pt x="4432566" y="0"/>
                  </a:moveTo>
                  <a:lnTo>
                    <a:pt x="0" y="0"/>
                  </a:lnTo>
                  <a:lnTo>
                    <a:pt x="0" y="346925"/>
                  </a:lnTo>
                  <a:lnTo>
                    <a:pt x="4008" y="366650"/>
                  </a:lnTo>
                  <a:lnTo>
                    <a:pt x="14922" y="382803"/>
                  </a:lnTo>
                  <a:lnTo>
                    <a:pt x="31075" y="393717"/>
                  </a:lnTo>
                  <a:lnTo>
                    <a:pt x="50800" y="397725"/>
                  </a:lnTo>
                  <a:lnTo>
                    <a:pt x="4381766" y="397725"/>
                  </a:lnTo>
                  <a:lnTo>
                    <a:pt x="4401491" y="393717"/>
                  </a:lnTo>
                  <a:lnTo>
                    <a:pt x="4417644" y="382803"/>
                  </a:lnTo>
                  <a:lnTo>
                    <a:pt x="4428558" y="366650"/>
                  </a:lnTo>
                  <a:lnTo>
                    <a:pt x="4432566" y="346925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E5F2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520309" y="2326246"/>
              <a:ext cx="0" cy="501015"/>
            </a:xfrm>
            <a:custGeom>
              <a:avLst/>
              <a:gdLst/>
              <a:ahLst/>
              <a:cxnLst/>
              <a:rect l="l" t="t" r="r" b="b"/>
              <a:pathLst>
                <a:path h="501014">
                  <a:moveTo>
                    <a:pt x="0" y="50093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4520309" y="231354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4520309" y="230084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4520309" y="228814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40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281597" y="2510942"/>
              <a:ext cx="64757" cy="64757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281597" y="2720975"/>
              <a:ext cx="64757" cy="64757"/>
            </a:xfrm>
            <a:prstGeom prst="rect">
              <a:avLst/>
            </a:prstGeom>
          </p:spPr>
        </p:pic>
      </p:grpSp>
      <p:sp>
        <p:nvSpPr>
          <p:cNvPr id="42" name="object 42"/>
          <p:cNvSpPr txBox="1"/>
          <p:nvPr/>
        </p:nvSpPr>
        <p:spPr>
          <a:xfrm>
            <a:off x="125844" y="668417"/>
            <a:ext cx="3535045" cy="2157730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100" i="1" spc="-10" dirty="0">
                <a:solidFill>
                  <a:srgbClr val="3333B2"/>
                </a:solidFill>
                <a:latin typeface="Cambria"/>
                <a:cs typeface="Cambria"/>
              </a:rPr>
              <a:t>Multiple</a:t>
            </a:r>
            <a:r>
              <a:rPr sz="1100" i="1" spc="-15" dirty="0">
                <a:solidFill>
                  <a:srgbClr val="3333B2"/>
                </a:solidFill>
                <a:latin typeface="Cambria"/>
                <a:cs typeface="Cambria"/>
              </a:rPr>
              <a:t> </a:t>
            </a:r>
            <a:r>
              <a:rPr sz="1100" b="1" i="1" dirty="0">
                <a:solidFill>
                  <a:srgbClr val="3333B2"/>
                </a:solidFill>
                <a:latin typeface="Times New Roman"/>
                <a:cs typeface="Times New Roman"/>
              </a:rPr>
              <a:t>related</a:t>
            </a:r>
            <a:r>
              <a:rPr sz="1100" b="1" i="1" spc="-50" dirty="0">
                <a:solidFill>
                  <a:srgbClr val="3333B2"/>
                </a:solidFill>
                <a:latin typeface="Times New Roman"/>
                <a:cs typeface="Times New Roman"/>
              </a:rPr>
              <a:t> </a:t>
            </a:r>
            <a:r>
              <a:rPr sz="1100" i="1" spc="-30" dirty="0">
                <a:solidFill>
                  <a:srgbClr val="3333B2"/>
                </a:solidFill>
                <a:latin typeface="Cambria"/>
                <a:cs typeface="Cambria"/>
              </a:rPr>
              <a:t>meanings</a:t>
            </a:r>
            <a:r>
              <a:rPr sz="1100" i="1" spc="-15" dirty="0">
                <a:solidFill>
                  <a:srgbClr val="3333B2"/>
                </a:solidFill>
                <a:latin typeface="Cambria"/>
                <a:cs typeface="Cambria"/>
              </a:rPr>
              <a:t> </a:t>
            </a:r>
            <a:r>
              <a:rPr sz="1100" i="1" spc="-30" dirty="0">
                <a:solidFill>
                  <a:srgbClr val="3333B2"/>
                </a:solidFill>
                <a:latin typeface="Cambria"/>
                <a:cs typeface="Cambria"/>
              </a:rPr>
              <a:t>within</a:t>
            </a:r>
            <a:r>
              <a:rPr sz="1100" i="1" spc="-10" dirty="0">
                <a:solidFill>
                  <a:srgbClr val="3333B2"/>
                </a:solidFill>
                <a:latin typeface="Cambria"/>
                <a:cs typeface="Cambria"/>
              </a:rPr>
              <a:t> </a:t>
            </a:r>
            <a:r>
              <a:rPr sz="1100" i="1" dirty="0">
                <a:solidFill>
                  <a:srgbClr val="3333B2"/>
                </a:solidFill>
                <a:latin typeface="Cambria"/>
                <a:cs typeface="Cambria"/>
              </a:rPr>
              <a:t>a</a:t>
            </a:r>
            <a:r>
              <a:rPr sz="1100" i="1" spc="-15" dirty="0">
                <a:solidFill>
                  <a:srgbClr val="3333B2"/>
                </a:solidFill>
                <a:latin typeface="Cambria"/>
                <a:cs typeface="Cambria"/>
              </a:rPr>
              <a:t> </a:t>
            </a:r>
            <a:r>
              <a:rPr sz="1100" i="1" dirty="0">
                <a:solidFill>
                  <a:srgbClr val="3333B2"/>
                </a:solidFill>
                <a:latin typeface="Cambria"/>
                <a:cs typeface="Cambria"/>
              </a:rPr>
              <a:t>single</a:t>
            </a:r>
            <a:r>
              <a:rPr sz="1100" i="1" spc="-15" dirty="0">
                <a:solidFill>
                  <a:srgbClr val="3333B2"/>
                </a:solidFill>
                <a:latin typeface="Cambria"/>
                <a:cs typeface="Cambria"/>
              </a:rPr>
              <a:t> </a:t>
            </a:r>
            <a:r>
              <a:rPr sz="1100" i="1" spc="-10" dirty="0">
                <a:solidFill>
                  <a:srgbClr val="3333B2"/>
                </a:solidFill>
                <a:latin typeface="Cambria"/>
                <a:cs typeface="Cambria"/>
              </a:rPr>
              <a:t>lexeme.</a:t>
            </a:r>
            <a:endParaRPr sz="1100">
              <a:latin typeface="Cambria"/>
              <a:cs typeface="Cambria"/>
            </a:endParaRPr>
          </a:p>
          <a:p>
            <a:pPr marL="289560" marR="140970">
              <a:lnSpc>
                <a:spcPts val="1650"/>
              </a:lnSpc>
              <a:spcBef>
                <a:spcPts val="55"/>
              </a:spcBef>
            </a:pP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bank</a:t>
            </a:r>
            <a:r>
              <a:rPr sz="950" i="1" spc="1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was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constructed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in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1875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out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local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red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brick. </a:t>
            </a:r>
            <a:r>
              <a:rPr sz="950" dirty="0">
                <a:latin typeface="Trebuchet MS"/>
                <a:cs typeface="Trebuchet MS"/>
              </a:rPr>
              <a:t>I</a:t>
            </a:r>
            <a:r>
              <a:rPr sz="950" spc="-20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withdrew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money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from</a:t>
            </a:r>
            <a:r>
              <a:rPr sz="950" spc="-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i="1" spc="-10" dirty="0">
                <a:latin typeface="Trebuchet MS"/>
                <a:cs typeface="Trebuchet MS"/>
              </a:rPr>
              <a:t>bank</a:t>
            </a:r>
            <a:r>
              <a:rPr sz="950" spc="-10" dirty="0">
                <a:latin typeface="Trebuchet MS"/>
                <a:cs typeface="Trebuchet MS"/>
              </a:rPr>
              <a:t>.</a:t>
            </a:r>
            <a:endParaRPr sz="9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60"/>
              </a:spcBef>
            </a:pPr>
            <a:endParaRPr sz="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100" i="1" dirty="0">
                <a:solidFill>
                  <a:srgbClr val="FF0000"/>
                </a:solidFill>
                <a:latin typeface="Cambria"/>
                <a:cs typeface="Cambria"/>
              </a:rPr>
              <a:t>Are</a:t>
            </a:r>
            <a:r>
              <a:rPr sz="1100" i="1" spc="-3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100" i="1" spc="-25" dirty="0">
                <a:solidFill>
                  <a:srgbClr val="FF0000"/>
                </a:solidFill>
                <a:latin typeface="Cambria"/>
                <a:cs typeface="Cambria"/>
              </a:rPr>
              <a:t>those </a:t>
            </a:r>
            <a:r>
              <a:rPr sz="1100" i="1" spc="-30" dirty="0">
                <a:solidFill>
                  <a:srgbClr val="FF0000"/>
                </a:solidFill>
                <a:latin typeface="Cambria"/>
                <a:cs typeface="Cambria"/>
              </a:rPr>
              <a:t>the</a:t>
            </a:r>
            <a:r>
              <a:rPr sz="1100" i="1" spc="-2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100" i="1" spc="-20" dirty="0">
                <a:solidFill>
                  <a:srgbClr val="FF0000"/>
                </a:solidFill>
                <a:latin typeface="Cambria"/>
                <a:cs typeface="Cambria"/>
              </a:rPr>
              <a:t>same</a:t>
            </a:r>
            <a:r>
              <a:rPr sz="1100" i="1" spc="-3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100" i="1" spc="-10" dirty="0">
                <a:solidFill>
                  <a:srgbClr val="FF0000"/>
                </a:solidFill>
                <a:latin typeface="Cambria"/>
                <a:cs typeface="Cambria"/>
              </a:rPr>
              <a:t>sense?</a:t>
            </a:r>
            <a:endParaRPr sz="1100">
              <a:latin typeface="Cambria"/>
              <a:cs typeface="Cambria"/>
            </a:endParaRPr>
          </a:p>
          <a:p>
            <a:pPr marL="289560">
              <a:lnSpc>
                <a:spcPct val="100000"/>
              </a:lnSpc>
              <a:spcBef>
                <a:spcPts val="350"/>
              </a:spcBef>
            </a:pPr>
            <a:r>
              <a:rPr sz="950" spc="70" dirty="0">
                <a:latin typeface="Trebuchet MS"/>
                <a:cs typeface="Trebuchet MS"/>
              </a:rPr>
              <a:t>Sense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1:</a:t>
            </a:r>
            <a:r>
              <a:rPr sz="950" spc="6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“The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building </a:t>
            </a:r>
            <a:r>
              <a:rPr sz="950" dirty="0">
                <a:latin typeface="Trebuchet MS"/>
                <a:cs typeface="Trebuchet MS"/>
              </a:rPr>
              <a:t>belonging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to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-10" dirty="0">
                <a:latin typeface="Trebuchet MS"/>
                <a:cs typeface="Trebuchet MS"/>
              </a:rPr>
              <a:t> financial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institution”</a:t>
            </a:r>
            <a:endParaRPr sz="950">
              <a:latin typeface="Trebuchet MS"/>
              <a:cs typeface="Trebuchet MS"/>
            </a:endParaRPr>
          </a:p>
          <a:p>
            <a:pPr marL="289560">
              <a:lnSpc>
                <a:spcPct val="100000"/>
              </a:lnSpc>
              <a:spcBef>
                <a:spcPts val="515"/>
              </a:spcBef>
            </a:pPr>
            <a:r>
              <a:rPr sz="950" spc="70" dirty="0">
                <a:latin typeface="Trebuchet MS"/>
                <a:cs typeface="Trebuchet MS"/>
              </a:rPr>
              <a:t>Sense</a:t>
            </a:r>
            <a:r>
              <a:rPr sz="950" spc="-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2: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spc="-30" dirty="0">
                <a:latin typeface="Trebuchet MS"/>
                <a:cs typeface="Trebuchet MS"/>
              </a:rPr>
              <a:t>“A </a:t>
            </a:r>
            <a:r>
              <a:rPr sz="950" spc="-10" dirty="0">
                <a:latin typeface="Trebuchet MS"/>
                <a:cs typeface="Trebuchet MS"/>
              </a:rPr>
              <a:t>financial</a:t>
            </a:r>
            <a:r>
              <a:rPr sz="950" spc="-3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institution”</a:t>
            </a:r>
            <a:endParaRPr sz="9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10"/>
              </a:spcBef>
            </a:pPr>
            <a:endParaRPr sz="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100" i="1" spc="-25" dirty="0">
                <a:solidFill>
                  <a:srgbClr val="007F00"/>
                </a:solidFill>
                <a:latin typeface="Cambria"/>
                <a:cs typeface="Cambria"/>
              </a:rPr>
              <a:t>Another</a:t>
            </a:r>
            <a:r>
              <a:rPr sz="1100" i="1" spc="-20" dirty="0">
                <a:solidFill>
                  <a:srgbClr val="007F00"/>
                </a:solidFill>
                <a:latin typeface="Cambria"/>
                <a:cs typeface="Cambria"/>
              </a:rPr>
              <a:t> </a:t>
            </a:r>
            <a:r>
              <a:rPr sz="1100" i="1" spc="-10" dirty="0">
                <a:solidFill>
                  <a:srgbClr val="007F00"/>
                </a:solidFill>
                <a:latin typeface="Cambria"/>
                <a:cs typeface="Cambria"/>
              </a:rPr>
              <a:t>example</a:t>
            </a:r>
            <a:endParaRPr sz="1100">
              <a:latin typeface="Cambria"/>
              <a:cs typeface="Cambria"/>
            </a:endParaRPr>
          </a:p>
          <a:p>
            <a:pPr marL="289560" marR="5080">
              <a:lnSpc>
                <a:spcPts val="1650"/>
              </a:lnSpc>
              <a:spcBef>
                <a:spcPts val="25"/>
              </a:spcBef>
            </a:pPr>
            <a:r>
              <a:rPr sz="950" dirty="0">
                <a:latin typeface="Trebuchet MS"/>
                <a:cs typeface="Trebuchet MS"/>
              </a:rPr>
              <a:t>Heavy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snow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caused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roof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school</a:t>
            </a:r>
            <a:r>
              <a:rPr sz="950" i="1" spc="13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to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collapse.</a:t>
            </a:r>
            <a:r>
              <a:rPr sz="950" spc="50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school</a:t>
            </a:r>
            <a:r>
              <a:rPr sz="950" i="1" spc="1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hired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more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teachers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this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year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than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ever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before.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48" name="object 4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20" dirty="0"/>
              <a:t>Pawan</a:t>
            </a:r>
            <a:r>
              <a:rPr spc="15" dirty="0"/>
              <a:t> </a:t>
            </a:r>
            <a:r>
              <a:rPr dirty="0"/>
              <a:t>Goyal</a:t>
            </a:r>
            <a:r>
              <a:rPr spc="170" dirty="0"/>
              <a:t> </a:t>
            </a:r>
            <a:r>
              <a:rPr dirty="0"/>
              <a:t>(IIT</a:t>
            </a:r>
            <a:r>
              <a:rPr spc="15" dirty="0"/>
              <a:t> </a:t>
            </a:r>
            <a:r>
              <a:rPr spc="-10" dirty="0"/>
              <a:t>Kharagpur)</a:t>
            </a:r>
          </a:p>
        </p:txBody>
      </p:sp>
      <p:sp>
        <p:nvSpPr>
          <p:cNvPr id="50" name="object 50"/>
          <p:cNvSpPr txBox="1"/>
          <p:nvPr/>
        </p:nvSpPr>
        <p:spPr>
          <a:xfrm>
            <a:off x="364622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1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4355386" y="3339672"/>
            <a:ext cx="1987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18</a:t>
            </a:r>
            <a:endParaRPr sz="600">
              <a:latin typeface="Cambria"/>
              <a:cs typeface="Cambria"/>
            </a:endParaRPr>
          </a:p>
        </p:txBody>
      </p:sp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60502"/>
            <a:ext cx="272224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Polysemy:</a:t>
            </a:r>
            <a:r>
              <a:rPr spc="60" dirty="0"/>
              <a:t> </a:t>
            </a:r>
            <a:r>
              <a:rPr spc="-10" dirty="0"/>
              <a:t>multiple related</a:t>
            </a:r>
            <a:r>
              <a:rPr spc="-5" dirty="0"/>
              <a:t> </a:t>
            </a:r>
            <a:r>
              <a:rPr spc="-10" dirty="0"/>
              <a:t>meanings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761708"/>
            <a:ext cx="4483735" cy="625475"/>
            <a:chOff x="87743" y="761708"/>
            <a:chExt cx="4483735" cy="625475"/>
          </a:xfrm>
        </p:grpSpPr>
        <p:sp>
          <p:nvSpPr>
            <p:cNvPr id="4" name="object 4"/>
            <p:cNvSpPr/>
            <p:nvPr/>
          </p:nvSpPr>
          <p:spPr>
            <a:xfrm>
              <a:off x="87743" y="761708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6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66" y="185674"/>
                  </a:lnTo>
                  <a:lnTo>
                    <a:pt x="4432566" y="50800"/>
                  </a:lnTo>
                  <a:lnTo>
                    <a:pt x="4428558" y="31075"/>
                  </a:lnTo>
                  <a:lnTo>
                    <a:pt x="4417644" y="14922"/>
                  </a:lnTo>
                  <a:lnTo>
                    <a:pt x="4401491" y="4008"/>
                  </a:lnTo>
                  <a:lnTo>
                    <a:pt x="4381766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934720"/>
              <a:ext cx="4432566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1285100"/>
              <a:ext cx="101599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1272400"/>
              <a:ext cx="4381715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311" y="805942"/>
              <a:ext cx="50749" cy="479158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979005"/>
              <a:ext cx="4432935" cy="357505"/>
            </a:xfrm>
            <a:custGeom>
              <a:avLst/>
              <a:gdLst/>
              <a:ahLst/>
              <a:cxnLst/>
              <a:rect l="l" t="t" r="r" b="b"/>
              <a:pathLst>
                <a:path w="4432935" h="357505">
                  <a:moveTo>
                    <a:pt x="4432566" y="0"/>
                  </a:moveTo>
                  <a:lnTo>
                    <a:pt x="0" y="0"/>
                  </a:lnTo>
                  <a:lnTo>
                    <a:pt x="0" y="306095"/>
                  </a:lnTo>
                  <a:lnTo>
                    <a:pt x="4008" y="325820"/>
                  </a:lnTo>
                  <a:lnTo>
                    <a:pt x="14922" y="341972"/>
                  </a:lnTo>
                  <a:lnTo>
                    <a:pt x="31075" y="352886"/>
                  </a:lnTo>
                  <a:lnTo>
                    <a:pt x="50800" y="356895"/>
                  </a:lnTo>
                  <a:lnTo>
                    <a:pt x="4381766" y="356895"/>
                  </a:lnTo>
                  <a:lnTo>
                    <a:pt x="4401491" y="352886"/>
                  </a:lnTo>
                  <a:lnTo>
                    <a:pt x="4417644" y="341972"/>
                  </a:lnTo>
                  <a:lnTo>
                    <a:pt x="4428558" y="325820"/>
                  </a:lnTo>
                  <a:lnTo>
                    <a:pt x="4432566" y="306095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09" y="844042"/>
              <a:ext cx="0" cy="460375"/>
            </a:xfrm>
            <a:custGeom>
              <a:avLst/>
              <a:gdLst/>
              <a:ahLst/>
              <a:cxnLst/>
              <a:rect l="l" t="t" r="r" b="b"/>
              <a:pathLst>
                <a:path h="460375">
                  <a:moveTo>
                    <a:pt x="0" y="46010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09" y="83133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09" y="81863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09" y="80593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87743" y="1487817"/>
            <a:ext cx="4483735" cy="1392555"/>
            <a:chOff x="87743" y="1487817"/>
            <a:chExt cx="4483735" cy="1392555"/>
          </a:xfrm>
        </p:grpSpPr>
        <p:sp>
          <p:nvSpPr>
            <p:cNvPr id="15" name="object 15"/>
            <p:cNvSpPr/>
            <p:nvPr/>
          </p:nvSpPr>
          <p:spPr>
            <a:xfrm>
              <a:off x="87743" y="1487817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6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66" y="185674"/>
                  </a:lnTo>
                  <a:lnTo>
                    <a:pt x="4432566" y="50800"/>
                  </a:lnTo>
                  <a:lnTo>
                    <a:pt x="4428558" y="31075"/>
                  </a:lnTo>
                  <a:lnTo>
                    <a:pt x="4417644" y="14922"/>
                  </a:lnTo>
                  <a:lnTo>
                    <a:pt x="4401491" y="4008"/>
                  </a:lnTo>
                  <a:lnTo>
                    <a:pt x="4381766" y="0"/>
                  </a:lnTo>
                  <a:close/>
                </a:path>
              </a:pathLst>
            </a:custGeom>
            <a:solidFill>
              <a:srgbClr val="CCE5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7744" y="1660842"/>
              <a:ext cx="4432566" cy="50609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38544" y="2778302"/>
              <a:ext cx="101599" cy="10160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89344" y="2765602"/>
              <a:ext cx="4381715" cy="11430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520311" y="1532064"/>
              <a:ext cx="50749" cy="1246238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87743" y="1705114"/>
              <a:ext cx="4432935" cy="1124585"/>
            </a:xfrm>
            <a:custGeom>
              <a:avLst/>
              <a:gdLst/>
              <a:ahLst/>
              <a:cxnLst/>
              <a:rect l="l" t="t" r="r" b="b"/>
              <a:pathLst>
                <a:path w="4432935" h="1124585">
                  <a:moveTo>
                    <a:pt x="4432566" y="0"/>
                  </a:moveTo>
                  <a:lnTo>
                    <a:pt x="0" y="0"/>
                  </a:lnTo>
                  <a:lnTo>
                    <a:pt x="0" y="1073188"/>
                  </a:lnTo>
                  <a:lnTo>
                    <a:pt x="4008" y="1092912"/>
                  </a:lnTo>
                  <a:lnTo>
                    <a:pt x="14922" y="1109065"/>
                  </a:lnTo>
                  <a:lnTo>
                    <a:pt x="31075" y="1119979"/>
                  </a:lnTo>
                  <a:lnTo>
                    <a:pt x="50800" y="1123988"/>
                  </a:lnTo>
                  <a:lnTo>
                    <a:pt x="4381766" y="1123988"/>
                  </a:lnTo>
                  <a:lnTo>
                    <a:pt x="4401491" y="1119979"/>
                  </a:lnTo>
                  <a:lnTo>
                    <a:pt x="4417644" y="1109065"/>
                  </a:lnTo>
                  <a:lnTo>
                    <a:pt x="4428558" y="1092912"/>
                  </a:lnTo>
                  <a:lnTo>
                    <a:pt x="4432566" y="1073188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E5F2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520309" y="1570151"/>
              <a:ext cx="0" cy="1227455"/>
            </a:xfrm>
            <a:custGeom>
              <a:avLst/>
              <a:gdLst/>
              <a:ahLst/>
              <a:cxnLst/>
              <a:rect l="l" t="t" r="r" b="b"/>
              <a:pathLst>
                <a:path h="1227455">
                  <a:moveTo>
                    <a:pt x="0" y="1227201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520309" y="155744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520309" y="154474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520309" y="153204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81597" y="1754848"/>
              <a:ext cx="64757" cy="64757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81597" y="2136965"/>
              <a:ext cx="64757" cy="64757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81597" y="2519070"/>
              <a:ext cx="64757" cy="64757"/>
            </a:xfrm>
            <a:prstGeom prst="rect">
              <a:avLst/>
            </a:prstGeom>
          </p:spPr>
        </p:pic>
      </p:grpSp>
      <p:sp>
        <p:nvSpPr>
          <p:cNvPr id="28" name="object 28"/>
          <p:cNvSpPr txBox="1"/>
          <p:nvPr/>
        </p:nvSpPr>
        <p:spPr>
          <a:xfrm>
            <a:off x="125844" y="690249"/>
            <a:ext cx="4300855" cy="2106295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sz="1100" i="1" dirty="0">
                <a:solidFill>
                  <a:srgbClr val="3333B2"/>
                </a:solidFill>
                <a:latin typeface="Cambria"/>
                <a:cs typeface="Cambria"/>
              </a:rPr>
              <a:t>Often,</a:t>
            </a:r>
            <a:r>
              <a:rPr sz="1100" i="1" spc="-10" dirty="0">
                <a:solidFill>
                  <a:srgbClr val="3333B2"/>
                </a:solidFill>
                <a:latin typeface="Cambria"/>
                <a:cs typeface="Cambria"/>
              </a:rPr>
              <a:t> </a:t>
            </a:r>
            <a:r>
              <a:rPr sz="1100" i="1" spc="-30" dirty="0">
                <a:solidFill>
                  <a:srgbClr val="3333B2"/>
                </a:solidFill>
                <a:latin typeface="Cambria"/>
                <a:cs typeface="Cambria"/>
              </a:rPr>
              <a:t>the</a:t>
            </a:r>
            <a:r>
              <a:rPr sz="1100" i="1" spc="-10" dirty="0">
                <a:solidFill>
                  <a:srgbClr val="3333B2"/>
                </a:solidFill>
                <a:latin typeface="Cambria"/>
                <a:cs typeface="Cambria"/>
              </a:rPr>
              <a:t> </a:t>
            </a:r>
            <a:r>
              <a:rPr sz="1100" i="1" spc="-25" dirty="0">
                <a:solidFill>
                  <a:srgbClr val="3333B2"/>
                </a:solidFill>
                <a:latin typeface="Cambria"/>
                <a:cs typeface="Cambria"/>
              </a:rPr>
              <a:t>relationships</a:t>
            </a:r>
            <a:r>
              <a:rPr sz="1100" i="1" spc="-10" dirty="0">
                <a:solidFill>
                  <a:srgbClr val="3333B2"/>
                </a:solidFill>
                <a:latin typeface="Cambria"/>
                <a:cs typeface="Cambria"/>
              </a:rPr>
              <a:t> </a:t>
            </a:r>
            <a:r>
              <a:rPr sz="1100" i="1" spc="-20" dirty="0">
                <a:solidFill>
                  <a:srgbClr val="3333B2"/>
                </a:solidFill>
                <a:latin typeface="Cambria"/>
                <a:cs typeface="Cambria"/>
              </a:rPr>
              <a:t>are</a:t>
            </a:r>
            <a:r>
              <a:rPr sz="1100" i="1" spc="-10" dirty="0">
                <a:solidFill>
                  <a:srgbClr val="3333B2"/>
                </a:solidFill>
                <a:latin typeface="Cambria"/>
                <a:cs typeface="Cambria"/>
              </a:rPr>
              <a:t> systematic</a:t>
            </a: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sz="950" dirty="0">
                <a:latin typeface="Trebuchet MS"/>
                <a:cs typeface="Trebuchet MS"/>
              </a:rPr>
              <a:t>E.g.,</a:t>
            </a:r>
            <a:r>
              <a:rPr sz="950" spc="-10" dirty="0">
                <a:latin typeface="Trebuchet MS"/>
                <a:cs typeface="Trebuchet MS"/>
              </a:rPr>
              <a:t> building </a:t>
            </a:r>
            <a:r>
              <a:rPr sz="950" dirty="0">
                <a:latin typeface="Trebuchet MS"/>
                <a:cs typeface="Trebuchet MS"/>
              </a:rPr>
              <a:t>vs.</a:t>
            </a:r>
            <a:r>
              <a:rPr sz="950" spc="6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organization</a:t>
            </a:r>
            <a:endParaRPr sz="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950" i="1" dirty="0">
                <a:latin typeface="Trebuchet MS"/>
                <a:cs typeface="Trebuchet MS"/>
              </a:rPr>
              <a:t>school,</a:t>
            </a:r>
            <a:r>
              <a:rPr sz="950" i="1" spc="5" dirty="0">
                <a:latin typeface="Trebuchet MS"/>
                <a:cs typeface="Trebuchet MS"/>
              </a:rPr>
              <a:t> </a:t>
            </a:r>
            <a:r>
              <a:rPr sz="950" i="1" spc="-30" dirty="0">
                <a:latin typeface="Trebuchet MS"/>
                <a:cs typeface="Trebuchet MS"/>
              </a:rPr>
              <a:t>university,</a:t>
            </a:r>
            <a:r>
              <a:rPr sz="950" i="1" spc="10" dirty="0">
                <a:latin typeface="Trebuchet MS"/>
                <a:cs typeface="Trebuchet MS"/>
              </a:rPr>
              <a:t> </a:t>
            </a:r>
            <a:r>
              <a:rPr sz="950" i="1" spc="-20" dirty="0">
                <a:latin typeface="Trebuchet MS"/>
                <a:cs typeface="Trebuchet MS"/>
              </a:rPr>
              <a:t>hospital,</a:t>
            </a:r>
            <a:r>
              <a:rPr sz="950" i="1" spc="5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church,</a:t>
            </a:r>
            <a:r>
              <a:rPr sz="950" i="1" spc="10" dirty="0">
                <a:latin typeface="Trebuchet MS"/>
                <a:cs typeface="Trebuchet MS"/>
              </a:rPr>
              <a:t> </a:t>
            </a:r>
            <a:r>
              <a:rPr sz="950" i="1" spc="-10" dirty="0">
                <a:latin typeface="Trebuchet MS"/>
                <a:cs typeface="Trebuchet MS"/>
              </a:rPr>
              <a:t>supermarket</a:t>
            </a:r>
            <a:endParaRPr sz="9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sz="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100" i="1" dirty="0">
                <a:solidFill>
                  <a:srgbClr val="007F00"/>
                </a:solidFill>
                <a:latin typeface="Cambria"/>
                <a:cs typeface="Cambria"/>
              </a:rPr>
              <a:t>More</a:t>
            </a:r>
            <a:r>
              <a:rPr sz="1100" i="1" spc="-55" dirty="0">
                <a:solidFill>
                  <a:srgbClr val="007F00"/>
                </a:solidFill>
                <a:latin typeface="Cambria"/>
                <a:cs typeface="Cambria"/>
              </a:rPr>
              <a:t> </a:t>
            </a:r>
            <a:r>
              <a:rPr sz="1100" i="1" spc="-10" dirty="0">
                <a:solidFill>
                  <a:srgbClr val="007F00"/>
                </a:solidFill>
                <a:latin typeface="Cambria"/>
                <a:cs typeface="Cambria"/>
              </a:rPr>
              <a:t>examples:</a:t>
            </a:r>
            <a:endParaRPr sz="1100">
              <a:latin typeface="Cambria"/>
              <a:cs typeface="Cambria"/>
            </a:endParaRPr>
          </a:p>
          <a:p>
            <a:pPr marL="289560" marR="5080">
              <a:lnSpc>
                <a:spcPct val="113999"/>
              </a:lnSpc>
              <a:spcBef>
                <a:spcPts val="90"/>
              </a:spcBef>
            </a:pPr>
            <a:r>
              <a:rPr sz="950" dirty="0">
                <a:latin typeface="Trebuchet MS"/>
                <a:cs typeface="Trebuchet MS"/>
              </a:rPr>
              <a:t>Author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(Jane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Austen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wrote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Emma)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1100" spc="-280" dirty="0">
                <a:latin typeface="Lucida Sans Unicode"/>
                <a:cs typeface="Lucida Sans Unicode"/>
              </a:rPr>
              <a:t>↔</a:t>
            </a:r>
            <a:r>
              <a:rPr sz="1100" spc="-40" dirty="0">
                <a:latin typeface="Lucida Sans Unicode"/>
                <a:cs typeface="Lucida Sans Unicode"/>
              </a:rPr>
              <a:t> </a:t>
            </a:r>
            <a:r>
              <a:rPr sz="950" dirty="0">
                <a:latin typeface="Trebuchet MS"/>
                <a:cs typeface="Trebuchet MS"/>
              </a:rPr>
              <a:t>Works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Author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(I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really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love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Jane </a:t>
            </a:r>
            <a:r>
              <a:rPr sz="950" spc="-10" dirty="0">
                <a:latin typeface="Trebuchet MS"/>
                <a:cs typeface="Trebuchet MS"/>
              </a:rPr>
              <a:t>Austen)</a:t>
            </a:r>
            <a:endParaRPr sz="950">
              <a:latin typeface="Trebuchet MS"/>
              <a:cs typeface="Trebuchet MS"/>
            </a:endParaRPr>
          </a:p>
          <a:p>
            <a:pPr marL="289560" marR="173990">
              <a:lnSpc>
                <a:spcPct val="113999"/>
              </a:lnSpc>
              <a:spcBef>
                <a:spcPts val="175"/>
              </a:spcBef>
            </a:pPr>
            <a:r>
              <a:rPr sz="950" dirty="0">
                <a:latin typeface="Trebuchet MS"/>
                <a:cs typeface="Trebuchet MS"/>
              </a:rPr>
              <a:t>Animal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(The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chicken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was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domesticated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in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Asia)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1100" spc="-280" dirty="0">
                <a:latin typeface="Lucida Sans Unicode"/>
                <a:cs typeface="Lucida Sans Unicode"/>
              </a:rPr>
              <a:t>↔</a:t>
            </a:r>
            <a:r>
              <a:rPr sz="1100" spc="-20" dirty="0">
                <a:latin typeface="Lucida Sans Unicode"/>
                <a:cs typeface="Lucida Sans Unicode"/>
              </a:rPr>
              <a:t> </a:t>
            </a:r>
            <a:r>
              <a:rPr sz="950" dirty="0">
                <a:latin typeface="Trebuchet MS"/>
                <a:cs typeface="Trebuchet MS"/>
              </a:rPr>
              <a:t>Meat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(The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chicken </a:t>
            </a:r>
            <a:r>
              <a:rPr sz="950" dirty="0">
                <a:latin typeface="Trebuchet MS"/>
                <a:cs typeface="Trebuchet MS"/>
              </a:rPr>
              <a:t>was</a:t>
            </a:r>
            <a:r>
              <a:rPr sz="950" spc="10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overcooked)</a:t>
            </a:r>
            <a:endParaRPr sz="950">
              <a:latin typeface="Trebuchet MS"/>
              <a:cs typeface="Trebuchet MS"/>
            </a:endParaRPr>
          </a:p>
          <a:p>
            <a:pPr marL="289560" marR="167640">
              <a:lnSpc>
                <a:spcPct val="113999"/>
              </a:lnSpc>
              <a:spcBef>
                <a:spcPts val="180"/>
              </a:spcBef>
            </a:pPr>
            <a:r>
              <a:rPr sz="950" dirty="0">
                <a:latin typeface="Trebuchet MS"/>
                <a:cs typeface="Trebuchet MS"/>
              </a:rPr>
              <a:t>Tree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(Plums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have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beautiful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blossoms)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1100" spc="-280" dirty="0">
                <a:latin typeface="Lucida Sans Unicode"/>
                <a:cs typeface="Lucida Sans Unicode"/>
              </a:rPr>
              <a:t>↔</a:t>
            </a:r>
            <a:r>
              <a:rPr sz="1100" spc="-20" dirty="0">
                <a:latin typeface="Lucida Sans Unicode"/>
                <a:cs typeface="Lucida Sans Unicode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Fruit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(I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ate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preserved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plum </a:t>
            </a:r>
            <a:r>
              <a:rPr sz="950" spc="-10" dirty="0">
                <a:latin typeface="Trebuchet MS"/>
                <a:cs typeface="Trebuchet MS"/>
              </a:rPr>
              <a:t>yesterday)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34" name="object 3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20" dirty="0"/>
              <a:t>Pawan</a:t>
            </a:r>
            <a:r>
              <a:rPr spc="15" dirty="0"/>
              <a:t> </a:t>
            </a:r>
            <a:r>
              <a:rPr dirty="0"/>
              <a:t>Goyal</a:t>
            </a:r>
            <a:r>
              <a:rPr spc="170" dirty="0"/>
              <a:t> </a:t>
            </a:r>
            <a:r>
              <a:rPr dirty="0"/>
              <a:t>(IIT</a:t>
            </a:r>
            <a:r>
              <a:rPr spc="15" dirty="0"/>
              <a:t> </a:t>
            </a:r>
            <a:r>
              <a:rPr spc="-10" dirty="0"/>
              <a:t>Kharagpur)</a:t>
            </a:r>
          </a:p>
        </p:txBody>
      </p:sp>
      <p:sp>
        <p:nvSpPr>
          <p:cNvPr id="36" name="object 36"/>
          <p:cNvSpPr txBox="1"/>
          <p:nvPr/>
        </p:nvSpPr>
        <p:spPr>
          <a:xfrm>
            <a:off x="364622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1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355386" y="3339672"/>
            <a:ext cx="1987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9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18</a:t>
            </a:r>
            <a:endParaRPr sz="600">
              <a:latin typeface="Cambria"/>
              <a:cs typeface="Cambria"/>
            </a:endParaRPr>
          </a:p>
        </p:txBody>
      </p:sp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60502"/>
            <a:ext cx="272224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Polysemy:</a:t>
            </a:r>
            <a:r>
              <a:rPr spc="60" dirty="0"/>
              <a:t> </a:t>
            </a:r>
            <a:r>
              <a:rPr spc="-10" dirty="0"/>
              <a:t>multiple related</a:t>
            </a:r>
            <a:r>
              <a:rPr spc="-5" dirty="0"/>
              <a:t> </a:t>
            </a:r>
            <a:r>
              <a:rPr spc="-10" dirty="0"/>
              <a:t>meanings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953744"/>
            <a:ext cx="4483735" cy="909319"/>
            <a:chOff x="87743" y="953744"/>
            <a:chExt cx="4483735" cy="909319"/>
          </a:xfrm>
        </p:grpSpPr>
        <p:sp>
          <p:nvSpPr>
            <p:cNvPr id="4" name="object 4"/>
            <p:cNvSpPr/>
            <p:nvPr/>
          </p:nvSpPr>
          <p:spPr>
            <a:xfrm>
              <a:off x="87743" y="953744"/>
              <a:ext cx="4432935" cy="180975"/>
            </a:xfrm>
            <a:custGeom>
              <a:avLst/>
              <a:gdLst/>
              <a:ahLst/>
              <a:cxnLst/>
              <a:rect l="l" t="t" r="r" b="b"/>
              <a:pathLst>
                <a:path w="4432935" h="180975">
                  <a:moveTo>
                    <a:pt x="438176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0962"/>
                  </a:lnTo>
                  <a:lnTo>
                    <a:pt x="4432566" y="180962"/>
                  </a:lnTo>
                  <a:lnTo>
                    <a:pt x="4432566" y="50800"/>
                  </a:lnTo>
                  <a:lnTo>
                    <a:pt x="4428558" y="31075"/>
                  </a:lnTo>
                  <a:lnTo>
                    <a:pt x="4417644" y="14922"/>
                  </a:lnTo>
                  <a:lnTo>
                    <a:pt x="4401491" y="4008"/>
                  </a:lnTo>
                  <a:lnTo>
                    <a:pt x="4381766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1122057"/>
              <a:ext cx="4432566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1761248"/>
              <a:ext cx="101599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1748548"/>
              <a:ext cx="4381715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311" y="997978"/>
              <a:ext cx="50749" cy="763270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1166329"/>
              <a:ext cx="4432935" cy="645795"/>
            </a:xfrm>
            <a:custGeom>
              <a:avLst/>
              <a:gdLst/>
              <a:ahLst/>
              <a:cxnLst/>
              <a:rect l="l" t="t" r="r" b="b"/>
              <a:pathLst>
                <a:path w="4432935" h="645794">
                  <a:moveTo>
                    <a:pt x="4432566" y="0"/>
                  </a:moveTo>
                  <a:lnTo>
                    <a:pt x="0" y="0"/>
                  </a:lnTo>
                  <a:lnTo>
                    <a:pt x="0" y="594918"/>
                  </a:lnTo>
                  <a:lnTo>
                    <a:pt x="4008" y="614643"/>
                  </a:lnTo>
                  <a:lnTo>
                    <a:pt x="14922" y="630796"/>
                  </a:lnTo>
                  <a:lnTo>
                    <a:pt x="31075" y="641710"/>
                  </a:lnTo>
                  <a:lnTo>
                    <a:pt x="50800" y="645718"/>
                  </a:lnTo>
                  <a:lnTo>
                    <a:pt x="4381766" y="645718"/>
                  </a:lnTo>
                  <a:lnTo>
                    <a:pt x="4401491" y="641710"/>
                  </a:lnTo>
                  <a:lnTo>
                    <a:pt x="4417644" y="630796"/>
                  </a:lnTo>
                  <a:lnTo>
                    <a:pt x="4428558" y="614643"/>
                  </a:lnTo>
                  <a:lnTo>
                    <a:pt x="4432566" y="594918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09" y="1036078"/>
              <a:ext cx="0" cy="744220"/>
            </a:xfrm>
            <a:custGeom>
              <a:avLst/>
              <a:gdLst/>
              <a:ahLst/>
              <a:cxnLst/>
              <a:rect l="l" t="t" r="r" b="b"/>
              <a:pathLst>
                <a:path h="744219">
                  <a:moveTo>
                    <a:pt x="0" y="74421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09" y="102337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09" y="101067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09" y="99797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1597" y="1216063"/>
              <a:ext cx="64757" cy="6475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1597" y="1426095"/>
              <a:ext cx="64757" cy="64757"/>
            </a:xfrm>
            <a:prstGeom prst="rect">
              <a:avLst/>
            </a:prstGeom>
          </p:spPr>
        </p:pic>
      </p:grpSp>
      <p:grpSp>
        <p:nvGrpSpPr>
          <p:cNvPr id="16" name="object 16"/>
          <p:cNvGrpSpPr/>
          <p:nvPr/>
        </p:nvGrpSpPr>
        <p:grpSpPr>
          <a:xfrm>
            <a:off x="87743" y="1963978"/>
            <a:ext cx="4483735" cy="628015"/>
            <a:chOff x="87743" y="1963978"/>
            <a:chExt cx="4483735" cy="628015"/>
          </a:xfrm>
        </p:grpSpPr>
        <p:sp>
          <p:nvSpPr>
            <p:cNvPr id="17" name="object 17"/>
            <p:cNvSpPr/>
            <p:nvPr/>
          </p:nvSpPr>
          <p:spPr>
            <a:xfrm>
              <a:off x="87743" y="1963978"/>
              <a:ext cx="4432935" cy="358140"/>
            </a:xfrm>
            <a:custGeom>
              <a:avLst/>
              <a:gdLst/>
              <a:ahLst/>
              <a:cxnLst/>
              <a:rect l="l" t="t" r="r" b="b"/>
              <a:pathLst>
                <a:path w="4432935" h="358139">
                  <a:moveTo>
                    <a:pt x="438176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357746"/>
                  </a:lnTo>
                  <a:lnTo>
                    <a:pt x="4432566" y="357746"/>
                  </a:lnTo>
                  <a:lnTo>
                    <a:pt x="4432566" y="50800"/>
                  </a:lnTo>
                  <a:lnTo>
                    <a:pt x="4428558" y="31075"/>
                  </a:lnTo>
                  <a:lnTo>
                    <a:pt x="4417644" y="14922"/>
                  </a:lnTo>
                  <a:lnTo>
                    <a:pt x="4401491" y="4008"/>
                  </a:lnTo>
                  <a:lnTo>
                    <a:pt x="4381766" y="0"/>
                  </a:lnTo>
                  <a:close/>
                </a:path>
              </a:pathLst>
            </a:custGeom>
            <a:solidFill>
              <a:srgbClr val="FF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7744" y="2309063"/>
              <a:ext cx="4432566" cy="50609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38544" y="2490241"/>
              <a:ext cx="101599" cy="10160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89344" y="2477541"/>
              <a:ext cx="4381715" cy="11430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520311" y="2008213"/>
              <a:ext cx="50749" cy="482028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87743" y="2353348"/>
              <a:ext cx="4432935" cy="187960"/>
            </a:xfrm>
            <a:custGeom>
              <a:avLst/>
              <a:gdLst/>
              <a:ahLst/>
              <a:cxnLst/>
              <a:rect l="l" t="t" r="r" b="b"/>
              <a:pathLst>
                <a:path w="4432935" h="187960">
                  <a:moveTo>
                    <a:pt x="4432566" y="0"/>
                  </a:moveTo>
                  <a:lnTo>
                    <a:pt x="0" y="0"/>
                  </a:lnTo>
                  <a:lnTo>
                    <a:pt x="0" y="136893"/>
                  </a:lnTo>
                  <a:lnTo>
                    <a:pt x="4008" y="156617"/>
                  </a:lnTo>
                  <a:lnTo>
                    <a:pt x="14922" y="172770"/>
                  </a:lnTo>
                  <a:lnTo>
                    <a:pt x="31075" y="183684"/>
                  </a:lnTo>
                  <a:lnTo>
                    <a:pt x="50800" y="187693"/>
                  </a:lnTo>
                  <a:lnTo>
                    <a:pt x="4381766" y="187693"/>
                  </a:lnTo>
                  <a:lnTo>
                    <a:pt x="4401491" y="183684"/>
                  </a:lnTo>
                  <a:lnTo>
                    <a:pt x="4417644" y="172770"/>
                  </a:lnTo>
                  <a:lnTo>
                    <a:pt x="4428558" y="156617"/>
                  </a:lnTo>
                  <a:lnTo>
                    <a:pt x="4432566" y="136893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FFE5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520309" y="2046313"/>
              <a:ext cx="0" cy="463550"/>
            </a:xfrm>
            <a:custGeom>
              <a:avLst/>
              <a:gdLst/>
              <a:ahLst/>
              <a:cxnLst/>
              <a:rect l="l" t="t" r="r" b="b"/>
              <a:pathLst>
                <a:path h="463550">
                  <a:moveTo>
                    <a:pt x="0" y="46297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520309" y="203360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520309" y="202090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520309" y="200820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125844" y="874412"/>
            <a:ext cx="4104004" cy="1633855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100" i="1" spc="-25" dirty="0">
                <a:solidFill>
                  <a:srgbClr val="3333B2"/>
                </a:solidFill>
                <a:latin typeface="Cambria"/>
                <a:cs typeface="Cambria"/>
              </a:rPr>
              <a:t>Zeugma</a:t>
            </a:r>
            <a:r>
              <a:rPr sz="1100" i="1" spc="-5" dirty="0">
                <a:solidFill>
                  <a:srgbClr val="3333B2"/>
                </a:solidFill>
                <a:latin typeface="Cambria"/>
                <a:cs typeface="Cambria"/>
              </a:rPr>
              <a:t> </a:t>
            </a:r>
            <a:r>
              <a:rPr sz="1100" i="1" spc="-20" dirty="0">
                <a:solidFill>
                  <a:srgbClr val="3333B2"/>
                </a:solidFill>
                <a:latin typeface="Cambria"/>
                <a:cs typeface="Cambria"/>
              </a:rPr>
              <a:t>test</a:t>
            </a:r>
            <a:endParaRPr sz="1100">
              <a:latin typeface="Cambria"/>
              <a:cs typeface="Cambria"/>
            </a:endParaRPr>
          </a:p>
          <a:p>
            <a:pPr marL="289560" marR="1416050">
              <a:lnSpc>
                <a:spcPts val="1650"/>
              </a:lnSpc>
              <a:spcBef>
                <a:spcPts val="55"/>
              </a:spcBef>
            </a:pPr>
            <a:r>
              <a:rPr sz="950" dirty="0">
                <a:latin typeface="Trebuchet MS"/>
                <a:cs typeface="Trebuchet MS"/>
              </a:rPr>
              <a:t>Which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these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flights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serve</a:t>
            </a:r>
            <a:r>
              <a:rPr sz="950" i="1" spc="2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breakfast?</a:t>
            </a:r>
            <a:r>
              <a:rPr sz="950" spc="70" dirty="0">
                <a:latin typeface="Trebuchet MS"/>
                <a:cs typeface="Trebuchet MS"/>
              </a:rPr>
              <a:t> Does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spc="20" dirty="0">
                <a:latin typeface="Trebuchet MS"/>
                <a:cs typeface="Trebuchet MS"/>
              </a:rPr>
              <a:t>Midwest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spc="20" dirty="0">
                <a:latin typeface="Trebuchet MS"/>
                <a:cs typeface="Trebuchet MS"/>
              </a:rPr>
              <a:t>Express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i="1" spc="20" dirty="0">
                <a:latin typeface="Trebuchet MS"/>
                <a:cs typeface="Trebuchet MS"/>
              </a:rPr>
              <a:t>serve</a:t>
            </a:r>
            <a:r>
              <a:rPr sz="950" i="1" spc="3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Philadelphia?</a:t>
            </a:r>
            <a:endParaRPr sz="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950" spc="60" dirty="0">
                <a:latin typeface="Trebuchet MS"/>
                <a:cs typeface="Trebuchet MS"/>
              </a:rPr>
              <a:t>*</a:t>
            </a:r>
            <a:r>
              <a:rPr sz="950" i="1" spc="60" dirty="0">
                <a:latin typeface="Trebuchet MS"/>
                <a:cs typeface="Trebuchet MS"/>
              </a:rPr>
              <a:t>Does </a:t>
            </a:r>
            <a:r>
              <a:rPr sz="950" i="1" dirty="0">
                <a:latin typeface="Trebuchet MS"/>
                <a:cs typeface="Trebuchet MS"/>
              </a:rPr>
              <a:t>Midwest</a:t>
            </a:r>
            <a:r>
              <a:rPr sz="950" i="1" spc="60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Express</a:t>
            </a:r>
            <a:r>
              <a:rPr sz="950" i="1" spc="60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serve</a:t>
            </a:r>
            <a:r>
              <a:rPr sz="950" i="1" spc="65" dirty="0">
                <a:latin typeface="Trebuchet MS"/>
                <a:cs typeface="Trebuchet MS"/>
              </a:rPr>
              <a:t> </a:t>
            </a:r>
            <a:r>
              <a:rPr sz="950" i="1" spc="-10" dirty="0">
                <a:latin typeface="Trebuchet MS"/>
                <a:cs typeface="Trebuchet MS"/>
              </a:rPr>
              <a:t>breakfast</a:t>
            </a:r>
            <a:r>
              <a:rPr sz="950" i="1" spc="60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and</a:t>
            </a:r>
            <a:r>
              <a:rPr sz="950" i="1" spc="60" dirty="0">
                <a:latin typeface="Trebuchet MS"/>
                <a:cs typeface="Trebuchet MS"/>
              </a:rPr>
              <a:t> </a:t>
            </a:r>
            <a:r>
              <a:rPr sz="950" i="1" spc="80" dirty="0">
                <a:latin typeface="Trebuchet MS"/>
                <a:cs typeface="Trebuchet MS"/>
              </a:rPr>
              <a:t>San</a:t>
            </a:r>
            <a:r>
              <a:rPr sz="950" i="1" spc="60" dirty="0">
                <a:latin typeface="Trebuchet MS"/>
                <a:cs typeface="Trebuchet MS"/>
              </a:rPr>
              <a:t> </a:t>
            </a:r>
            <a:r>
              <a:rPr sz="950" i="1" spc="65" dirty="0">
                <a:latin typeface="Trebuchet MS"/>
                <a:cs typeface="Trebuchet MS"/>
              </a:rPr>
              <a:t>Jose?</a:t>
            </a:r>
            <a:endParaRPr sz="9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365"/>
              </a:spcBef>
            </a:pPr>
            <a:endParaRPr sz="950">
              <a:latin typeface="Trebuchet MS"/>
              <a:cs typeface="Trebuchet MS"/>
            </a:endParaRPr>
          </a:p>
          <a:p>
            <a:pPr marL="12700" marR="354330">
              <a:lnSpc>
                <a:spcPct val="102600"/>
              </a:lnSpc>
            </a:pPr>
            <a:r>
              <a:rPr sz="1100" i="1" dirty="0">
                <a:solidFill>
                  <a:srgbClr val="FF0000"/>
                </a:solidFill>
                <a:latin typeface="Cambria"/>
                <a:cs typeface="Cambria"/>
              </a:rPr>
              <a:t>Combine</a:t>
            </a:r>
            <a:r>
              <a:rPr sz="1100" i="1" spc="-3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100" i="1" spc="-45" dirty="0">
                <a:solidFill>
                  <a:srgbClr val="FF0000"/>
                </a:solidFill>
                <a:latin typeface="Cambria"/>
                <a:cs typeface="Cambria"/>
              </a:rPr>
              <a:t>two</a:t>
            </a:r>
            <a:r>
              <a:rPr sz="1100" i="1" spc="-1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100" i="1" spc="-30" dirty="0">
                <a:solidFill>
                  <a:srgbClr val="FF0000"/>
                </a:solidFill>
                <a:latin typeface="Cambria"/>
                <a:cs typeface="Cambria"/>
              </a:rPr>
              <a:t>separate</a:t>
            </a:r>
            <a:r>
              <a:rPr sz="1100" i="1" spc="-2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100" i="1" dirty="0">
                <a:solidFill>
                  <a:srgbClr val="FF0000"/>
                </a:solidFill>
                <a:latin typeface="Cambria"/>
                <a:cs typeface="Cambria"/>
              </a:rPr>
              <a:t>uses</a:t>
            </a:r>
            <a:r>
              <a:rPr sz="1100" i="1" spc="-2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100" i="1" dirty="0">
                <a:solidFill>
                  <a:srgbClr val="FF0000"/>
                </a:solidFill>
                <a:latin typeface="Cambria"/>
                <a:cs typeface="Cambria"/>
              </a:rPr>
              <a:t>of</a:t>
            </a:r>
            <a:r>
              <a:rPr sz="1100" i="1" spc="-2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100" i="1" dirty="0">
                <a:solidFill>
                  <a:srgbClr val="FF0000"/>
                </a:solidFill>
                <a:latin typeface="Cambria"/>
                <a:cs typeface="Cambria"/>
              </a:rPr>
              <a:t>a</a:t>
            </a:r>
            <a:r>
              <a:rPr sz="1100" i="1" spc="-20" dirty="0">
                <a:solidFill>
                  <a:srgbClr val="FF0000"/>
                </a:solidFill>
                <a:latin typeface="Cambria"/>
                <a:cs typeface="Cambria"/>
              </a:rPr>
              <a:t> lexeme into</a:t>
            </a:r>
            <a:r>
              <a:rPr sz="1100" i="1" spc="-2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100" i="1" dirty="0">
                <a:solidFill>
                  <a:srgbClr val="FF0000"/>
                </a:solidFill>
                <a:latin typeface="Cambria"/>
                <a:cs typeface="Cambria"/>
              </a:rPr>
              <a:t>a</a:t>
            </a:r>
            <a:r>
              <a:rPr sz="1100" i="1" spc="-2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100" i="1" dirty="0">
                <a:solidFill>
                  <a:srgbClr val="FF0000"/>
                </a:solidFill>
                <a:latin typeface="Cambria"/>
                <a:cs typeface="Cambria"/>
              </a:rPr>
              <a:t>single</a:t>
            </a:r>
            <a:r>
              <a:rPr sz="1100" i="1" spc="-2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100" i="1" spc="-25" dirty="0">
                <a:solidFill>
                  <a:srgbClr val="FF0000"/>
                </a:solidFill>
                <a:latin typeface="Cambria"/>
                <a:cs typeface="Cambria"/>
              </a:rPr>
              <a:t>example</a:t>
            </a:r>
            <a:r>
              <a:rPr sz="1100" i="1" spc="-2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100" i="1" spc="-10" dirty="0">
                <a:solidFill>
                  <a:srgbClr val="FF0000"/>
                </a:solidFill>
                <a:latin typeface="Cambria"/>
                <a:cs typeface="Cambria"/>
              </a:rPr>
              <a:t>using conjunction</a:t>
            </a: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950" dirty="0">
                <a:latin typeface="Trebuchet MS"/>
                <a:cs typeface="Trebuchet MS"/>
              </a:rPr>
              <a:t>Since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spc="-85" dirty="0">
                <a:latin typeface="Trebuchet MS"/>
                <a:cs typeface="Trebuchet MS"/>
              </a:rPr>
              <a:t>it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sounds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weird,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we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say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spc="-30" dirty="0">
                <a:latin typeface="Trebuchet MS"/>
                <a:cs typeface="Trebuchet MS"/>
              </a:rPr>
              <a:t>that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these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are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two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spc="-35" dirty="0">
                <a:latin typeface="Trebuchet MS"/>
                <a:cs typeface="Trebuchet MS"/>
              </a:rPr>
              <a:t>different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spc="60" dirty="0">
                <a:latin typeface="Trebuchet MS"/>
                <a:cs typeface="Trebuchet MS"/>
              </a:rPr>
              <a:t>senses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i="1" spc="-10" dirty="0">
                <a:latin typeface="Trebuchet MS"/>
                <a:cs typeface="Trebuchet MS"/>
              </a:rPr>
              <a:t>serve</a:t>
            </a:r>
            <a:r>
              <a:rPr sz="950" spc="-10" dirty="0">
                <a:latin typeface="Trebuchet MS"/>
                <a:cs typeface="Trebuchet MS"/>
              </a:rPr>
              <a:t>.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33" name="object 3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20" dirty="0"/>
              <a:t>Pawan</a:t>
            </a:r>
            <a:r>
              <a:rPr spc="15" dirty="0"/>
              <a:t> </a:t>
            </a:r>
            <a:r>
              <a:rPr dirty="0"/>
              <a:t>Goyal</a:t>
            </a:r>
            <a:r>
              <a:rPr spc="170" dirty="0"/>
              <a:t> </a:t>
            </a:r>
            <a:r>
              <a:rPr dirty="0"/>
              <a:t>(IIT</a:t>
            </a:r>
            <a:r>
              <a:rPr spc="15" dirty="0"/>
              <a:t> </a:t>
            </a:r>
            <a:r>
              <a:rPr spc="-10" dirty="0"/>
              <a:t>Kharagpur)</a:t>
            </a:r>
          </a:p>
        </p:txBody>
      </p:sp>
      <p:sp>
        <p:nvSpPr>
          <p:cNvPr id="35" name="object 35"/>
          <p:cNvSpPr txBox="1"/>
          <p:nvPr/>
        </p:nvSpPr>
        <p:spPr>
          <a:xfrm>
            <a:off x="360826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1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4317426" y="3339672"/>
            <a:ext cx="236854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10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18</a:t>
            </a:r>
            <a:endParaRPr sz="600">
              <a:latin typeface="Cambria"/>
              <a:cs typeface="Cambria"/>
            </a:endParaRPr>
          </a:p>
        </p:txBody>
      </p:sp>
    </p:spTree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60502"/>
            <a:ext cx="76454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Synonymy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796264"/>
            <a:ext cx="4483735" cy="1500505"/>
            <a:chOff x="87743" y="796264"/>
            <a:chExt cx="4483735" cy="1500505"/>
          </a:xfrm>
        </p:grpSpPr>
        <p:sp>
          <p:nvSpPr>
            <p:cNvPr id="4" name="object 4"/>
            <p:cNvSpPr/>
            <p:nvPr/>
          </p:nvSpPr>
          <p:spPr>
            <a:xfrm>
              <a:off x="87743" y="796264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6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66" y="185674"/>
                  </a:lnTo>
                  <a:lnTo>
                    <a:pt x="4432566" y="50800"/>
                  </a:lnTo>
                  <a:lnTo>
                    <a:pt x="4428558" y="31075"/>
                  </a:lnTo>
                  <a:lnTo>
                    <a:pt x="4417644" y="14922"/>
                  </a:lnTo>
                  <a:lnTo>
                    <a:pt x="4401491" y="4008"/>
                  </a:lnTo>
                  <a:lnTo>
                    <a:pt x="4381766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969289"/>
              <a:ext cx="4432566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2195156"/>
              <a:ext cx="101599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2182456"/>
              <a:ext cx="4381715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311" y="840498"/>
              <a:ext cx="50749" cy="1354658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1013561"/>
              <a:ext cx="4432935" cy="1232535"/>
            </a:xfrm>
            <a:custGeom>
              <a:avLst/>
              <a:gdLst/>
              <a:ahLst/>
              <a:cxnLst/>
              <a:rect l="l" t="t" r="r" b="b"/>
              <a:pathLst>
                <a:path w="4432935" h="1232535">
                  <a:moveTo>
                    <a:pt x="4432566" y="0"/>
                  </a:moveTo>
                  <a:lnTo>
                    <a:pt x="0" y="0"/>
                  </a:lnTo>
                  <a:lnTo>
                    <a:pt x="0" y="1181595"/>
                  </a:lnTo>
                  <a:lnTo>
                    <a:pt x="4008" y="1201319"/>
                  </a:lnTo>
                  <a:lnTo>
                    <a:pt x="14922" y="1217472"/>
                  </a:lnTo>
                  <a:lnTo>
                    <a:pt x="31075" y="1228386"/>
                  </a:lnTo>
                  <a:lnTo>
                    <a:pt x="50800" y="1232395"/>
                  </a:lnTo>
                  <a:lnTo>
                    <a:pt x="4381766" y="1232395"/>
                  </a:lnTo>
                  <a:lnTo>
                    <a:pt x="4401491" y="1228386"/>
                  </a:lnTo>
                  <a:lnTo>
                    <a:pt x="4417644" y="1217472"/>
                  </a:lnTo>
                  <a:lnTo>
                    <a:pt x="4428558" y="1201319"/>
                  </a:lnTo>
                  <a:lnTo>
                    <a:pt x="4432566" y="1181595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09" y="878586"/>
              <a:ext cx="0" cy="1336040"/>
            </a:xfrm>
            <a:custGeom>
              <a:avLst/>
              <a:gdLst/>
              <a:ahLst/>
              <a:cxnLst/>
              <a:rect l="l" t="t" r="r" b="b"/>
              <a:pathLst>
                <a:path h="1336039">
                  <a:moveTo>
                    <a:pt x="0" y="133562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09" y="865891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09" y="853191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09" y="840491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1597" y="1063294"/>
              <a:ext cx="64757" cy="6475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1597" y="1273327"/>
              <a:ext cx="64757" cy="64757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81597" y="1483360"/>
              <a:ext cx="64757" cy="64757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81597" y="1693392"/>
              <a:ext cx="64757" cy="64757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81597" y="1903425"/>
              <a:ext cx="64757" cy="64757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81597" y="2113457"/>
              <a:ext cx="64757" cy="64757"/>
            </a:xfrm>
            <a:prstGeom prst="rect">
              <a:avLst/>
            </a:prstGeom>
          </p:spPr>
        </p:pic>
      </p:grpSp>
      <p:grpSp>
        <p:nvGrpSpPr>
          <p:cNvPr id="20" name="object 20"/>
          <p:cNvGrpSpPr/>
          <p:nvPr/>
        </p:nvGrpSpPr>
        <p:grpSpPr>
          <a:xfrm>
            <a:off x="87743" y="2397874"/>
            <a:ext cx="4483735" cy="430530"/>
            <a:chOff x="87743" y="2397874"/>
            <a:chExt cx="4483735" cy="430530"/>
          </a:xfrm>
        </p:grpSpPr>
        <p:sp>
          <p:nvSpPr>
            <p:cNvPr id="21" name="object 21"/>
            <p:cNvSpPr/>
            <p:nvPr/>
          </p:nvSpPr>
          <p:spPr>
            <a:xfrm>
              <a:off x="87743" y="2397874"/>
              <a:ext cx="4432935" cy="82550"/>
            </a:xfrm>
            <a:custGeom>
              <a:avLst/>
              <a:gdLst/>
              <a:ahLst/>
              <a:cxnLst/>
              <a:rect l="l" t="t" r="r" b="b"/>
              <a:pathLst>
                <a:path w="4432935" h="82550">
                  <a:moveTo>
                    <a:pt x="438176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4432566" y="82384"/>
                  </a:lnTo>
                  <a:lnTo>
                    <a:pt x="4432566" y="50800"/>
                  </a:lnTo>
                  <a:lnTo>
                    <a:pt x="4428558" y="31075"/>
                  </a:lnTo>
                  <a:lnTo>
                    <a:pt x="4417644" y="14922"/>
                  </a:lnTo>
                  <a:lnTo>
                    <a:pt x="4401491" y="4008"/>
                  </a:lnTo>
                  <a:lnTo>
                    <a:pt x="4381766" y="0"/>
                  </a:lnTo>
                  <a:close/>
                </a:path>
              </a:pathLst>
            </a:custGeom>
            <a:solidFill>
              <a:srgbClr val="E5F2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38544" y="2726448"/>
              <a:ext cx="101599" cy="101600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89344" y="2713748"/>
              <a:ext cx="4381715" cy="114300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520311" y="2448445"/>
              <a:ext cx="50749" cy="278003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87743" y="2442298"/>
              <a:ext cx="4432935" cy="335280"/>
            </a:xfrm>
            <a:custGeom>
              <a:avLst/>
              <a:gdLst/>
              <a:ahLst/>
              <a:cxnLst/>
              <a:rect l="l" t="t" r="r" b="b"/>
              <a:pathLst>
                <a:path w="4432935" h="335280">
                  <a:moveTo>
                    <a:pt x="4432566" y="0"/>
                  </a:moveTo>
                  <a:lnTo>
                    <a:pt x="0" y="0"/>
                  </a:lnTo>
                  <a:lnTo>
                    <a:pt x="0" y="284149"/>
                  </a:lnTo>
                  <a:lnTo>
                    <a:pt x="4008" y="303874"/>
                  </a:lnTo>
                  <a:lnTo>
                    <a:pt x="14922" y="320027"/>
                  </a:lnTo>
                  <a:lnTo>
                    <a:pt x="31075" y="330941"/>
                  </a:lnTo>
                  <a:lnTo>
                    <a:pt x="50800" y="334949"/>
                  </a:lnTo>
                  <a:lnTo>
                    <a:pt x="4381766" y="334949"/>
                  </a:lnTo>
                  <a:lnTo>
                    <a:pt x="4401491" y="330941"/>
                  </a:lnTo>
                  <a:lnTo>
                    <a:pt x="4417644" y="320027"/>
                  </a:lnTo>
                  <a:lnTo>
                    <a:pt x="4428558" y="303874"/>
                  </a:lnTo>
                  <a:lnTo>
                    <a:pt x="4432566" y="284149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E5F2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520309" y="2486533"/>
              <a:ext cx="0" cy="259079"/>
            </a:xfrm>
            <a:custGeom>
              <a:avLst/>
              <a:gdLst/>
              <a:ahLst/>
              <a:cxnLst/>
              <a:rect l="l" t="t" r="r" b="b"/>
              <a:pathLst>
                <a:path h="259080">
                  <a:moveTo>
                    <a:pt x="0" y="258965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520309" y="247383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520309" y="246113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520309" y="244843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100444" y="721617"/>
            <a:ext cx="4182745" cy="2047875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25"/>
              </a:spcBef>
            </a:pPr>
            <a:r>
              <a:rPr sz="1100" i="1" spc="-65" dirty="0">
                <a:solidFill>
                  <a:srgbClr val="3333B2"/>
                </a:solidFill>
                <a:latin typeface="Cambria"/>
                <a:cs typeface="Cambria"/>
              </a:rPr>
              <a:t>Words</a:t>
            </a:r>
            <a:r>
              <a:rPr sz="1100" i="1" spc="5" dirty="0">
                <a:solidFill>
                  <a:srgbClr val="3333B2"/>
                </a:solidFill>
                <a:latin typeface="Cambria"/>
                <a:cs typeface="Cambria"/>
              </a:rPr>
              <a:t> </a:t>
            </a:r>
            <a:r>
              <a:rPr sz="1100" i="1" spc="-55" dirty="0">
                <a:solidFill>
                  <a:srgbClr val="3333B2"/>
                </a:solidFill>
                <a:latin typeface="Cambria"/>
                <a:cs typeface="Cambria"/>
              </a:rPr>
              <a:t>that</a:t>
            </a:r>
            <a:r>
              <a:rPr sz="1100" i="1" spc="-5" dirty="0">
                <a:solidFill>
                  <a:srgbClr val="3333B2"/>
                </a:solidFill>
                <a:latin typeface="Cambria"/>
                <a:cs typeface="Cambria"/>
              </a:rPr>
              <a:t> </a:t>
            </a:r>
            <a:r>
              <a:rPr sz="1100" i="1" spc="-10" dirty="0">
                <a:solidFill>
                  <a:srgbClr val="3333B2"/>
                </a:solidFill>
                <a:latin typeface="Cambria"/>
                <a:cs typeface="Cambria"/>
              </a:rPr>
              <a:t>have</a:t>
            </a:r>
            <a:r>
              <a:rPr sz="1100" i="1" spc="-25" dirty="0">
                <a:solidFill>
                  <a:srgbClr val="3333B2"/>
                </a:solidFill>
                <a:latin typeface="Cambria"/>
                <a:cs typeface="Cambria"/>
              </a:rPr>
              <a:t> </a:t>
            </a:r>
            <a:r>
              <a:rPr sz="1100" i="1" spc="-30" dirty="0">
                <a:solidFill>
                  <a:srgbClr val="3333B2"/>
                </a:solidFill>
                <a:latin typeface="Cambria"/>
                <a:cs typeface="Cambria"/>
              </a:rPr>
              <a:t>the</a:t>
            </a:r>
            <a:r>
              <a:rPr sz="1100" i="1" spc="-5" dirty="0">
                <a:solidFill>
                  <a:srgbClr val="3333B2"/>
                </a:solidFill>
                <a:latin typeface="Cambria"/>
                <a:cs typeface="Cambria"/>
              </a:rPr>
              <a:t> </a:t>
            </a:r>
            <a:r>
              <a:rPr sz="1100" i="1" spc="-20" dirty="0">
                <a:solidFill>
                  <a:srgbClr val="3333B2"/>
                </a:solidFill>
                <a:latin typeface="Cambria"/>
                <a:cs typeface="Cambria"/>
              </a:rPr>
              <a:t>same</a:t>
            </a:r>
            <a:r>
              <a:rPr sz="1100" i="1" spc="-5" dirty="0">
                <a:solidFill>
                  <a:srgbClr val="3333B2"/>
                </a:solidFill>
                <a:latin typeface="Cambria"/>
                <a:cs typeface="Cambria"/>
              </a:rPr>
              <a:t> </a:t>
            </a:r>
            <a:r>
              <a:rPr sz="1100" i="1" spc="-35" dirty="0">
                <a:solidFill>
                  <a:srgbClr val="3333B2"/>
                </a:solidFill>
                <a:latin typeface="Cambria"/>
                <a:cs typeface="Cambria"/>
              </a:rPr>
              <a:t>meaning</a:t>
            </a:r>
            <a:r>
              <a:rPr sz="1100" i="1" spc="-10" dirty="0">
                <a:solidFill>
                  <a:srgbClr val="3333B2"/>
                </a:solidFill>
                <a:latin typeface="Cambria"/>
                <a:cs typeface="Cambria"/>
              </a:rPr>
              <a:t> </a:t>
            </a:r>
            <a:r>
              <a:rPr sz="1100" i="1" dirty="0">
                <a:solidFill>
                  <a:srgbClr val="3333B2"/>
                </a:solidFill>
                <a:latin typeface="Cambria"/>
                <a:cs typeface="Cambria"/>
              </a:rPr>
              <a:t>in</a:t>
            </a:r>
            <a:r>
              <a:rPr sz="1100" i="1" spc="-5" dirty="0">
                <a:solidFill>
                  <a:srgbClr val="3333B2"/>
                </a:solidFill>
                <a:latin typeface="Cambria"/>
                <a:cs typeface="Cambria"/>
              </a:rPr>
              <a:t> </a:t>
            </a:r>
            <a:r>
              <a:rPr sz="1100" i="1" spc="-20" dirty="0">
                <a:solidFill>
                  <a:srgbClr val="3333B2"/>
                </a:solidFill>
                <a:latin typeface="Cambria"/>
                <a:cs typeface="Cambria"/>
              </a:rPr>
              <a:t>some</a:t>
            </a:r>
            <a:r>
              <a:rPr sz="1100" i="1" spc="-5" dirty="0">
                <a:solidFill>
                  <a:srgbClr val="3333B2"/>
                </a:solidFill>
                <a:latin typeface="Cambria"/>
                <a:cs typeface="Cambria"/>
              </a:rPr>
              <a:t> </a:t>
            </a:r>
            <a:r>
              <a:rPr sz="1100" i="1" dirty="0">
                <a:solidFill>
                  <a:srgbClr val="3333B2"/>
                </a:solidFill>
                <a:latin typeface="Cambria"/>
                <a:cs typeface="Cambria"/>
              </a:rPr>
              <a:t>or</a:t>
            </a:r>
            <a:r>
              <a:rPr sz="1100" i="1" spc="-10" dirty="0">
                <a:solidFill>
                  <a:srgbClr val="3333B2"/>
                </a:solidFill>
                <a:latin typeface="Cambria"/>
                <a:cs typeface="Cambria"/>
              </a:rPr>
              <a:t> </a:t>
            </a:r>
            <a:r>
              <a:rPr sz="1100" i="1" dirty="0">
                <a:solidFill>
                  <a:srgbClr val="3333B2"/>
                </a:solidFill>
                <a:latin typeface="Cambria"/>
                <a:cs typeface="Cambria"/>
              </a:rPr>
              <a:t>all</a:t>
            </a:r>
            <a:r>
              <a:rPr sz="1100" i="1" spc="-5" dirty="0">
                <a:solidFill>
                  <a:srgbClr val="3333B2"/>
                </a:solidFill>
                <a:latin typeface="Cambria"/>
                <a:cs typeface="Cambria"/>
              </a:rPr>
              <a:t> </a:t>
            </a:r>
            <a:r>
              <a:rPr sz="1100" i="1" spc="-10" dirty="0">
                <a:solidFill>
                  <a:srgbClr val="3333B2"/>
                </a:solidFill>
                <a:latin typeface="Cambria"/>
                <a:cs typeface="Cambria"/>
              </a:rPr>
              <a:t>contexts.</a:t>
            </a:r>
            <a:endParaRPr sz="1100">
              <a:latin typeface="Cambria"/>
              <a:cs typeface="Cambria"/>
            </a:endParaRPr>
          </a:p>
          <a:p>
            <a:pPr marL="314960" marR="2977515">
              <a:lnSpc>
                <a:spcPts val="1650"/>
              </a:lnSpc>
              <a:spcBef>
                <a:spcPts val="55"/>
              </a:spcBef>
            </a:pPr>
            <a:r>
              <a:rPr sz="950" spc="-35" dirty="0">
                <a:latin typeface="Trebuchet MS"/>
                <a:cs typeface="Trebuchet MS"/>
              </a:rPr>
              <a:t>filbert</a:t>
            </a:r>
            <a:r>
              <a:rPr sz="950" spc="-25" dirty="0">
                <a:latin typeface="Trebuchet MS"/>
                <a:cs typeface="Trebuchet MS"/>
              </a:rPr>
              <a:t> </a:t>
            </a:r>
            <a:r>
              <a:rPr sz="950" spc="-229" dirty="0">
                <a:latin typeface="Trebuchet MS"/>
                <a:cs typeface="Trebuchet MS"/>
              </a:rPr>
              <a:t>/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hazelnut </a:t>
            </a:r>
            <a:r>
              <a:rPr sz="950" dirty="0">
                <a:latin typeface="Trebuchet MS"/>
                <a:cs typeface="Trebuchet MS"/>
              </a:rPr>
              <a:t>couch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spc="-229" dirty="0">
                <a:latin typeface="Trebuchet MS"/>
                <a:cs typeface="Trebuchet MS"/>
              </a:rPr>
              <a:t>/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sofa</a:t>
            </a:r>
            <a:endParaRPr sz="950">
              <a:latin typeface="Trebuchet MS"/>
              <a:cs typeface="Trebuchet MS"/>
            </a:endParaRPr>
          </a:p>
          <a:p>
            <a:pPr marL="314960" marR="2972435">
              <a:lnSpc>
                <a:spcPts val="1650"/>
              </a:lnSpc>
              <a:spcBef>
                <a:spcPts val="5"/>
              </a:spcBef>
            </a:pPr>
            <a:r>
              <a:rPr sz="950" dirty="0">
                <a:latin typeface="Trebuchet MS"/>
                <a:cs typeface="Trebuchet MS"/>
              </a:rPr>
              <a:t>big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spc="-229" dirty="0">
                <a:latin typeface="Trebuchet MS"/>
                <a:cs typeface="Trebuchet MS"/>
              </a:rPr>
              <a:t>/</a:t>
            </a:r>
            <a:r>
              <a:rPr sz="95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large </a:t>
            </a:r>
            <a:r>
              <a:rPr sz="950" dirty="0">
                <a:latin typeface="Trebuchet MS"/>
                <a:cs typeface="Trebuchet MS"/>
              </a:rPr>
              <a:t>automobile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spc="-229" dirty="0">
                <a:latin typeface="Trebuchet MS"/>
                <a:cs typeface="Trebuchet MS"/>
              </a:rPr>
              <a:t>/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car </a:t>
            </a:r>
            <a:r>
              <a:rPr sz="950" spc="-10" dirty="0">
                <a:latin typeface="Trebuchet MS"/>
                <a:cs typeface="Trebuchet MS"/>
              </a:rPr>
              <a:t>vomit</a:t>
            </a:r>
            <a:r>
              <a:rPr sz="950" spc="-65" dirty="0">
                <a:latin typeface="Trebuchet MS"/>
                <a:cs typeface="Trebuchet MS"/>
              </a:rPr>
              <a:t> </a:t>
            </a:r>
            <a:r>
              <a:rPr sz="950" spc="-229" dirty="0">
                <a:latin typeface="Trebuchet MS"/>
                <a:cs typeface="Trebuchet MS"/>
              </a:rPr>
              <a:t>/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throw</a:t>
            </a:r>
            <a:r>
              <a:rPr sz="950" spc="-40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up </a:t>
            </a:r>
            <a:r>
              <a:rPr sz="950" spc="-20" dirty="0">
                <a:latin typeface="Trebuchet MS"/>
                <a:cs typeface="Trebuchet MS"/>
              </a:rPr>
              <a:t>water</a:t>
            </a:r>
            <a:r>
              <a:rPr sz="950" spc="-30" dirty="0">
                <a:latin typeface="Trebuchet MS"/>
                <a:cs typeface="Trebuchet MS"/>
              </a:rPr>
              <a:t> </a:t>
            </a:r>
            <a:r>
              <a:rPr sz="950" spc="-229" dirty="0">
                <a:latin typeface="Trebuchet MS"/>
                <a:cs typeface="Trebuchet MS"/>
              </a:rPr>
              <a:t>/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1100" i="1" spc="25" dirty="0">
                <a:latin typeface="Cambria"/>
                <a:cs typeface="Cambria"/>
              </a:rPr>
              <a:t>H</a:t>
            </a:r>
            <a:r>
              <a:rPr sz="1200" spc="37" baseline="-10416" dirty="0">
                <a:latin typeface="Trebuchet MS"/>
                <a:cs typeface="Trebuchet MS"/>
              </a:rPr>
              <a:t>2</a:t>
            </a:r>
            <a:r>
              <a:rPr sz="1100" i="1" spc="25" dirty="0">
                <a:latin typeface="Cambria"/>
                <a:cs typeface="Cambria"/>
              </a:rPr>
              <a:t>O</a:t>
            </a:r>
            <a:endParaRPr sz="11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385"/>
              </a:spcBef>
            </a:pPr>
            <a:endParaRPr sz="950">
              <a:latin typeface="Cambria"/>
              <a:cs typeface="Cambria"/>
            </a:endParaRPr>
          </a:p>
          <a:p>
            <a:pPr marL="38100" marR="17780">
              <a:lnSpc>
                <a:spcPct val="118900"/>
              </a:lnSpc>
            </a:pPr>
            <a:r>
              <a:rPr sz="950" dirty="0">
                <a:latin typeface="Trebuchet MS"/>
                <a:cs typeface="Trebuchet MS"/>
              </a:rPr>
              <a:t>Two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lexemes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are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synonyms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spc="-70" dirty="0">
                <a:latin typeface="Trebuchet MS"/>
                <a:cs typeface="Trebuchet MS"/>
              </a:rPr>
              <a:t>if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they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can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be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successfully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substituted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spc="-40" dirty="0">
                <a:latin typeface="Trebuchet MS"/>
                <a:cs typeface="Trebuchet MS"/>
              </a:rPr>
              <a:t>for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each </a:t>
            </a:r>
            <a:r>
              <a:rPr sz="950" spc="-10" dirty="0">
                <a:latin typeface="Trebuchet MS"/>
                <a:cs typeface="Trebuchet MS"/>
              </a:rPr>
              <a:t>other</a:t>
            </a:r>
            <a:r>
              <a:rPr sz="950" spc="-5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in</a:t>
            </a:r>
            <a:r>
              <a:rPr sz="950" spc="-5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all</a:t>
            </a:r>
            <a:r>
              <a:rPr sz="950" spc="-5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situations.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36" name="object 3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20" dirty="0"/>
              <a:t>Pawan</a:t>
            </a:r>
            <a:r>
              <a:rPr spc="15" dirty="0"/>
              <a:t> </a:t>
            </a:r>
            <a:r>
              <a:rPr dirty="0"/>
              <a:t>Goyal</a:t>
            </a:r>
            <a:r>
              <a:rPr spc="170" dirty="0"/>
              <a:t> </a:t>
            </a:r>
            <a:r>
              <a:rPr dirty="0"/>
              <a:t>(IIT</a:t>
            </a:r>
            <a:r>
              <a:rPr spc="15" dirty="0"/>
              <a:t> </a:t>
            </a:r>
            <a:r>
              <a:rPr spc="-10" dirty="0"/>
              <a:t>Kharagpur)</a:t>
            </a:r>
          </a:p>
        </p:txBody>
      </p:sp>
      <p:sp>
        <p:nvSpPr>
          <p:cNvPr id="38" name="object 38"/>
          <p:cNvSpPr txBox="1"/>
          <p:nvPr/>
        </p:nvSpPr>
        <p:spPr>
          <a:xfrm>
            <a:off x="360826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1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39" name="object 3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/>
              <a:t>11</a:t>
            </a:r>
            <a:r>
              <a:rPr spc="-20" dirty="0"/>
              <a:t> </a:t>
            </a:r>
            <a:r>
              <a:rPr spc="-110" dirty="0"/>
              <a:t>/</a:t>
            </a:r>
            <a:r>
              <a:rPr spc="15" dirty="0"/>
              <a:t> </a:t>
            </a:r>
            <a:r>
              <a:rPr spc="-25" dirty="0"/>
              <a:t>18</a:t>
            </a:r>
          </a:p>
        </p:txBody>
      </p:sp>
    </p:spTree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Synonymy:</a:t>
            </a:r>
            <a:r>
              <a:rPr spc="80" dirty="0"/>
              <a:t> </a:t>
            </a:r>
            <a:r>
              <a:rPr dirty="0"/>
              <a:t>A</a:t>
            </a:r>
            <a:r>
              <a:rPr spc="5" dirty="0"/>
              <a:t> </a:t>
            </a:r>
            <a:r>
              <a:rPr spc="-10" dirty="0"/>
              <a:t>relation</a:t>
            </a:r>
            <a:r>
              <a:rPr spc="5" dirty="0"/>
              <a:t> </a:t>
            </a:r>
            <a:r>
              <a:rPr spc="-20" dirty="0"/>
              <a:t>between</a:t>
            </a:r>
            <a:r>
              <a:rPr spc="10" dirty="0"/>
              <a:t> </a:t>
            </a:r>
            <a:r>
              <a:rPr spc="-10" dirty="0"/>
              <a:t>senses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852081"/>
            <a:ext cx="4483735" cy="667385"/>
            <a:chOff x="87743" y="852081"/>
            <a:chExt cx="4483735" cy="667385"/>
          </a:xfrm>
        </p:grpSpPr>
        <p:sp>
          <p:nvSpPr>
            <p:cNvPr id="4" name="object 4"/>
            <p:cNvSpPr/>
            <p:nvPr/>
          </p:nvSpPr>
          <p:spPr>
            <a:xfrm>
              <a:off x="87743" y="852081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6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66" y="185674"/>
                  </a:lnTo>
                  <a:lnTo>
                    <a:pt x="4432566" y="50800"/>
                  </a:lnTo>
                  <a:lnTo>
                    <a:pt x="4428558" y="31075"/>
                  </a:lnTo>
                  <a:lnTo>
                    <a:pt x="4417644" y="14922"/>
                  </a:lnTo>
                  <a:lnTo>
                    <a:pt x="4401491" y="4008"/>
                  </a:lnTo>
                  <a:lnTo>
                    <a:pt x="4381766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1025093"/>
              <a:ext cx="4432566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1417802"/>
              <a:ext cx="101599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1405102"/>
              <a:ext cx="4381715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311" y="896315"/>
              <a:ext cx="50749" cy="521487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1069378"/>
              <a:ext cx="4432935" cy="399415"/>
            </a:xfrm>
            <a:custGeom>
              <a:avLst/>
              <a:gdLst/>
              <a:ahLst/>
              <a:cxnLst/>
              <a:rect l="l" t="t" r="r" b="b"/>
              <a:pathLst>
                <a:path w="4432935" h="399415">
                  <a:moveTo>
                    <a:pt x="4432566" y="0"/>
                  </a:moveTo>
                  <a:lnTo>
                    <a:pt x="0" y="0"/>
                  </a:lnTo>
                  <a:lnTo>
                    <a:pt x="0" y="348424"/>
                  </a:lnTo>
                  <a:lnTo>
                    <a:pt x="4008" y="368149"/>
                  </a:lnTo>
                  <a:lnTo>
                    <a:pt x="14922" y="384302"/>
                  </a:lnTo>
                  <a:lnTo>
                    <a:pt x="31075" y="395216"/>
                  </a:lnTo>
                  <a:lnTo>
                    <a:pt x="50800" y="399224"/>
                  </a:lnTo>
                  <a:lnTo>
                    <a:pt x="4381766" y="399224"/>
                  </a:lnTo>
                  <a:lnTo>
                    <a:pt x="4401491" y="395216"/>
                  </a:lnTo>
                  <a:lnTo>
                    <a:pt x="4417644" y="384302"/>
                  </a:lnTo>
                  <a:lnTo>
                    <a:pt x="4428558" y="368149"/>
                  </a:lnTo>
                  <a:lnTo>
                    <a:pt x="4432566" y="348424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09" y="934415"/>
              <a:ext cx="0" cy="502920"/>
            </a:xfrm>
            <a:custGeom>
              <a:avLst/>
              <a:gdLst/>
              <a:ahLst/>
              <a:cxnLst/>
              <a:rect l="l" t="t" r="r" b="b"/>
              <a:pathLst>
                <a:path h="502919">
                  <a:moveTo>
                    <a:pt x="0" y="50243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09" y="92171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09" y="90901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09" y="89631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1597" y="1119111"/>
              <a:ext cx="64757" cy="6475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1597" y="1329143"/>
              <a:ext cx="64757" cy="64757"/>
            </a:xfrm>
            <a:prstGeom prst="rect">
              <a:avLst/>
            </a:prstGeom>
          </p:spPr>
        </p:pic>
      </p:grpSp>
      <p:grpSp>
        <p:nvGrpSpPr>
          <p:cNvPr id="16" name="object 16"/>
          <p:cNvGrpSpPr/>
          <p:nvPr/>
        </p:nvGrpSpPr>
        <p:grpSpPr>
          <a:xfrm>
            <a:off x="87743" y="1620520"/>
            <a:ext cx="4483735" cy="658495"/>
            <a:chOff x="87743" y="1620520"/>
            <a:chExt cx="4483735" cy="658495"/>
          </a:xfrm>
        </p:grpSpPr>
        <p:sp>
          <p:nvSpPr>
            <p:cNvPr id="17" name="object 17"/>
            <p:cNvSpPr/>
            <p:nvPr/>
          </p:nvSpPr>
          <p:spPr>
            <a:xfrm>
              <a:off x="87743" y="1620520"/>
              <a:ext cx="4432935" cy="176530"/>
            </a:xfrm>
            <a:custGeom>
              <a:avLst/>
              <a:gdLst/>
              <a:ahLst/>
              <a:cxnLst/>
              <a:rect l="l" t="t" r="r" b="b"/>
              <a:pathLst>
                <a:path w="4432935" h="176530">
                  <a:moveTo>
                    <a:pt x="438176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76314"/>
                  </a:lnTo>
                  <a:lnTo>
                    <a:pt x="4432566" y="176314"/>
                  </a:lnTo>
                  <a:lnTo>
                    <a:pt x="4432566" y="50800"/>
                  </a:lnTo>
                  <a:lnTo>
                    <a:pt x="4428558" y="31075"/>
                  </a:lnTo>
                  <a:lnTo>
                    <a:pt x="4417644" y="14922"/>
                  </a:lnTo>
                  <a:lnTo>
                    <a:pt x="4401491" y="4008"/>
                  </a:lnTo>
                  <a:lnTo>
                    <a:pt x="4381766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7744" y="1784184"/>
              <a:ext cx="4432566" cy="50609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38544" y="2176881"/>
              <a:ext cx="101599" cy="10160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89344" y="2164181"/>
              <a:ext cx="4381715" cy="11430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520311" y="1664754"/>
              <a:ext cx="50749" cy="512127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87743" y="1828457"/>
              <a:ext cx="4432935" cy="399415"/>
            </a:xfrm>
            <a:custGeom>
              <a:avLst/>
              <a:gdLst/>
              <a:ahLst/>
              <a:cxnLst/>
              <a:rect l="l" t="t" r="r" b="b"/>
              <a:pathLst>
                <a:path w="4432935" h="399414">
                  <a:moveTo>
                    <a:pt x="4432566" y="0"/>
                  </a:moveTo>
                  <a:lnTo>
                    <a:pt x="0" y="0"/>
                  </a:lnTo>
                  <a:lnTo>
                    <a:pt x="0" y="348424"/>
                  </a:lnTo>
                  <a:lnTo>
                    <a:pt x="4008" y="368149"/>
                  </a:lnTo>
                  <a:lnTo>
                    <a:pt x="14922" y="384301"/>
                  </a:lnTo>
                  <a:lnTo>
                    <a:pt x="31075" y="395216"/>
                  </a:lnTo>
                  <a:lnTo>
                    <a:pt x="50800" y="399224"/>
                  </a:lnTo>
                  <a:lnTo>
                    <a:pt x="4381766" y="399224"/>
                  </a:lnTo>
                  <a:lnTo>
                    <a:pt x="4401491" y="395216"/>
                  </a:lnTo>
                  <a:lnTo>
                    <a:pt x="4417644" y="384301"/>
                  </a:lnTo>
                  <a:lnTo>
                    <a:pt x="4428558" y="368149"/>
                  </a:lnTo>
                  <a:lnTo>
                    <a:pt x="4432566" y="348424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520309" y="1702854"/>
              <a:ext cx="0" cy="493395"/>
            </a:xfrm>
            <a:custGeom>
              <a:avLst/>
              <a:gdLst/>
              <a:ahLst/>
              <a:cxnLst/>
              <a:rect l="l" t="t" r="r" b="b"/>
              <a:pathLst>
                <a:path h="493394">
                  <a:moveTo>
                    <a:pt x="0" y="49307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520309" y="169014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520309" y="167744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520309" y="166474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81597" y="1878203"/>
              <a:ext cx="64757" cy="64757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81597" y="2088235"/>
              <a:ext cx="64757" cy="64757"/>
            </a:xfrm>
            <a:prstGeom prst="rect">
              <a:avLst/>
            </a:prstGeom>
          </p:spPr>
        </p:pic>
      </p:grpSp>
      <p:grpSp>
        <p:nvGrpSpPr>
          <p:cNvPr id="29" name="object 29"/>
          <p:cNvGrpSpPr/>
          <p:nvPr/>
        </p:nvGrpSpPr>
        <p:grpSpPr>
          <a:xfrm>
            <a:off x="87743" y="2379611"/>
            <a:ext cx="4483735" cy="664845"/>
            <a:chOff x="87743" y="2379611"/>
            <a:chExt cx="4483735" cy="664845"/>
          </a:xfrm>
        </p:grpSpPr>
        <p:sp>
          <p:nvSpPr>
            <p:cNvPr id="30" name="object 30"/>
            <p:cNvSpPr/>
            <p:nvPr/>
          </p:nvSpPr>
          <p:spPr>
            <a:xfrm>
              <a:off x="87743" y="2379611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6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66" y="185674"/>
                  </a:lnTo>
                  <a:lnTo>
                    <a:pt x="4432566" y="50800"/>
                  </a:lnTo>
                  <a:lnTo>
                    <a:pt x="4428558" y="31075"/>
                  </a:lnTo>
                  <a:lnTo>
                    <a:pt x="4417644" y="14922"/>
                  </a:lnTo>
                  <a:lnTo>
                    <a:pt x="4401491" y="4008"/>
                  </a:lnTo>
                  <a:lnTo>
                    <a:pt x="4381766" y="0"/>
                  </a:lnTo>
                  <a:close/>
                </a:path>
              </a:pathLst>
            </a:custGeom>
            <a:solidFill>
              <a:srgbClr val="FF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87744" y="2552623"/>
              <a:ext cx="4432566" cy="50609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38544" y="2942463"/>
              <a:ext cx="101599" cy="101600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89344" y="2929763"/>
              <a:ext cx="4381715" cy="114300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4520311" y="2423845"/>
              <a:ext cx="50749" cy="518617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87743" y="2596908"/>
              <a:ext cx="4432935" cy="396875"/>
            </a:xfrm>
            <a:custGeom>
              <a:avLst/>
              <a:gdLst/>
              <a:ahLst/>
              <a:cxnLst/>
              <a:rect l="l" t="t" r="r" b="b"/>
              <a:pathLst>
                <a:path w="4432935" h="396875">
                  <a:moveTo>
                    <a:pt x="4432566" y="0"/>
                  </a:moveTo>
                  <a:lnTo>
                    <a:pt x="0" y="0"/>
                  </a:lnTo>
                  <a:lnTo>
                    <a:pt x="0" y="345554"/>
                  </a:lnTo>
                  <a:lnTo>
                    <a:pt x="4008" y="365278"/>
                  </a:lnTo>
                  <a:lnTo>
                    <a:pt x="14922" y="381431"/>
                  </a:lnTo>
                  <a:lnTo>
                    <a:pt x="31075" y="392345"/>
                  </a:lnTo>
                  <a:lnTo>
                    <a:pt x="50800" y="396354"/>
                  </a:lnTo>
                  <a:lnTo>
                    <a:pt x="4381766" y="396354"/>
                  </a:lnTo>
                  <a:lnTo>
                    <a:pt x="4401491" y="392345"/>
                  </a:lnTo>
                  <a:lnTo>
                    <a:pt x="4417644" y="381431"/>
                  </a:lnTo>
                  <a:lnTo>
                    <a:pt x="4428558" y="365278"/>
                  </a:lnTo>
                  <a:lnTo>
                    <a:pt x="4432566" y="345554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FFE5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520309" y="2461945"/>
              <a:ext cx="0" cy="499745"/>
            </a:xfrm>
            <a:custGeom>
              <a:avLst/>
              <a:gdLst/>
              <a:ahLst/>
              <a:cxnLst/>
              <a:rect l="l" t="t" r="r" b="b"/>
              <a:pathLst>
                <a:path h="499744">
                  <a:moveTo>
                    <a:pt x="0" y="49956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4520309" y="244924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4520309" y="243654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4520309" y="242384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40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281597" y="2643771"/>
              <a:ext cx="64757" cy="64757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281597" y="2853804"/>
              <a:ext cx="64757" cy="64757"/>
            </a:xfrm>
            <a:prstGeom prst="rect">
              <a:avLst/>
            </a:prstGeom>
          </p:spPr>
        </p:pic>
      </p:grpSp>
      <p:sp>
        <p:nvSpPr>
          <p:cNvPr id="42" name="object 42"/>
          <p:cNvSpPr txBox="1"/>
          <p:nvPr/>
        </p:nvSpPr>
        <p:spPr>
          <a:xfrm>
            <a:off x="125844" y="497888"/>
            <a:ext cx="4149725" cy="2461260"/>
          </a:xfrm>
          <a:prstGeom prst="rect">
            <a:avLst/>
          </a:prstGeom>
        </p:spPr>
        <p:txBody>
          <a:bodyPr vert="horz" wrap="square" lIns="0" tIns="10413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19"/>
              </a:spcBef>
            </a:pPr>
            <a:r>
              <a:rPr sz="950" dirty="0">
                <a:latin typeface="Trebuchet MS"/>
                <a:cs typeface="Trebuchet MS"/>
              </a:rPr>
              <a:t>Consider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words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big</a:t>
            </a:r>
            <a:r>
              <a:rPr sz="950" i="1" spc="114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and</a:t>
            </a:r>
            <a:r>
              <a:rPr sz="950" spc="55" dirty="0">
                <a:latin typeface="Trebuchet MS"/>
                <a:cs typeface="Trebuchet MS"/>
              </a:rPr>
              <a:t> </a:t>
            </a:r>
            <a:r>
              <a:rPr sz="950" i="1" spc="-10" dirty="0">
                <a:latin typeface="Trebuchet MS"/>
                <a:cs typeface="Trebuchet MS"/>
              </a:rPr>
              <a:t>large</a:t>
            </a:r>
            <a:r>
              <a:rPr sz="950" spc="-10" dirty="0">
                <a:latin typeface="Trebuchet MS"/>
                <a:cs typeface="Trebuchet MS"/>
              </a:rPr>
              <a:t>.</a:t>
            </a:r>
            <a:endParaRPr sz="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sz="1100" i="1" dirty="0">
                <a:solidFill>
                  <a:srgbClr val="3333B2"/>
                </a:solidFill>
                <a:latin typeface="Cambria"/>
                <a:cs typeface="Cambria"/>
              </a:rPr>
              <a:t>Are</a:t>
            </a:r>
            <a:r>
              <a:rPr sz="1100" i="1" spc="-25" dirty="0">
                <a:solidFill>
                  <a:srgbClr val="3333B2"/>
                </a:solidFill>
                <a:latin typeface="Cambria"/>
                <a:cs typeface="Cambria"/>
              </a:rPr>
              <a:t> </a:t>
            </a:r>
            <a:r>
              <a:rPr sz="1100" i="1" spc="-40" dirty="0">
                <a:solidFill>
                  <a:srgbClr val="3333B2"/>
                </a:solidFill>
                <a:latin typeface="Cambria"/>
                <a:cs typeface="Cambria"/>
              </a:rPr>
              <a:t>they</a:t>
            </a:r>
            <a:r>
              <a:rPr sz="1100" i="1" spc="-20" dirty="0">
                <a:solidFill>
                  <a:srgbClr val="3333B2"/>
                </a:solidFill>
                <a:latin typeface="Cambria"/>
                <a:cs typeface="Cambria"/>
              </a:rPr>
              <a:t> </a:t>
            </a:r>
            <a:r>
              <a:rPr sz="1100" i="1" spc="-10" dirty="0">
                <a:solidFill>
                  <a:srgbClr val="3333B2"/>
                </a:solidFill>
                <a:latin typeface="Cambria"/>
                <a:cs typeface="Cambria"/>
              </a:rPr>
              <a:t>synonyms?</a:t>
            </a:r>
            <a:endParaRPr sz="1100">
              <a:latin typeface="Cambria"/>
              <a:cs typeface="Cambria"/>
            </a:endParaRPr>
          </a:p>
          <a:p>
            <a:pPr marL="289560">
              <a:lnSpc>
                <a:spcPct val="100000"/>
              </a:lnSpc>
              <a:spcBef>
                <a:spcPts val="425"/>
              </a:spcBef>
            </a:pPr>
            <a:r>
              <a:rPr sz="950" dirty="0">
                <a:latin typeface="Trebuchet MS"/>
                <a:cs typeface="Trebuchet MS"/>
              </a:rPr>
              <a:t>How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b="1" spc="50" dirty="0">
                <a:latin typeface="Trebuchet MS"/>
                <a:cs typeface="Trebuchet MS"/>
              </a:rPr>
              <a:t>big</a:t>
            </a:r>
            <a:r>
              <a:rPr sz="950" b="1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is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spc="-30" dirty="0">
                <a:latin typeface="Trebuchet MS"/>
                <a:cs typeface="Trebuchet MS"/>
              </a:rPr>
              <a:t>that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plane?</a:t>
            </a:r>
            <a:endParaRPr sz="950">
              <a:latin typeface="Trebuchet MS"/>
              <a:cs typeface="Trebuchet MS"/>
            </a:endParaRPr>
          </a:p>
          <a:p>
            <a:pPr marL="289560">
              <a:lnSpc>
                <a:spcPct val="100000"/>
              </a:lnSpc>
              <a:spcBef>
                <a:spcPts val="515"/>
              </a:spcBef>
            </a:pPr>
            <a:r>
              <a:rPr sz="950" dirty="0">
                <a:latin typeface="Trebuchet MS"/>
                <a:cs typeface="Trebuchet MS"/>
              </a:rPr>
              <a:t>Would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be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flying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on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b="1" dirty="0">
                <a:latin typeface="Trebuchet MS"/>
                <a:cs typeface="Trebuchet MS"/>
              </a:rPr>
              <a:t>large</a:t>
            </a:r>
            <a:r>
              <a:rPr sz="950" b="1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or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small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plane?</a:t>
            </a:r>
            <a:endParaRPr sz="9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09"/>
              </a:spcBef>
            </a:pPr>
            <a:endParaRPr sz="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100" i="1" dirty="0">
                <a:solidFill>
                  <a:srgbClr val="3333B2"/>
                </a:solidFill>
                <a:latin typeface="Cambria"/>
                <a:cs typeface="Cambria"/>
              </a:rPr>
              <a:t>How </a:t>
            </a:r>
            <a:r>
              <a:rPr sz="1100" i="1" spc="-40" dirty="0">
                <a:solidFill>
                  <a:srgbClr val="3333B2"/>
                </a:solidFill>
                <a:latin typeface="Cambria"/>
                <a:cs typeface="Cambria"/>
              </a:rPr>
              <a:t>about</a:t>
            </a:r>
            <a:r>
              <a:rPr sz="1100" i="1" dirty="0">
                <a:solidFill>
                  <a:srgbClr val="3333B2"/>
                </a:solidFill>
                <a:latin typeface="Cambria"/>
                <a:cs typeface="Cambria"/>
              </a:rPr>
              <a:t> </a:t>
            </a:r>
            <a:r>
              <a:rPr sz="1100" i="1" spc="-10" dirty="0">
                <a:solidFill>
                  <a:srgbClr val="3333B2"/>
                </a:solidFill>
                <a:latin typeface="Cambria"/>
                <a:cs typeface="Cambria"/>
              </a:rPr>
              <a:t>here?</a:t>
            </a:r>
            <a:endParaRPr sz="1100">
              <a:latin typeface="Cambria"/>
              <a:cs typeface="Cambria"/>
            </a:endParaRPr>
          </a:p>
          <a:p>
            <a:pPr marL="289560">
              <a:lnSpc>
                <a:spcPct val="100000"/>
              </a:lnSpc>
              <a:spcBef>
                <a:spcPts val="350"/>
              </a:spcBef>
            </a:pPr>
            <a:r>
              <a:rPr sz="950" spc="65" dirty="0">
                <a:latin typeface="Trebuchet MS"/>
                <a:cs typeface="Trebuchet MS"/>
              </a:rPr>
              <a:t>Miss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Nelson,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40" dirty="0">
                <a:latin typeface="Trebuchet MS"/>
                <a:cs typeface="Trebuchet MS"/>
              </a:rPr>
              <a:t>for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instance,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became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kind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b="1" spc="50" dirty="0">
                <a:latin typeface="Trebuchet MS"/>
                <a:cs typeface="Trebuchet MS"/>
              </a:rPr>
              <a:t>big</a:t>
            </a:r>
            <a:r>
              <a:rPr sz="950" b="1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sister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to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Benjamin.</a:t>
            </a:r>
            <a:endParaRPr sz="950">
              <a:latin typeface="Trebuchet MS"/>
              <a:cs typeface="Trebuchet MS"/>
            </a:endParaRPr>
          </a:p>
          <a:p>
            <a:pPr marL="289560">
              <a:lnSpc>
                <a:spcPct val="100000"/>
              </a:lnSpc>
              <a:spcBef>
                <a:spcPts val="515"/>
              </a:spcBef>
            </a:pPr>
            <a:r>
              <a:rPr sz="950" spc="60" dirty="0">
                <a:latin typeface="Trebuchet MS"/>
                <a:cs typeface="Trebuchet MS"/>
              </a:rPr>
              <a:t>*Miss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Nelson,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spc="-40" dirty="0">
                <a:latin typeface="Trebuchet MS"/>
                <a:cs typeface="Trebuchet MS"/>
              </a:rPr>
              <a:t>for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instance,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became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kind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b="1" dirty="0">
                <a:latin typeface="Trebuchet MS"/>
                <a:cs typeface="Trebuchet MS"/>
              </a:rPr>
              <a:t>large</a:t>
            </a:r>
            <a:r>
              <a:rPr sz="950" b="1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sister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to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Benjamin.</a:t>
            </a:r>
            <a:endParaRPr sz="9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09"/>
              </a:spcBef>
            </a:pPr>
            <a:endParaRPr sz="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100" i="1" spc="-20" dirty="0">
                <a:solidFill>
                  <a:srgbClr val="FF0000"/>
                </a:solidFill>
                <a:latin typeface="Cambria"/>
                <a:cs typeface="Cambria"/>
              </a:rPr>
              <a:t>Why?</a:t>
            </a:r>
            <a:endParaRPr sz="1100">
              <a:latin typeface="Cambria"/>
              <a:cs typeface="Cambria"/>
            </a:endParaRPr>
          </a:p>
          <a:p>
            <a:pPr marL="289560">
              <a:lnSpc>
                <a:spcPct val="100000"/>
              </a:lnSpc>
              <a:spcBef>
                <a:spcPts val="400"/>
              </a:spcBef>
            </a:pPr>
            <a:r>
              <a:rPr sz="950" i="1" dirty="0">
                <a:latin typeface="Trebuchet MS"/>
                <a:cs typeface="Trebuchet MS"/>
              </a:rPr>
              <a:t>big</a:t>
            </a:r>
            <a:r>
              <a:rPr sz="950" i="1" spc="75" dirty="0">
                <a:latin typeface="Trebuchet MS"/>
                <a:cs typeface="Trebuchet MS"/>
              </a:rPr>
              <a:t> </a:t>
            </a:r>
            <a:r>
              <a:rPr sz="950" spc="55" dirty="0">
                <a:latin typeface="Trebuchet MS"/>
                <a:cs typeface="Trebuchet MS"/>
              </a:rPr>
              <a:t>has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spc="55" dirty="0">
                <a:latin typeface="Trebuchet MS"/>
                <a:cs typeface="Trebuchet MS"/>
              </a:rPr>
              <a:t>sense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spc="-30" dirty="0">
                <a:latin typeface="Trebuchet MS"/>
                <a:cs typeface="Trebuchet MS"/>
              </a:rPr>
              <a:t>that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means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being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older,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or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grown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up</a:t>
            </a:r>
            <a:endParaRPr sz="950">
              <a:latin typeface="Trebuchet MS"/>
              <a:cs typeface="Trebuchet MS"/>
            </a:endParaRPr>
          </a:p>
          <a:p>
            <a:pPr marL="289560">
              <a:lnSpc>
                <a:spcPct val="100000"/>
              </a:lnSpc>
              <a:spcBef>
                <a:spcPts val="515"/>
              </a:spcBef>
            </a:pPr>
            <a:r>
              <a:rPr sz="950" i="1" dirty="0">
                <a:latin typeface="Trebuchet MS"/>
                <a:cs typeface="Trebuchet MS"/>
              </a:rPr>
              <a:t>large</a:t>
            </a:r>
            <a:r>
              <a:rPr sz="950" i="1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lacks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this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spc="45" dirty="0">
                <a:latin typeface="Trebuchet MS"/>
                <a:cs typeface="Trebuchet MS"/>
              </a:rPr>
              <a:t>sense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48" name="object 4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20" dirty="0"/>
              <a:t>Pawan</a:t>
            </a:r>
            <a:r>
              <a:rPr spc="15" dirty="0"/>
              <a:t> </a:t>
            </a:r>
            <a:r>
              <a:rPr dirty="0"/>
              <a:t>Goyal</a:t>
            </a:r>
            <a:r>
              <a:rPr spc="170" dirty="0"/>
              <a:t> </a:t>
            </a:r>
            <a:r>
              <a:rPr dirty="0"/>
              <a:t>(IIT</a:t>
            </a:r>
            <a:r>
              <a:rPr spc="15" dirty="0"/>
              <a:t> </a:t>
            </a:r>
            <a:r>
              <a:rPr spc="-10" dirty="0"/>
              <a:t>Kharagpur)</a:t>
            </a:r>
          </a:p>
        </p:txBody>
      </p:sp>
      <p:sp>
        <p:nvSpPr>
          <p:cNvPr id="50" name="object 50"/>
          <p:cNvSpPr txBox="1"/>
          <p:nvPr/>
        </p:nvSpPr>
        <p:spPr>
          <a:xfrm>
            <a:off x="360826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1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4317426" y="3339672"/>
            <a:ext cx="236854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12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18</a:t>
            </a:r>
            <a:endParaRPr sz="600">
              <a:latin typeface="Cambria"/>
              <a:cs typeface="Cambria"/>
            </a:endParaRPr>
          </a:p>
        </p:txBody>
      </p:sp>
    </p:spTree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60502"/>
            <a:ext cx="75438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Synonyms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911885"/>
            <a:ext cx="4483735" cy="666115"/>
            <a:chOff x="87743" y="911885"/>
            <a:chExt cx="4483735" cy="666115"/>
          </a:xfrm>
        </p:grpSpPr>
        <p:sp>
          <p:nvSpPr>
            <p:cNvPr id="4" name="object 4"/>
            <p:cNvSpPr/>
            <p:nvPr/>
          </p:nvSpPr>
          <p:spPr>
            <a:xfrm>
              <a:off x="87743" y="911885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6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66" y="185674"/>
                  </a:lnTo>
                  <a:lnTo>
                    <a:pt x="4432566" y="50800"/>
                  </a:lnTo>
                  <a:lnTo>
                    <a:pt x="4428558" y="31075"/>
                  </a:lnTo>
                  <a:lnTo>
                    <a:pt x="4417644" y="14922"/>
                  </a:lnTo>
                  <a:lnTo>
                    <a:pt x="4401491" y="4008"/>
                  </a:lnTo>
                  <a:lnTo>
                    <a:pt x="4381766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1084897"/>
              <a:ext cx="4432566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1476108"/>
              <a:ext cx="101599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1463408"/>
              <a:ext cx="4381715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311" y="956119"/>
              <a:ext cx="50749" cy="519988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1129182"/>
              <a:ext cx="4432935" cy="398145"/>
            </a:xfrm>
            <a:custGeom>
              <a:avLst/>
              <a:gdLst/>
              <a:ahLst/>
              <a:cxnLst/>
              <a:rect l="l" t="t" r="r" b="b"/>
              <a:pathLst>
                <a:path w="4432935" h="398144">
                  <a:moveTo>
                    <a:pt x="4432566" y="0"/>
                  </a:moveTo>
                  <a:lnTo>
                    <a:pt x="0" y="0"/>
                  </a:lnTo>
                  <a:lnTo>
                    <a:pt x="0" y="346925"/>
                  </a:lnTo>
                  <a:lnTo>
                    <a:pt x="4008" y="366650"/>
                  </a:lnTo>
                  <a:lnTo>
                    <a:pt x="14922" y="382803"/>
                  </a:lnTo>
                  <a:lnTo>
                    <a:pt x="31075" y="393717"/>
                  </a:lnTo>
                  <a:lnTo>
                    <a:pt x="50800" y="397725"/>
                  </a:lnTo>
                  <a:lnTo>
                    <a:pt x="4381766" y="397725"/>
                  </a:lnTo>
                  <a:lnTo>
                    <a:pt x="4401491" y="393717"/>
                  </a:lnTo>
                  <a:lnTo>
                    <a:pt x="4417644" y="382803"/>
                  </a:lnTo>
                  <a:lnTo>
                    <a:pt x="4428558" y="366650"/>
                  </a:lnTo>
                  <a:lnTo>
                    <a:pt x="4432566" y="346925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09" y="994219"/>
              <a:ext cx="0" cy="501015"/>
            </a:xfrm>
            <a:custGeom>
              <a:avLst/>
              <a:gdLst/>
              <a:ahLst/>
              <a:cxnLst/>
              <a:rect l="l" t="t" r="r" b="b"/>
              <a:pathLst>
                <a:path h="501015">
                  <a:moveTo>
                    <a:pt x="0" y="50093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09" y="981518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09" y="968818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09" y="956118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1597" y="1178915"/>
              <a:ext cx="64757" cy="6475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1597" y="1388948"/>
              <a:ext cx="64757" cy="64757"/>
            </a:xfrm>
            <a:prstGeom prst="rect">
              <a:avLst/>
            </a:prstGeom>
          </p:spPr>
        </p:pic>
      </p:grpSp>
      <p:grpSp>
        <p:nvGrpSpPr>
          <p:cNvPr id="16" name="object 16"/>
          <p:cNvGrpSpPr/>
          <p:nvPr/>
        </p:nvGrpSpPr>
        <p:grpSpPr>
          <a:xfrm>
            <a:off x="87743" y="1678825"/>
            <a:ext cx="4483735" cy="975994"/>
            <a:chOff x="87743" y="1678825"/>
            <a:chExt cx="4483735" cy="975994"/>
          </a:xfrm>
        </p:grpSpPr>
        <p:sp>
          <p:nvSpPr>
            <p:cNvPr id="17" name="object 17"/>
            <p:cNvSpPr/>
            <p:nvPr/>
          </p:nvSpPr>
          <p:spPr>
            <a:xfrm>
              <a:off x="87743" y="1678825"/>
              <a:ext cx="4432935" cy="176530"/>
            </a:xfrm>
            <a:custGeom>
              <a:avLst/>
              <a:gdLst/>
              <a:ahLst/>
              <a:cxnLst/>
              <a:rect l="l" t="t" r="r" b="b"/>
              <a:pathLst>
                <a:path w="4432935" h="176530">
                  <a:moveTo>
                    <a:pt x="438176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76314"/>
                  </a:lnTo>
                  <a:lnTo>
                    <a:pt x="4432566" y="176314"/>
                  </a:lnTo>
                  <a:lnTo>
                    <a:pt x="4432566" y="50800"/>
                  </a:lnTo>
                  <a:lnTo>
                    <a:pt x="4428558" y="31075"/>
                  </a:lnTo>
                  <a:lnTo>
                    <a:pt x="4417644" y="14922"/>
                  </a:lnTo>
                  <a:lnTo>
                    <a:pt x="4401491" y="4008"/>
                  </a:lnTo>
                  <a:lnTo>
                    <a:pt x="4381766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1842490"/>
              <a:ext cx="4432566" cy="50609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38544" y="2553030"/>
              <a:ext cx="101599" cy="101599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89344" y="2540330"/>
              <a:ext cx="4381715" cy="11430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520311" y="1723059"/>
              <a:ext cx="50749" cy="829970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87743" y="1886762"/>
              <a:ext cx="4432935" cy="717550"/>
            </a:xfrm>
            <a:custGeom>
              <a:avLst/>
              <a:gdLst/>
              <a:ahLst/>
              <a:cxnLst/>
              <a:rect l="l" t="t" r="r" b="b"/>
              <a:pathLst>
                <a:path w="4432935" h="717550">
                  <a:moveTo>
                    <a:pt x="4432566" y="0"/>
                  </a:moveTo>
                  <a:lnTo>
                    <a:pt x="0" y="0"/>
                  </a:lnTo>
                  <a:lnTo>
                    <a:pt x="0" y="666267"/>
                  </a:lnTo>
                  <a:lnTo>
                    <a:pt x="4008" y="685992"/>
                  </a:lnTo>
                  <a:lnTo>
                    <a:pt x="14922" y="702144"/>
                  </a:lnTo>
                  <a:lnTo>
                    <a:pt x="31075" y="713058"/>
                  </a:lnTo>
                  <a:lnTo>
                    <a:pt x="50800" y="717067"/>
                  </a:lnTo>
                  <a:lnTo>
                    <a:pt x="4381766" y="717067"/>
                  </a:lnTo>
                  <a:lnTo>
                    <a:pt x="4401491" y="713058"/>
                  </a:lnTo>
                  <a:lnTo>
                    <a:pt x="4417644" y="702144"/>
                  </a:lnTo>
                  <a:lnTo>
                    <a:pt x="4428558" y="685992"/>
                  </a:lnTo>
                  <a:lnTo>
                    <a:pt x="4432566" y="666267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520309" y="1761147"/>
              <a:ext cx="0" cy="811530"/>
            </a:xfrm>
            <a:custGeom>
              <a:avLst/>
              <a:gdLst/>
              <a:ahLst/>
              <a:cxnLst/>
              <a:rect l="l" t="t" r="r" b="b"/>
              <a:pathLst>
                <a:path h="811530">
                  <a:moveTo>
                    <a:pt x="0" y="81093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520309" y="174845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520309" y="173575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520309" y="172305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81597" y="1936496"/>
              <a:ext cx="64757" cy="64757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81597" y="2318613"/>
              <a:ext cx="64757" cy="64757"/>
            </a:xfrm>
            <a:prstGeom prst="rect">
              <a:avLst/>
            </a:prstGeom>
          </p:spPr>
        </p:pic>
      </p:grpSp>
      <p:sp>
        <p:nvSpPr>
          <p:cNvPr id="29" name="object 29"/>
          <p:cNvSpPr txBox="1"/>
          <p:nvPr/>
        </p:nvSpPr>
        <p:spPr>
          <a:xfrm>
            <a:off x="125844" y="837238"/>
            <a:ext cx="4102735" cy="1758950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100" i="1" spc="-10" dirty="0">
                <a:solidFill>
                  <a:srgbClr val="3333B2"/>
                </a:solidFill>
                <a:latin typeface="Cambria"/>
                <a:cs typeface="Cambria"/>
              </a:rPr>
              <a:t>Shades</a:t>
            </a:r>
            <a:r>
              <a:rPr sz="1100" i="1" spc="-30" dirty="0">
                <a:solidFill>
                  <a:srgbClr val="3333B2"/>
                </a:solidFill>
                <a:latin typeface="Cambria"/>
                <a:cs typeface="Cambria"/>
              </a:rPr>
              <a:t> </a:t>
            </a:r>
            <a:r>
              <a:rPr sz="1100" i="1" dirty="0">
                <a:solidFill>
                  <a:srgbClr val="3333B2"/>
                </a:solidFill>
                <a:latin typeface="Cambria"/>
                <a:cs typeface="Cambria"/>
              </a:rPr>
              <a:t>of</a:t>
            </a:r>
            <a:r>
              <a:rPr sz="1100" i="1" spc="-25" dirty="0">
                <a:solidFill>
                  <a:srgbClr val="3333B2"/>
                </a:solidFill>
                <a:latin typeface="Cambria"/>
                <a:cs typeface="Cambria"/>
              </a:rPr>
              <a:t> </a:t>
            </a:r>
            <a:r>
              <a:rPr sz="1100" i="1" spc="-10" dirty="0">
                <a:solidFill>
                  <a:srgbClr val="3333B2"/>
                </a:solidFill>
                <a:latin typeface="Cambria"/>
                <a:cs typeface="Cambria"/>
              </a:rPr>
              <a:t>meaning</a:t>
            </a:r>
            <a:endParaRPr sz="1100">
              <a:latin typeface="Cambria"/>
              <a:cs typeface="Cambria"/>
            </a:endParaRPr>
          </a:p>
          <a:p>
            <a:pPr marL="289560">
              <a:lnSpc>
                <a:spcPct val="100000"/>
              </a:lnSpc>
              <a:spcBef>
                <a:spcPts val="425"/>
              </a:spcBef>
            </a:pPr>
            <a:r>
              <a:rPr sz="950" dirty="0">
                <a:latin typeface="Trebuchet MS"/>
                <a:cs typeface="Trebuchet MS"/>
              </a:rPr>
              <a:t>What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is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cheapest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spc="-35" dirty="0">
                <a:latin typeface="Trebuchet MS"/>
                <a:cs typeface="Trebuchet MS"/>
              </a:rPr>
              <a:t>first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class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i="1" spc="-10" dirty="0">
                <a:latin typeface="Trebuchet MS"/>
                <a:cs typeface="Trebuchet MS"/>
              </a:rPr>
              <a:t>fare</a:t>
            </a:r>
            <a:r>
              <a:rPr sz="950" spc="-10" dirty="0">
                <a:latin typeface="Trebuchet MS"/>
                <a:cs typeface="Trebuchet MS"/>
              </a:rPr>
              <a:t>?</a:t>
            </a:r>
            <a:endParaRPr sz="950">
              <a:latin typeface="Trebuchet MS"/>
              <a:cs typeface="Trebuchet MS"/>
            </a:endParaRPr>
          </a:p>
          <a:p>
            <a:pPr marL="289560">
              <a:lnSpc>
                <a:spcPct val="100000"/>
              </a:lnSpc>
              <a:spcBef>
                <a:spcPts val="509"/>
              </a:spcBef>
            </a:pPr>
            <a:r>
              <a:rPr sz="950" dirty="0">
                <a:latin typeface="Trebuchet MS"/>
                <a:cs typeface="Trebuchet MS"/>
              </a:rPr>
              <a:t>*What</a:t>
            </a:r>
            <a:r>
              <a:rPr sz="950" spc="5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is</a:t>
            </a:r>
            <a:r>
              <a:rPr sz="950" spc="5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5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cheapest</a:t>
            </a:r>
            <a:r>
              <a:rPr sz="950" spc="55" dirty="0">
                <a:latin typeface="Trebuchet MS"/>
                <a:cs typeface="Trebuchet MS"/>
              </a:rPr>
              <a:t> </a:t>
            </a:r>
            <a:r>
              <a:rPr sz="950" spc="-35" dirty="0">
                <a:latin typeface="Trebuchet MS"/>
                <a:cs typeface="Trebuchet MS"/>
              </a:rPr>
              <a:t>first</a:t>
            </a:r>
            <a:r>
              <a:rPr sz="950" spc="5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class</a:t>
            </a:r>
            <a:r>
              <a:rPr sz="950" spc="55" dirty="0">
                <a:latin typeface="Trebuchet MS"/>
                <a:cs typeface="Trebuchet MS"/>
              </a:rPr>
              <a:t> </a:t>
            </a:r>
            <a:r>
              <a:rPr sz="950" i="1" spc="-10" dirty="0">
                <a:latin typeface="Trebuchet MS"/>
                <a:cs typeface="Trebuchet MS"/>
              </a:rPr>
              <a:t>price</a:t>
            </a:r>
            <a:r>
              <a:rPr sz="950" spc="-10" dirty="0">
                <a:latin typeface="Trebuchet MS"/>
                <a:cs typeface="Trebuchet MS"/>
              </a:rPr>
              <a:t>?</a:t>
            </a:r>
            <a:endParaRPr sz="9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sz="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100" i="1" dirty="0">
                <a:solidFill>
                  <a:srgbClr val="3333B2"/>
                </a:solidFill>
                <a:latin typeface="Cambria"/>
                <a:cs typeface="Cambria"/>
              </a:rPr>
              <a:t>Collocational</a:t>
            </a:r>
            <a:r>
              <a:rPr sz="1100" i="1" spc="-35" dirty="0">
                <a:solidFill>
                  <a:srgbClr val="3333B2"/>
                </a:solidFill>
                <a:latin typeface="Cambria"/>
                <a:cs typeface="Cambria"/>
              </a:rPr>
              <a:t> </a:t>
            </a:r>
            <a:r>
              <a:rPr sz="1100" i="1" spc="-10" dirty="0">
                <a:solidFill>
                  <a:srgbClr val="3333B2"/>
                </a:solidFill>
                <a:latin typeface="Cambria"/>
                <a:cs typeface="Cambria"/>
              </a:rPr>
              <a:t>constraints</a:t>
            </a:r>
            <a:endParaRPr sz="1100">
              <a:latin typeface="Cambria"/>
              <a:cs typeface="Cambria"/>
            </a:endParaRPr>
          </a:p>
          <a:p>
            <a:pPr marL="289560">
              <a:lnSpc>
                <a:spcPct val="100000"/>
              </a:lnSpc>
              <a:spcBef>
                <a:spcPts val="350"/>
              </a:spcBef>
            </a:pPr>
            <a:r>
              <a:rPr sz="950" spc="55" dirty="0">
                <a:latin typeface="Trebuchet MS"/>
                <a:cs typeface="Trebuchet MS"/>
              </a:rPr>
              <a:t>We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frustate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’em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and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frustate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spc="-35" dirty="0">
                <a:latin typeface="Trebuchet MS"/>
                <a:cs typeface="Trebuchet MS"/>
              </a:rPr>
              <a:t>’em,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and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spc="-30" dirty="0">
                <a:latin typeface="Trebuchet MS"/>
                <a:cs typeface="Trebuchet MS"/>
              </a:rPr>
              <a:t>pretty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soon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they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make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i="1" spc="-25" dirty="0">
                <a:latin typeface="Trebuchet MS"/>
                <a:cs typeface="Trebuchet MS"/>
              </a:rPr>
              <a:t>big</a:t>
            </a:r>
            <a:endParaRPr sz="950">
              <a:latin typeface="Trebuchet MS"/>
              <a:cs typeface="Trebuchet MS"/>
            </a:endParaRPr>
          </a:p>
          <a:p>
            <a:pPr marL="289560">
              <a:lnSpc>
                <a:spcPct val="100000"/>
              </a:lnSpc>
              <a:spcBef>
                <a:spcPts val="215"/>
              </a:spcBef>
            </a:pPr>
            <a:r>
              <a:rPr sz="950" spc="-10" dirty="0">
                <a:latin typeface="Trebuchet MS"/>
                <a:cs typeface="Trebuchet MS"/>
              </a:rPr>
              <a:t>mistake.</a:t>
            </a:r>
            <a:endParaRPr sz="950">
              <a:latin typeface="Trebuchet MS"/>
              <a:cs typeface="Trebuchet MS"/>
            </a:endParaRPr>
          </a:p>
          <a:p>
            <a:pPr marL="289560">
              <a:lnSpc>
                <a:spcPct val="100000"/>
              </a:lnSpc>
              <a:spcBef>
                <a:spcPts val="515"/>
              </a:spcBef>
            </a:pPr>
            <a:r>
              <a:rPr sz="950" dirty="0">
                <a:latin typeface="Trebuchet MS"/>
                <a:cs typeface="Trebuchet MS"/>
              </a:rPr>
              <a:t>*We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frustate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’em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and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frustate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spc="-35" dirty="0">
                <a:latin typeface="Trebuchet MS"/>
                <a:cs typeface="Trebuchet MS"/>
              </a:rPr>
              <a:t>’em,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and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spc="-30" dirty="0">
                <a:latin typeface="Trebuchet MS"/>
                <a:cs typeface="Trebuchet MS"/>
              </a:rPr>
              <a:t>pretty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soon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they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make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i="1" spc="-10" dirty="0">
                <a:latin typeface="Trebuchet MS"/>
                <a:cs typeface="Trebuchet MS"/>
              </a:rPr>
              <a:t>large</a:t>
            </a:r>
            <a:endParaRPr sz="950">
              <a:latin typeface="Trebuchet MS"/>
              <a:cs typeface="Trebuchet MS"/>
            </a:endParaRPr>
          </a:p>
          <a:p>
            <a:pPr marL="289560">
              <a:lnSpc>
                <a:spcPct val="100000"/>
              </a:lnSpc>
              <a:spcBef>
                <a:spcPts val="215"/>
              </a:spcBef>
            </a:pPr>
            <a:r>
              <a:rPr sz="950" spc="-10" dirty="0">
                <a:latin typeface="Trebuchet MS"/>
                <a:cs typeface="Trebuchet MS"/>
              </a:rPr>
              <a:t>mistake.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35" name="object 3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20" dirty="0"/>
              <a:t>Pawan</a:t>
            </a:r>
            <a:r>
              <a:rPr spc="15" dirty="0"/>
              <a:t> </a:t>
            </a:r>
            <a:r>
              <a:rPr dirty="0"/>
              <a:t>Goyal</a:t>
            </a:r>
            <a:r>
              <a:rPr spc="170" dirty="0"/>
              <a:t> </a:t>
            </a:r>
            <a:r>
              <a:rPr dirty="0"/>
              <a:t>(IIT</a:t>
            </a:r>
            <a:r>
              <a:rPr spc="15" dirty="0"/>
              <a:t> </a:t>
            </a:r>
            <a:r>
              <a:rPr spc="-10" dirty="0"/>
              <a:t>Kharagpur)</a:t>
            </a:r>
          </a:p>
        </p:txBody>
      </p:sp>
      <p:sp>
        <p:nvSpPr>
          <p:cNvPr id="37" name="object 37"/>
          <p:cNvSpPr txBox="1"/>
          <p:nvPr/>
        </p:nvSpPr>
        <p:spPr>
          <a:xfrm>
            <a:off x="360826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1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317426" y="3339672"/>
            <a:ext cx="236854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13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18</a:t>
            </a:r>
            <a:endParaRPr sz="600">
              <a:latin typeface="Cambria"/>
              <a:cs typeface="Cambria"/>
            </a:endParaRPr>
          </a:p>
        </p:txBody>
      </p:sp>
    </p:spTree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60502"/>
            <a:ext cx="74422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0" dirty="0"/>
              <a:t>Antonyms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597" y="842543"/>
            <a:ext cx="64757" cy="6475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597" y="1032332"/>
            <a:ext cx="64757" cy="64757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87743" y="2063597"/>
            <a:ext cx="4483735" cy="814705"/>
            <a:chOff x="87743" y="2063597"/>
            <a:chExt cx="4483735" cy="814705"/>
          </a:xfrm>
        </p:grpSpPr>
        <p:sp>
          <p:nvSpPr>
            <p:cNvPr id="6" name="object 6"/>
            <p:cNvSpPr/>
            <p:nvPr/>
          </p:nvSpPr>
          <p:spPr>
            <a:xfrm>
              <a:off x="87743" y="2063597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6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66" y="185674"/>
                  </a:lnTo>
                  <a:lnTo>
                    <a:pt x="4432566" y="50800"/>
                  </a:lnTo>
                  <a:lnTo>
                    <a:pt x="4428558" y="31075"/>
                  </a:lnTo>
                  <a:lnTo>
                    <a:pt x="4417644" y="14922"/>
                  </a:lnTo>
                  <a:lnTo>
                    <a:pt x="4401491" y="4008"/>
                  </a:lnTo>
                  <a:lnTo>
                    <a:pt x="4381766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7744" y="2236609"/>
              <a:ext cx="4432566" cy="5060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8544" y="2776194"/>
              <a:ext cx="101599" cy="10160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89344" y="2763494"/>
              <a:ext cx="4381715" cy="11430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520311" y="2107831"/>
              <a:ext cx="50749" cy="668362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87743" y="2280881"/>
              <a:ext cx="4432935" cy="546735"/>
            </a:xfrm>
            <a:custGeom>
              <a:avLst/>
              <a:gdLst/>
              <a:ahLst/>
              <a:cxnLst/>
              <a:rect l="l" t="t" r="r" b="b"/>
              <a:pathLst>
                <a:path w="4432935" h="546735">
                  <a:moveTo>
                    <a:pt x="4432566" y="0"/>
                  </a:moveTo>
                  <a:lnTo>
                    <a:pt x="0" y="0"/>
                  </a:lnTo>
                  <a:lnTo>
                    <a:pt x="0" y="495312"/>
                  </a:lnTo>
                  <a:lnTo>
                    <a:pt x="4008" y="515037"/>
                  </a:lnTo>
                  <a:lnTo>
                    <a:pt x="14922" y="531190"/>
                  </a:lnTo>
                  <a:lnTo>
                    <a:pt x="31075" y="542104"/>
                  </a:lnTo>
                  <a:lnTo>
                    <a:pt x="50800" y="546112"/>
                  </a:lnTo>
                  <a:lnTo>
                    <a:pt x="4381766" y="546112"/>
                  </a:lnTo>
                  <a:lnTo>
                    <a:pt x="4401491" y="542104"/>
                  </a:lnTo>
                  <a:lnTo>
                    <a:pt x="4417644" y="531190"/>
                  </a:lnTo>
                  <a:lnTo>
                    <a:pt x="4428558" y="515037"/>
                  </a:lnTo>
                  <a:lnTo>
                    <a:pt x="4432566" y="495312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09" y="2145919"/>
              <a:ext cx="0" cy="649605"/>
            </a:xfrm>
            <a:custGeom>
              <a:avLst/>
              <a:gdLst/>
              <a:ahLst/>
              <a:cxnLst/>
              <a:rect l="l" t="t" r="r" b="b"/>
              <a:pathLst>
                <a:path h="649605">
                  <a:moveTo>
                    <a:pt x="0" y="649325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09" y="213321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520309" y="212051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520309" y="210781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81597" y="2330615"/>
              <a:ext cx="64757" cy="64757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81597" y="2712720"/>
              <a:ext cx="64757" cy="64757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100444" y="732277"/>
            <a:ext cx="4249420" cy="208597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14960" marR="55880">
              <a:lnSpc>
                <a:spcPct val="131100"/>
              </a:lnSpc>
              <a:spcBef>
                <a:spcPts val="90"/>
              </a:spcBef>
            </a:pPr>
            <a:r>
              <a:rPr sz="950" spc="75" dirty="0">
                <a:latin typeface="Trebuchet MS"/>
                <a:cs typeface="Trebuchet MS"/>
              </a:rPr>
              <a:t>Senses</a:t>
            </a:r>
            <a:r>
              <a:rPr sz="950" dirty="0">
                <a:latin typeface="Trebuchet MS"/>
                <a:cs typeface="Trebuchet MS"/>
              </a:rPr>
              <a:t> </a:t>
            </a:r>
            <a:r>
              <a:rPr sz="950" spc="-30" dirty="0">
                <a:latin typeface="Trebuchet MS"/>
                <a:cs typeface="Trebuchet MS"/>
              </a:rPr>
              <a:t>that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are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opposites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spc="-40" dirty="0">
                <a:latin typeface="Trebuchet MS"/>
                <a:cs typeface="Trebuchet MS"/>
              </a:rPr>
              <a:t>with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respect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to</a:t>
            </a:r>
            <a:r>
              <a:rPr sz="950" dirty="0">
                <a:latin typeface="Trebuchet MS"/>
                <a:cs typeface="Trebuchet MS"/>
              </a:rPr>
              <a:t> one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feature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spc="-30" dirty="0">
                <a:latin typeface="Trebuchet MS"/>
                <a:cs typeface="Trebuchet MS"/>
              </a:rPr>
              <a:t>their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meaning </a:t>
            </a:r>
            <a:r>
              <a:rPr sz="950" dirty="0">
                <a:latin typeface="Trebuchet MS"/>
                <a:cs typeface="Trebuchet MS"/>
              </a:rPr>
              <a:t>Otherwise,</a:t>
            </a:r>
            <a:r>
              <a:rPr sz="950" spc="-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they</a:t>
            </a:r>
            <a:r>
              <a:rPr sz="950" spc="-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are</a:t>
            </a:r>
            <a:r>
              <a:rPr sz="950" spc="-2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similar!</a:t>
            </a:r>
            <a:endParaRPr sz="950">
              <a:latin typeface="Trebuchet MS"/>
              <a:cs typeface="Trebuchet MS"/>
            </a:endParaRPr>
          </a:p>
          <a:p>
            <a:pPr marL="590550" indent="-116205">
              <a:lnSpc>
                <a:spcPct val="100000"/>
              </a:lnSpc>
              <a:spcBef>
                <a:spcPts val="305"/>
              </a:spcBef>
              <a:buClr>
                <a:srgbClr val="3333B2"/>
              </a:buClr>
              <a:buSzPct val="66666"/>
              <a:buFont typeface="Lucida Sans Unicode"/>
              <a:buChar char="►"/>
              <a:tabLst>
                <a:tab pos="590550" algn="l"/>
              </a:tabLst>
            </a:pPr>
            <a:r>
              <a:rPr sz="900" dirty="0">
                <a:latin typeface="Trebuchet MS"/>
                <a:cs typeface="Trebuchet MS"/>
              </a:rPr>
              <a:t>dark</a:t>
            </a:r>
            <a:r>
              <a:rPr sz="900" spc="-55" dirty="0">
                <a:latin typeface="Trebuchet MS"/>
                <a:cs typeface="Trebuchet MS"/>
              </a:rPr>
              <a:t> </a:t>
            </a:r>
            <a:r>
              <a:rPr sz="900" spc="-235" dirty="0">
                <a:latin typeface="Trebuchet MS"/>
                <a:cs typeface="Trebuchet MS"/>
              </a:rPr>
              <a:t>/</a:t>
            </a:r>
            <a:r>
              <a:rPr sz="900" spc="-25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light</a:t>
            </a:r>
            <a:endParaRPr sz="900">
              <a:latin typeface="Trebuchet MS"/>
              <a:cs typeface="Trebuchet MS"/>
            </a:endParaRPr>
          </a:p>
          <a:p>
            <a:pPr marL="590550" indent="-116205">
              <a:lnSpc>
                <a:spcPct val="100000"/>
              </a:lnSpc>
              <a:spcBef>
                <a:spcPts val="114"/>
              </a:spcBef>
              <a:buClr>
                <a:srgbClr val="3333B2"/>
              </a:buClr>
              <a:buSzPct val="66666"/>
              <a:buFont typeface="Lucida Sans Unicode"/>
              <a:buChar char="►"/>
              <a:tabLst>
                <a:tab pos="590550" algn="l"/>
              </a:tabLst>
            </a:pPr>
            <a:r>
              <a:rPr sz="900" dirty="0">
                <a:latin typeface="Trebuchet MS"/>
                <a:cs typeface="Trebuchet MS"/>
              </a:rPr>
              <a:t>short</a:t>
            </a:r>
            <a:r>
              <a:rPr sz="900" spc="-50" dirty="0">
                <a:latin typeface="Trebuchet MS"/>
                <a:cs typeface="Trebuchet MS"/>
              </a:rPr>
              <a:t> </a:t>
            </a:r>
            <a:r>
              <a:rPr sz="900" spc="-235" dirty="0">
                <a:latin typeface="Trebuchet MS"/>
                <a:cs typeface="Trebuchet MS"/>
              </a:rPr>
              <a:t>/</a:t>
            </a:r>
            <a:r>
              <a:rPr sz="900" spc="-25" dirty="0">
                <a:latin typeface="Trebuchet MS"/>
                <a:cs typeface="Trebuchet MS"/>
              </a:rPr>
              <a:t> </a:t>
            </a:r>
            <a:r>
              <a:rPr sz="900" spc="-20" dirty="0">
                <a:latin typeface="Trebuchet MS"/>
                <a:cs typeface="Trebuchet MS"/>
              </a:rPr>
              <a:t>long</a:t>
            </a:r>
            <a:endParaRPr sz="900">
              <a:latin typeface="Trebuchet MS"/>
              <a:cs typeface="Trebuchet MS"/>
            </a:endParaRPr>
          </a:p>
          <a:p>
            <a:pPr marL="590550" indent="-116205">
              <a:lnSpc>
                <a:spcPct val="100000"/>
              </a:lnSpc>
              <a:spcBef>
                <a:spcPts val="120"/>
              </a:spcBef>
              <a:buClr>
                <a:srgbClr val="3333B2"/>
              </a:buClr>
              <a:buSzPct val="66666"/>
              <a:buFont typeface="Lucida Sans Unicode"/>
              <a:buChar char="►"/>
              <a:tabLst>
                <a:tab pos="590550" algn="l"/>
              </a:tabLst>
            </a:pPr>
            <a:r>
              <a:rPr sz="900" spc="-25" dirty="0">
                <a:latin typeface="Trebuchet MS"/>
                <a:cs typeface="Trebuchet MS"/>
              </a:rPr>
              <a:t>hot</a:t>
            </a:r>
            <a:r>
              <a:rPr sz="900" spc="-40" dirty="0">
                <a:latin typeface="Trebuchet MS"/>
                <a:cs typeface="Trebuchet MS"/>
              </a:rPr>
              <a:t> </a:t>
            </a:r>
            <a:r>
              <a:rPr sz="900" spc="-235" dirty="0">
                <a:latin typeface="Trebuchet MS"/>
                <a:cs typeface="Trebuchet MS"/>
              </a:rPr>
              <a:t>/</a:t>
            </a:r>
            <a:r>
              <a:rPr sz="900" spc="-25" dirty="0">
                <a:latin typeface="Trebuchet MS"/>
                <a:cs typeface="Trebuchet MS"/>
              </a:rPr>
              <a:t> </a:t>
            </a:r>
            <a:r>
              <a:rPr sz="900" spc="-20" dirty="0">
                <a:latin typeface="Trebuchet MS"/>
                <a:cs typeface="Trebuchet MS"/>
              </a:rPr>
              <a:t>cold</a:t>
            </a:r>
            <a:endParaRPr sz="900">
              <a:latin typeface="Trebuchet MS"/>
              <a:cs typeface="Trebuchet MS"/>
            </a:endParaRPr>
          </a:p>
          <a:p>
            <a:pPr marL="590550" indent="-116205">
              <a:lnSpc>
                <a:spcPct val="100000"/>
              </a:lnSpc>
              <a:spcBef>
                <a:spcPts val="115"/>
              </a:spcBef>
              <a:buClr>
                <a:srgbClr val="3333B2"/>
              </a:buClr>
              <a:buSzPct val="66666"/>
              <a:buFont typeface="Lucida Sans Unicode"/>
              <a:buChar char="►"/>
              <a:tabLst>
                <a:tab pos="590550" algn="l"/>
              </a:tabLst>
            </a:pPr>
            <a:r>
              <a:rPr sz="900" dirty="0">
                <a:latin typeface="Trebuchet MS"/>
                <a:cs typeface="Trebuchet MS"/>
              </a:rPr>
              <a:t>up</a:t>
            </a:r>
            <a:r>
              <a:rPr sz="900" spc="-25" dirty="0">
                <a:latin typeface="Trebuchet MS"/>
                <a:cs typeface="Trebuchet MS"/>
              </a:rPr>
              <a:t> </a:t>
            </a:r>
            <a:r>
              <a:rPr sz="900" spc="-235" dirty="0">
                <a:latin typeface="Trebuchet MS"/>
                <a:cs typeface="Trebuchet MS"/>
              </a:rPr>
              <a:t>/</a:t>
            </a:r>
            <a:r>
              <a:rPr sz="900" spc="-20" dirty="0">
                <a:latin typeface="Trebuchet MS"/>
                <a:cs typeface="Trebuchet MS"/>
              </a:rPr>
              <a:t> down</a:t>
            </a:r>
            <a:endParaRPr sz="900">
              <a:latin typeface="Trebuchet MS"/>
              <a:cs typeface="Trebuchet MS"/>
            </a:endParaRPr>
          </a:p>
          <a:p>
            <a:pPr marL="590550" indent="-116205">
              <a:lnSpc>
                <a:spcPct val="100000"/>
              </a:lnSpc>
              <a:spcBef>
                <a:spcPts val="114"/>
              </a:spcBef>
              <a:buClr>
                <a:srgbClr val="3333B2"/>
              </a:buClr>
              <a:buSzPct val="66666"/>
              <a:buFont typeface="Lucida Sans Unicode"/>
              <a:buChar char="►"/>
              <a:tabLst>
                <a:tab pos="590550" algn="l"/>
              </a:tabLst>
            </a:pPr>
            <a:r>
              <a:rPr sz="900" spc="-10" dirty="0">
                <a:latin typeface="Trebuchet MS"/>
                <a:cs typeface="Trebuchet MS"/>
              </a:rPr>
              <a:t>in</a:t>
            </a:r>
            <a:r>
              <a:rPr sz="900" spc="-55" dirty="0">
                <a:latin typeface="Trebuchet MS"/>
                <a:cs typeface="Trebuchet MS"/>
              </a:rPr>
              <a:t> </a:t>
            </a:r>
            <a:r>
              <a:rPr sz="900" spc="-235" dirty="0">
                <a:latin typeface="Trebuchet MS"/>
                <a:cs typeface="Trebuchet MS"/>
              </a:rPr>
              <a:t>/</a:t>
            </a:r>
            <a:r>
              <a:rPr sz="900" spc="-25" dirty="0">
                <a:latin typeface="Trebuchet MS"/>
                <a:cs typeface="Trebuchet MS"/>
              </a:rPr>
              <a:t> out</a:t>
            </a:r>
            <a:endParaRPr sz="9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900">
              <a:latin typeface="Trebuchet MS"/>
              <a:cs typeface="Trebuchet MS"/>
            </a:endParaRPr>
          </a:p>
          <a:p>
            <a:pPr marL="38100">
              <a:lnSpc>
                <a:spcPct val="100000"/>
              </a:lnSpc>
            </a:pPr>
            <a:r>
              <a:rPr sz="1100" i="1" dirty="0">
                <a:solidFill>
                  <a:srgbClr val="3333B2"/>
                </a:solidFill>
                <a:latin typeface="Cambria"/>
                <a:cs typeface="Cambria"/>
              </a:rPr>
              <a:t>More</a:t>
            </a:r>
            <a:r>
              <a:rPr sz="1100" i="1" spc="-20" dirty="0">
                <a:solidFill>
                  <a:srgbClr val="3333B2"/>
                </a:solidFill>
                <a:latin typeface="Cambria"/>
                <a:cs typeface="Cambria"/>
              </a:rPr>
              <a:t> </a:t>
            </a:r>
            <a:r>
              <a:rPr sz="1100" i="1" spc="-10" dirty="0">
                <a:solidFill>
                  <a:srgbClr val="3333B2"/>
                </a:solidFill>
                <a:latin typeface="Cambria"/>
                <a:cs typeface="Cambria"/>
              </a:rPr>
              <a:t>formally:</a:t>
            </a:r>
            <a:r>
              <a:rPr sz="1100" i="1" spc="35" dirty="0">
                <a:solidFill>
                  <a:srgbClr val="3333B2"/>
                </a:solidFill>
                <a:latin typeface="Cambria"/>
                <a:cs typeface="Cambria"/>
              </a:rPr>
              <a:t> </a:t>
            </a:r>
            <a:r>
              <a:rPr sz="1100" i="1" spc="-35" dirty="0">
                <a:solidFill>
                  <a:srgbClr val="3333B2"/>
                </a:solidFill>
                <a:latin typeface="Cambria"/>
                <a:cs typeface="Cambria"/>
              </a:rPr>
              <a:t>antonyms</a:t>
            </a:r>
            <a:r>
              <a:rPr sz="1100" i="1" spc="-15" dirty="0">
                <a:solidFill>
                  <a:srgbClr val="3333B2"/>
                </a:solidFill>
                <a:latin typeface="Cambria"/>
                <a:cs typeface="Cambria"/>
              </a:rPr>
              <a:t> </a:t>
            </a:r>
            <a:r>
              <a:rPr sz="1100" i="1" spc="-25" dirty="0">
                <a:solidFill>
                  <a:srgbClr val="3333B2"/>
                </a:solidFill>
                <a:latin typeface="Cambria"/>
                <a:cs typeface="Cambria"/>
              </a:rPr>
              <a:t>can</a:t>
            </a:r>
            <a:endParaRPr sz="1100">
              <a:latin typeface="Cambria"/>
              <a:cs typeface="Cambria"/>
            </a:endParaRPr>
          </a:p>
          <a:p>
            <a:pPr marL="314960">
              <a:lnSpc>
                <a:spcPct val="100000"/>
              </a:lnSpc>
              <a:spcBef>
                <a:spcPts val="425"/>
              </a:spcBef>
            </a:pPr>
            <a:r>
              <a:rPr sz="950" dirty="0">
                <a:latin typeface="Trebuchet MS"/>
                <a:cs typeface="Trebuchet MS"/>
              </a:rPr>
              <a:t>define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binary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opposition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or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at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opposite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ends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scale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(</a:t>
            </a:r>
            <a:r>
              <a:rPr sz="950" i="1" spc="-10" dirty="0">
                <a:latin typeface="Trebuchet MS"/>
                <a:cs typeface="Trebuchet MS"/>
              </a:rPr>
              <a:t>long/short</a:t>
            </a:r>
            <a:r>
              <a:rPr sz="950" spc="-10" dirty="0">
                <a:latin typeface="Trebuchet MS"/>
                <a:cs typeface="Trebuchet MS"/>
              </a:rPr>
              <a:t>,</a:t>
            </a:r>
            <a:endParaRPr sz="950">
              <a:latin typeface="Trebuchet MS"/>
              <a:cs typeface="Trebuchet MS"/>
            </a:endParaRPr>
          </a:p>
          <a:p>
            <a:pPr marL="314960">
              <a:lnSpc>
                <a:spcPct val="100000"/>
              </a:lnSpc>
              <a:spcBef>
                <a:spcPts val="215"/>
              </a:spcBef>
            </a:pPr>
            <a:r>
              <a:rPr sz="950" i="1" spc="-45" dirty="0">
                <a:latin typeface="Trebuchet MS"/>
                <a:cs typeface="Trebuchet MS"/>
              </a:rPr>
              <a:t>fast/slow</a:t>
            </a:r>
            <a:r>
              <a:rPr sz="950" i="1" spc="-135" dirty="0">
                <a:latin typeface="Trebuchet MS"/>
                <a:cs typeface="Trebuchet MS"/>
              </a:rPr>
              <a:t> </a:t>
            </a:r>
            <a:r>
              <a:rPr sz="950" spc="-50" dirty="0">
                <a:latin typeface="Trebuchet MS"/>
                <a:cs typeface="Trebuchet MS"/>
              </a:rPr>
              <a:t>)</a:t>
            </a:r>
            <a:endParaRPr sz="950">
              <a:latin typeface="Trebuchet MS"/>
              <a:cs typeface="Trebuchet MS"/>
            </a:endParaRPr>
          </a:p>
          <a:p>
            <a:pPr marL="314960">
              <a:lnSpc>
                <a:spcPct val="100000"/>
              </a:lnSpc>
              <a:spcBef>
                <a:spcPts val="515"/>
              </a:spcBef>
            </a:pPr>
            <a:r>
              <a:rPr sz="950" spc="70" dirty="0">
                <a:latin typeface="Trebuchet MS"/>
                <a:cs typeface="Trebuchet MS"/>
              </a:rPr>
              <a:t>Be</a:t>
            </a:r>
            <a:r>
              <a:rPr sz="950" spc="55" dirty="0">
                <a:latin typeface="Trebuchet MS"/>
                <a:cs typeface="Trebuchet MS"/>
              </a:rPr>
              <a:t> </a:t>
            </a:r>
            <a:r>
              <a:rPr sz="950" b="1" dirty="0">
                <a:latin typeface="Trebuchet MS"/>
                <a:cs typeface="Trebuchet MS"/>
              </a:rPr>
              <a:t>reversives</a:t>
            </a:r>
            <a:r>
              <a:rPr sz="950" dirty="0">
                <a:latin typeface="Trebuchet MS"/>
                <a:cs typeface="Trebuchet MS"/>
              </a:rPr>
              <a:t>:</a:t>
            </a:r>
            <a:r>
              <a:rPr sz="950" spc="140" dirty="0">
                <a:latin typeface="Trebuchet MS"/>
                <a:cs typeface="Trebuchet MS"/>
              </a:rPr>
              <a:t> </a:t>
            </a:r>
            <a:r>
              <a:rPr sz="950" i="1" spc="-10" dirty="0">
                <a:latin typeface="Trebuchet MS"/>
                <a:cs typeface="Trebuchet MS"/>
              </a:rPr>
              <a:t>rise/fall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20" dirty="0"/>
              <a:t>Pawan</a:t>
            </a:r>
            <a:r>
              <a:rPr spc="15" dirty="0"/>
              <a:t> </a:t>
            </a:r>
            <a:r>
              <a:rPr dirty="0"/>
              <a:t>Goyal</a:t>
            </a:r>
            <a:r>
              <a:rPr spc="170" dirty="0"/>
              <a:t> </a:t>
            </a:r>
            <a:r>
              <a:rPr dirty="0"/>
              <a:t>(IIT</a:t>
            </a:r>
            <a:r>
              <a:rPr spc="15" dirty="0"/>
              <a:t> </a:t>
            </a:r>
            <a:r>
              <a:rPr spc="-10" dirty="0"/>
              <a:t>Kharagpur)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360826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1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317426" y="3339672"/>
            <a:ext cx="236854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14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18</a:t>
            </a:r>
            <a:endParaRPr sz="600">
              <a:latin typeface="Cambria"/>
              <a:cs typeface="Cambria"/>
            </a:endParaRPr>
          </a:p>
        </p:txBody>
      </p:sp>
    </p:spTree>
  </p:cSld>
  <p:clrMapOvr>
    <a:masterClrMapping/>
  </p:clrMapOvr>
  <p:transition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Hyponymy</a:t>
            </a:r>
            <a:r>
              <a:rPr spc="-60" dirty="0"/>
              <a:t> </a:t>
            </a:r>
            <a:r>
              <a:rPr dirty="0"/>
              <a:t>and</a:t>
            </a:r>
            <a:r>
              <a:rPr spc="-55" dirty="0"/>
              <a:t> </a:t>
            </a:r>
            <a:r>
              <a:rPr spc="-10" dirty="0"/>
              <a:t>Hypernymy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633565"/>
            <a:ext cx="4483735" cy="1254760"/>
            <a:chOff x="87743" y="633565"/>
            <a:chExt cx="4483735" cy="1254760"/>
          </a:xfrm>
        </p:grpSpPr>
        <p:sp>
          <p:nvSpPr>
            <p:cNvPr id="4" name="object 4"/>
            <p:cNvSpPr/>
            <p:nvPr/>
          </p:nvSpPr>
          <p:spPr>
            <a:xfrm>
              <a:off x="87743" y="633565"/>
              <a:ext cx="4432935" cy="180975"/>
            </a:xfrm>
            <a:custGeom>
              <a:avLst/>
              <a:gdLst/>
              <a:ahLst/>
              <a:cxnLst/>
              <a:rect l="l" t="t" r="r" b="b"/>
              <a:pathLst>
                <a:path w="4432935" h="180975">
                  <a:moveTo>
                    <a:pt x="438176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0962"/>
                  </a:lnTo>
                  <a:lnTo>
                    <a:pt x="4432566" y="180962"/>
                  </a:lnTo>
                  <a:lnTo>
                    <a:pt x="4432566" y="50800"/>
                  </a:lnTo>
                  <a:lnTo>
                    <a:pt x="4428558" y="31075"/>
                  </a:lnTo>
                  <a:lnTo>
                    <a:pt x="4417644" y="14922"/>
                  </a:lnTo>
                  <a:lnTo>
                    <a:pt x="4401491" y="4008"/>
                  </a:lnTo>
                  <a:lnTo>
                    <a:pt x="4381766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801878"/>
              <a:ext cx="4432566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1786712"/>
              <a:ext cx="101599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1774012"/>
              <a:ext cx="4381715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311" y="677799"/>
              <a:ext cx="50749" cy="1108913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846150"/>
              <a:ext cx="4432935" cy="991869"/>
            </a:xfrm>
            <a:custGeom>
              <a:avLst/>
              <a:gdLst/>
              <a:ahLst/>
              <a:cxnLst/>
              <a:rect l="l" t="t" r="r" b="b"/>
              <a:pathLst>
                <a:path w="4432935" h="991869">
                  <a:moveTo>
                    <a:pt x="4432566" y="0"/>
                  </a:moveTo>
                  <a:lnTo>
                    <a:pt x="0" y="0"/>
                  </a:lnTo>
                  <a:lnTo>
                    <a:pt x="0" y="940562"/>
                  </a:lnTo>
                  <a:lnTo>
                    <a:pt x="4008" y="960286"/>
                  </a:lnTo>
                  <a:lnTo>
                    <a:pt x="14922" y="976439"/>
                  </a:lnTo>
                  <a:lnTo>
                    <a:pt x="31075" y="987353"/>
                  </a:lnTo>
                  <a:lnTo>
                    <a:pt x="50800" y="991362"/>
                  </a:lnTo>
                  <a:lnTo>
                    <a:pt x="4381766" y="991362"/>
                  </a:lnTo>
                  <a:lnTo>
                    <a:pt x="4401491" y="987353"/>
                  </a:lnTo>
                  <a:lnTo>
                    <a:pt x="4417644" y="976439"/>
                  </a:lnTo>
                  <a:lnTo>
                    <a:pt x="4428558" y="960286"/>
                  </a:lnTo>
                  <a:lnTo>
                    <a:pt x="4432566" y="940562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09" y="715886"/>
              <a:ext cx="0" cy="1090295"/>
            </a:xfrm>
            <a:custGeom>
              <a:avLst/>
              <a:gdLst/>
              <a:ahLst/>
              <a:cxnLst/>
              <a:rect l="l" t="t" r="r" b="b"/>
              <a:pathLst>
                <a:path h="1090295">
                  <a:moveTo>
                    <a:pt x="0" y="1089875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09" y="703188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09" y="690488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09" y="67778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1597" y="1277988"/>
              <a:ext cx="64757" cy="6475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1597" y="1488020"/>
              <a:ext cx="64757" cy="64757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81597" y="1698053"/>
              <a:ext cx="64757" cy="64757"/>
            </a:xfrm>
            <a:prstGeom prst="rect">
              <a:avLst/>
            </a:prstGeom>
          </p:spPr>
        </p:pic>
      </p:grpSp>
      <p:grpSp>
        <p:nvGrpSpPr>
          <p:cNvPr id="17" name="object 17"/>
          <p:cNvGrpSpPr/>
          <p:nvPr/>
        </p:nvGrpSpPr>
        <p:grpSpPr>
          <a:xfrm>
            <a:off x="87743" y="1989442"/>
            <a:ext cx="4483735" cy="1082675"/>
            <a:chOff x="87743" y="1989442"/>
            <a:chExt cx="4483735" cy="1082675"/>
          </a:xfrm>
        </p:grpSpPr>
        <p:sp>
          <p:nvSpPr>
            <p:cNvPr id="18" name="object 18"/>
            <p:cNvSpPr/>
            <p:nvPr/>
          </p:nvSpPr>
          <p:spPr>
            <a:xfrm>
              <a:off x="87743" y="1989442"/>
              <a:ext cx="4432935" cy="180975"/>
            </a:xfrm>
            <a:custGeom>
              <a:avLst/>
              <a:gdLst/>
              <a:ahLst/>
              <a:cxnLst/>
              <a:rect l="l" t="t" r="r" b="b"/>
              <a:pathLst>
                <a:path w="4432935" h="180975">
                  <a:moveTo>
                    <a:pt x="438176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0962"/>
                  </a:lnTo>
                  <a:lnTo>
                    <a:pt x="4432566" y="180962"/>
                  </a:lnTo>
                  <a:lnTo>
                    <a:pt x="4432566" y="50800"/>
                  </a:lnTo>
                  <a:lnTo>
                    <a:pt x="4428558" y="31075"/>
                  </a:lnTo>
                  <a:lnTo>
                    <a:pt x="4417644" y="14922"/>
                  </a:lnTo>
                  <a:lnTo>
                    <a:pt x="4401491" y="4008"/>
                  </a:lnTo>
                  <a:lnTo>
                    <a:pt x="4381766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7744" y="2157742"/>
              <a:ext cx="4432566" cy="50609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38544" y="2970504"/>
              <a:ext cx="101599" cy="10160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89344" y="2957804"/>
              <a:ext cx="4381715" cy="114300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520311" y="2033676"/>
              <a:ext cx="50749" cy="936828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87743" y="2202014"/>
              <a:ext cx="4432935" cy="819785"/>
            </a:xfrm>
            <a:custGeom>
              <a:avLst/>
              <a:gdLst/>
              <a:ahLst/>
              <a:cxnLst/>
              <a:rect l="l" t="t" r="r" b="b"/>
              <a:pathLst>
                <a:path w="4432935" h="819785">
                  <a:moveTo>
                    <a:pt x="4432566" y="0"/>
                  </a:moveTo>
                  <a:lnTo>
                    <a:pt x="0" y="0"/>
                  </a:lnTo>
                  <a:lnTo>
                    <a:pt x="0" y="768489"/>
                  </a:lnTo>
                  <a:lnTo>
                    <a:pt x="4008" y="788214"/>
                  </a:lnTo>
                  <a:lnTo>
                    <a:pt x="14922" y="804367"/>
                  </a:lnTo>
                  <a:lnTo>
                    <a:pt x="31075" y="815281"/>
                  </a:lnTo>
                  <a:lnTo>
                    <a:pt x="50800" y="819289"/>
                  </a:lnTo>
                  <a:lnTo>
                    <a:pt x="4381766" y="819289"/>
                  </a:lnTo>
                  <a:lnTo>
                    <a:pt x="4401491" y="815281"/>
                  </a:lnTo>
                  <a:lnTo>
                    <a:pt x="4417644" y="804367"/>
                  </a:lnTo>
                  <a:lnTo>
                    <a:pt x="4428558" y="788214"/>
                  </a:lnTo>
                  <a:lnTo>
                    <a:pt x="4432566" y="768489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520309" y="2071763"/>
              <a:ext cx="0" cy="918210"/>
            </a:xfrm>
            <a:custGeom>
              <a:avLst/>
              <a:gdLst/>
              <a:ahLst/>
              <a:cxnLst/>
              <a:rect l="l" t="t" r="r" b="b"/>
              <a:pathLst>
                <a:path h="918210">
                  <a:moveTo>
                    <a:pt x="0" y="91779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520309" y="205905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520309" y="204635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520309" y="203365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81597" y="2461780"/>
              <a:ext cx="64757" cy="64757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81597" y="2671813"/>
              <a:ext cx="64757" cy="64757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81597" y="2881845"/>
              <a:ext cx="64757" cy="64757"/>
            </a:xfrm>
            <a:prstGeom prst="rect">
              <a:avLst/>
            </a:prstGeom>
          </p:spPr>
        </p:pic>
      </p:grpSp>
      <p:sp>
        <p:nvSpPr>
          <p:cNvPr id="31" name="object 31"/>
          <p:cNvSpPr txBox="1"/>
          <p:nvPr/>
        </p:nvSpPr>
        <p:spPr>
          <a:xfrm>
            <a:off x="125844" y="554206"/>
            <a:ext cx="4335780" cy="2432685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100" i="1" spc="-10" dirty="0">
                <a:solidFill>
                  <a:srgbClr val="3333B2"/>
                </a:solidFill>
                <a:latin typeface="Cambria"/>
                <a:cs typeface="Cambria"/>
              </a:rPr>
              <a:t>Hyponymy</a:t>
            </a:r>
            <a:endParaRPr sz="1100">
              <a:latin typeface="Cambria"/>
              <a:cs typeface="Cambria"/>
            </a:endParaRPr>
          </a:p>
          <a:p>
            <a:pPr marL="12700" marR="5080" algn="just">
              <a:lnSpc>
                <a:spcPct val="118900"/>
              </a:lnSpc>
              <a:spcBef>
                <a:spcPts val="209"/>
              </a:spcBef>
            </a:pPr>
            <a:r>
              <a:rPr sz="950" spc="55" dirty="0">
                <a:latin typeface="Trebuchet MS"/>
                <a:cs typeface="Trebuchet MS"/>
              </a:rPr>
              <a:t>One</a:t>
            </a:r>
            <a:r>
              <a:rPr sz="950" spc="-25" dirty="0">
                <a:latin typeface="Trebuchet MS"/>
                <a:cs typeface="Trebuchet MS"/>
              </a:rPr>
              <a:t> </a:t>
            </a:r>
            <a:r>
              <a:rPr sz="950" spc="55" dirty="0">
                <a:latin typeface="Trebuchet MS"/>
                <a:cs typeface="Trebuchet MS"/>
              </a:rPr>
              <a:t>sense</a:t>
            </a:r>
            <a:r>
              <a:rPr sz="950" dirty="0">
                <a:latin typeface="Trebuchet MS"/>
                <a:cs typeface="Trebuchet MS"/>
              </a:rPr>
              <a:t> is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 hyponym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 another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spc="-90" dirty="0">
                <a:latin typeface="Trebuchet MS"/>
                <a:cs typeface="Trebuchet MS"/>
              </a:rPr>
              <a:t>if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spc="-35" dirty="0">
                <a:latin typeface="Trebuchet MS"/>
                <a:cs typeface="Trebuchet MS"/>
              </a:rPr>
              <a:t>first</a:t>
            </a:r>
            <a:r>
              <a:rPr sz="950" dirty="0">
                <a:latin typeface="Trebuchet MS"/>
                <a:cs typeface="Trebuchet MS"/>
              </a:rPr>
              <a:t> </a:t>
            </a:r>
            <a:r>
              <a:rPr sz="950" spc="55" dirty="0">
                <a:latin typeface="Trebuchet MS"/>
                <a:cs typeface="Trebuchet MS"/>
              </a:rPr>
              <a:t>sense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is more </a:t>
            </a:r>
            <a:r>
              <a:rPr sz="950" spc="-10" dirty="0">
                <a:latin typeface="Trebuchet MS"/>
                <a:cs typeface="Trebuchet MS"/>
              </a:rPr>
              <a:t>specific,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denoting </a:t>
            </a:r>
            <a:r>
              <a:rPr sz="950" spc="10" dirty="0">
                <a:latin typeface="Trebuchet MS"/>
                <a:cs typeface="Trebuchet MS"/>
              </a:rPr>
              <a:t>a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subclass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other</a:t>
            </a:r>
            <a:endParaRPr sz="950">
              <a:latin typeface="Trebuchet MS"/>
              <a:cs typeface="Trebuchet MS"/>
            </a:endParaRPr>
          </a:p>
          <a:p>
            <a:pPr marL="289560" marR="2510155" algn="just">
              <a:lnSpc>
                <a:spcPct val="145100"/>
              </a:lnSpc>
            </a:pPr>
            <a:r>
              <a:rPr sz="950" i="1" dirty="0">
                <a:latin typeface="Trebuchet MS"/>
                <a:cs typeface="Trebuchet MS"/>
              </a:rPr>
              <a:t>car</a:t>
            </a:r>
            <a:r>
              <a:rPr sz="950" i="1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is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hyponym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i="1" spc="-10" dirty="0">
                <a:latin typeface="Trebuchet MS"/>
                <a:cs typeface="Trebuchet MS"/>
              </a:rPr>
              <a:t>vehicle </a:t>
            </a:r>
            <a:r>
              <a:rPr sz="950" i="1" dirty="0">
                <a:latin typeface="Trebuchet MS"/>
                <a:cs typeface="Trebuchet MS"/>
              </a:rPr>
              <a:t>dog</a:t>
            </a:r>
            <a:r>
              <a:rPr sz="950" i="1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is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hyponym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i="1" spc="-10" dirty="0">
                <a:latin typeface="Trebuchet MS"/>
                <a:cs typeface="Trebuchet MS"/>
              </a:rPr>
              <a:t>animal </a:t>
            </a:r>
            <a:r>
              <a:rPr sz="950" i="1" dirty="0">
                <a:latin typeface="Trebuchet MS"/>
                <a:cs typeface="Trebuchet MS"/>
              </a:rPr>
              <a:t>mango</a:t>
            </a:r>
            <a:r>
              <a:rPr sz="950" i="1" spc="5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is</a:t>
            </a:r>
            <a:r>
              <a:rPr sz="950" spc="5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5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hyponym</a:t>
            </a:r>
            <a:r>
              <a:rPr sz="950" spc="5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55" dirty="0">
                <a:latin typeface="Trebuchet MS"/>
                <a:cs typeface="Trebuchet MS"/>
              </a:rPr>
              <a:t> </a:t>
            </a:r>
            <a:r>
              <a:rPr sz="950" i="1" spc="-75" dirty="0">
                <a:latin typeface="Trebuchet MS"/>
                <a:cs typeface="Trebuchet MS"/>
              </a:rPr>
              <a:t>fruit</a:t>
            </a:r>
            <a:endParaRPr sz="9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370"/>
              </a:spcBef>
            </a:pPr>
            <a:endParaRPr sz="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100" i="1" spc="-10" dirty="0">
                <a:solidFill>
                  <a:srgbClr val="3333B2"/>
                </a:solidFill>
                <a:latin typeface="Cambria"/>
                <a:cs typeface="Cambria"/>
              </a:rPr>
              <a:t>Hypernymy</a:t>
            </a: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950" spc="-10" dirty="0">
                <a:latin typeface="Trebuchet MS"/>
                <a:cs typeface="Trebuchet MS"/>
              </a:rPr>
              <a:t>Conversely</a:t>
            </a:r>
            <a:endParaRPr sz="950">
              <a:latin typeface="Trebuchet MS"/>
              <a:cs typeface="Trebuchet MS"/>
            </a:endParaRPr>
          </a:p>
          <a:p>
            <a:pPr marL="289560" marR="1701164">
              <a:lnSpc>
                <a:spcPct val="145100"/>
              </a:lnSpc>
            </a:pPr>
            <a:r>
              <a:rPr sz="950" i="1" dirty="0">
                <a:latin typeface="Trebuchet MS"/>
                <a:cs typeface="Trebuchet MS"/>
              </a:rPr>
              <a:t>vehicle</a:t>
            </a:r>
            <a:r>
              <a:rPr sz="950" i="1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is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hypernym/superordinate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i="1" spc="-25" dirty="0">
                <a:latin typeface="Trebuchet MS"/>
                <a:cs typeface="Trebuchet MS"/>
              </a:rPr>
              <a:t>car </a:t>
            </a:r>
            <a:r>
              <a:rPr sz="950" i="1" dirty="0">
                <a:latin typeface="Trebuchet MS"/>
                <a:cs typeface="Trebuchet MS"/>
              </a:rPr>
              <a:t>animal </a:t>
            </a:r>
            <a:r>
              <a:rPr sz="950" dirty="0">
                <a:latin typeface="Trebuchet MS"/>
                <a:cs typeface="Trebuchet MS"/>
              </a:rPr>
              <a:t>is a hypernym of </a:t>
            </a:r>
            <a:r>
              <a:rPr sz="950" i="1" spc="-25" dirty="0">
                <a:latin typeface="Trebuchet MS"/>
                <a:cs typeface="Trebuchet MS"/>
              </a:rPr>
              <a:t>dog</a:t>
            </a:r>
            <a:endParaRPr sz="950">
              <a:latin typeface="Trebuchet MS"/>
              <a:cs typeface="Trebuchet MS"/>
            </a:endParaRPr>
          </a:p>
          <a:p>
            <a:pPr marL="289560">
              <a:lnSpc>
                <a:spcPct val="100000"/>
              </a:lnSpc>
              <a:spcBef>
                <a:spcPts val="515"/>
              </a:spcBef>
            </a:pPr>
            <a:r>
              <a:rPr sz="950" i="1" spc="-80" dirty="0">
                <a:latin typeface="Trebuchet MS"/>
                <a:cs typeface="Trebuchet MS"/>
              </a:rPr>
              <a:t>fruit</a:t>
            </a:r>
            <a:r>
              <a:rPr sz="950" i="1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is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hypernym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i="1" spc="-10" dirty="0">
                <a:latin typeface="Trebuchet MS"/>
                <a:cs typeface="Trebuchet MS"/>
              </a:rPr>
              <a:t>mango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37" name="object 3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20" dirty="0"/>
              <a:t>Pawan</a:t>
            </a:r>
            <a:r>
              <a:rPr spc="15" dirty="0"/>
              <a:t> </a:t>
            </a:r>
            <a:r>
              <a:rPr dirty="0"/>
              <a:t>Goyal</a:t>
            </a:r>
            <a:r>
              <a:rPr spc="170" dirty="0"/>
              <a:t> </a:t>
            </a:r>
            <a:r>
              <a:rPr dirty="0"/>
              <a:t>(IIT</a:t>
            </a:r>
            <a:r>
              <a:rPr spc="15" dirty="0"/>
              <a:t> </a:t>
            </a:r>
            <a:r>
              <a:rPr spc="-10" dirty="0"/>
              <a:t>Kharagpur)</a:t>
            </a:r>
          </a:p>
        </p:txBody>
      </p:sp>
      <p:sp>
        <p:nvSpPr>
          <p:cNvPr id="39" name="object 39"/>
          <p:cNvSpPr txBox="1"/>
          <p:nvPr/>
        </p:nvSpPr>
        <p:spPr>
          <a:xfrm>
            <a:off x="360826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1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4317426" y="3339672"/>
            <a:ext cx="236854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15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18</a:t>
            </a:r>
            <a:endParaRPr sz="600">
              <a:latin typeface="Cambria"/>
              <a:cs typeface="Cambria"/>
            </a:endParaRPr>
          </a:p>
        </p:txBody>
      </p:sp>
    </p:spTree>
  </p:cSld>
  <p:clrMapOvr>
    <a:masterClrMapping/>
  </p:clrMapOvr>
  <p:transition>
    <p:cu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Hyponymy</a:t>
            </a:r>
            <a:r>
              <a:rPr spc="-75" dirty="0"/>
              <a:t> </a:t>
            </a:r>
            <a:r>
              <a:rPr spc="-10" dirty="0"/>
              <a:t>more</a:t>
            </a:r>
            <a:r>
              <a:rPr spc="-70" dirty="0"/>
              <a:t> </a:t>
            </a:r>
            <a:r>
              <a:rPr spc="-10" dirty="0"/>
              <a:t>formally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1138313"/>
            <a:ext cx="4483735" cy="622300"/>
            <a:chOff x="87743" y="1138313"/>
            <a:chExt cx="4483735" cy="622300"/>
          </a:xfrm>
        </p:grpSpPr>
        <p:sp>
          <p:nvSpPr>
            <p:cNvPr id="4" name="object 4"/>
            <p:cNvSpPr/>
            <p:nvPr/>
          </p:nvSpPr>
          <p:spPr>
            <a:xfrm>
              <a:off x="87743" y="1138313"/>
              <a:ext cx="4432935" cy="176530"/>
            </a:xfrm>
            <a:custGeom>
              <a:avLst/>
              <a:gdLst/>
              <a:ahLst/>
              <a:cxnLst/>
              <a:rect l="l" t="t" r="r" b="b"/>
              <a:pathLst>
                <a:path w="4432935" h="176530">
                  <a:moveTo>
                    <a:pt x="438176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76314"/>
                  </a:lnTo>
                  <a:lnTo>
                    <a:pt x="4432566" y="176314"/>
                  </a:lnTo>
                  <a:lnTo>
                    <a:pt x="4432566" y="50800"/>
                  </a:lnTo>
                  <a:lnTo>
                    <a:pt x="4428558" y="31075"/>
                  </a:lnTo>
                  <a:lnTo>
                    <a:pt x="4417644" y="14922"/>
                  </a:lnTo>
                  <a:lnTo>
                    <a:pt x="4401491" y="4008"/>
                  </a:lnTo>
                  <a:lnTo>
                    <a:pt x="4381766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1301978"/>
              <a:ext cx="4432566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1658950"/>
              <a:ext cx="101599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1646250"/>
              <a:ext cx="4381715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311" y="1182560"/>
              <a:ext cx="50749" cy="476389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1346263"/>
              <a:ext cx="4432935" cy="363855"/>
            </a:xfrm>
            <a:custGeom>
              <a:avLst/>
              <a:gdLst/>
              <a:ahLst/>
              <a:cxnLst/>
              <a:rect l="l" t="t" r="r" b="b"/>
              <a:pathLst>
                <a:path w="4432935" h="363855">
                  <a:moveTo>
                    <a:pt x="4432566" y="0"/>
                  </a:moveTo>
                  <a:lnTo>
                    <a:pt x="0" y="0"/>
                  </a:lnTo>
                  <a:lnTo>
                    <a:pt x="0" y="312686"/>
                  </a:lnTo>
                  <a:lnTo>
                    <a:pt x="4008" y="332411"/>
                  </a:lnTo>
                  <a:lnTo>
                    <a:pt x="14922" y="348564"/>
                  </a:lnTo>
                  <a:lnTo>
                    <a:pt x="31075" y="359478"/>
                  </a:lnTo>
                  <a:lnTo>
                    <a:pt x="50800" y="363486"/>
                  </a:lnTo>
                  <a:lnTo>
                    <a:pt x="4381766" y="363486"/>
                  </a:lnTo>
                  <a:lnTo>
                    <a:pt x="4401491" y="359478"/>
                  </a:lnTo>
                  <a:lnTo>
                    <a:pt x="4417644" y="348564"/>
                  </a:lnTo>
                  <a:lnTo>
                    <a:pt x="4428558" y="332411"/>
                  </a:lnTo>
                  <a:lnTo>
                    <a:pt x="4432566" y="312686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09" y="1220647"/>
              <a:ext cx="0" cy="457834"/>
            </a:xfrm>
            <a:custGeom>
              <a:avLst/>
              <a:gdLst/>
              <a:ahLst/>
              <a:cxnLst/>
              <a:rect l="l" t="t" r="r" b="b"/>
              <a:pathLst>
                <a:path h="457835">
                  <a:moveTo>
                    <a:pt x="0" y="457352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09" y="1207951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09" y="1195251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09" y="1182551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87743" y="1861680"/>
            <a:ext cx="4483735" cy="453390"/>
            <a:chOff x="87743" y="1861680"/>
            <a:chExt cx="4483735" cy="453390"/>
          </a:xfrm>
        </p:grpSpPr>
        <p:sp>
          <p:nvSpPr>
            <p:cNvPr id="15" name="object 15"/>
            <p:cNvSpPr/>
            <p:nvPr/>
          </p:nvSpPr>
          <p:spPr>
            <a:xfrm>
              <a:off x="87743" y="1861680"/>
              <a:ext cx="4432935" cy="180975"/>
            </a:xfrm>
            <a:custGeom>
              <a:avLst/>
              <a:gdLst/>
              <a:ahLst/>
              <a:cxnLst/>
              <a:rect l="l" t="t" r="r" b="b"/>
              <a:pathLst>
                <a:path w="4432935" h="180975">
                  <a:moveTo>
                    <a:pt x="438176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0962"/>
                  </a:lnTo>
                  <a:lnTo>
                    <a:pt x="4432566" y="180962"/>
                  </a:lnTo>
                  <a:lnTo>
                    <a:pt x="4432566" y="50800"/>
                  </a:lnTo>
                  <a:lnTo>
                    <a:pt x="4428558" y="31075"/>
                  </a:lnTo>
                  <a:lnTo>
                    <a:pt x="4417644" y="14922"/>
                  </a:lnTo>
                  <a:lnTo>
                    <a:pt x="4401491" y="4008"/>
                  </a:lnTo>
                  <a:lnTo>
                    <a:pt x="4381766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2029980"/>
              <a:ext cx="4432566" cy="50609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8544" y="2213381"/>
              <a:ext cx="101599" cy="10160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89344" y="2200681"/>
              <a:ext cx="4381715" cy="11430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520311" y="1905914"/>
              <a:ext cx="50749" cy="307467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87743" y="2074265"/>
              <a:ext cx="4432935" cy="190500"/>
            </a:xfrm>
            <a:custGeom>
              <a:avLst/>
              <a:gdLst/>
              <a:ahLst/>
              <a:cxnLst/>
              <a:rect l="l" t="t" r="r" b="b"/>
              <a:pathLst>
                <a:path w="4432935" h="190500">
                  <a:moveTo>
                    <a:pt x="4432566" y="0"/>
                  </a:moveTo>
                  <a:lnTo>
                    <a:pt x="0" y="0"/>
                  </a:lnTo>
                  <a:lnTo>
                    <a:pt x="0" y="139115"/>
                  </a:lnTo>
                  <a:lnTo>
                    <a:pt x="4008" y="158840"/>
                  </a:lnTo>
                  <a:lnTo>
                    <a:pt x="14922" y="174993"/>
                  </a:lnTo>
                  <a:lnTo>
                    <a:pt x="31075" y="185907"/>
                  </a:lnTo>
                  <a:lnTo>
                    <a:pt x="50800" y="189915"/>
                  </a:lnTo>
                  <a:lnTo>
                    <a:pt x="4381766" y="189915"/>
                  </a:lnTo>
                  <a:lnTo>
                    <a:pt x="4401491" y="185907"/>
                  </a:lnTo>
                  <a:lnTo>
                    <a:pt x="4417644" y="174993"/>
                  </a:lnTo>
                  <a:lnTo>
                    <a:pt x="4428558" y="158840"/>
                  </a:lnTo>
                  <a:lnTo>
                    <a:pt x="4432566" y="139115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520309" y="1944014"/>
              <a:ext cx="0" cy="288925"/>
            </a:xfrm>
            <a:custGeom>
              <a:avLst/>
              <a:gdLst/>
              <a:ahLst/>
              <a:cxnLst/>
              <a:rect l="l" t="t" r="r" b="b"/>
              <a:pathLst>
                <a:path h="288925">
                  <a:moveTo>
                    <a:pt x="0" y="28841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520309" y="193131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520309" y="191861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520309" y="190591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125844" y="1090216"/>
            <a:ext cx="3609340" cy="1144270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1100" i="1" spc="-10" dirty="0">
                <a:solidFill>
                  <a:srgbClr val="3333B2"/>
                </a:solidFill>
                <a:latin typeface="Cambria"/>
                <a:cs typeface="Cambria"/>
              </a:rPr>
              <a:t>Entailment</a:t>
            </a:r>
            <a:endParaRPr sz="1100">
              <a:latin typeface="Cambria"/>
              <a:cs typeface="Cambria"/>
            </a:endParaRPr>
          </a:p>
          <a:p>
            <a:pPr marL="12700" marR="5080">
              <a:lnSpc>
                <a:spcPct val="113999"/>
              </a:lnSpc>
              <a:spcBef>
                <a:spcPts val="35"/>
              </a:spcBef>
            </a:pPr>
            <a:r>
              <a:rPr sz="950" spc="70" dirty="0">
                <a:latin typeface="Trebuchet MS"/>
                <a:cs typeface="Trebuchet MS"/>
              </a:rPr>
              <a:t>Sense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1100" i="1" dirty="0">
                <a:latin typeface="Cambria"/>
                <a:cs typeface="Cambria"/>
              </a:rPr>
              <a:t>A</a:t>
            </a:r>
            <a:r>
              <a:rPr sz="1100" i="1" spc="60" dirty="0">
                <a:latin typeface="Cambria"/>
                <a:cs typeface="Cambria"/>
              </a:rPr>
              <a:t> </a:t>
            </a:r>
            <a:r>
              <a:rPr sz="950" dirty="0">
                <a:latin typeface="Trebuchet MS"/>
                <a:cs typeface="Trebuchet MS"/>
              </a:rPr>
              <a:t>is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hyponym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spc="55" dirty="0">
                <a:latin typeface="Trebuchet MS"/>
                <a:cs typeface="Trebuchet MS"/>
              </a:rPr>
              <a:t>sense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1100" i="1" dirty="0">
                <a:latin typeface="Cambria"/>
                <a:cs typeface="Cambria"/>
              </a:rPr>
              <a:t>B</a:t>
            </a:r>
            <a:r>
              <a:rPr sz="1100" i="1" spc="60" dirty="0">
                <a:latin typeface="Cambria"/>
                <a:cs typeface="Cambria"/>
              </a:rPr>
              <a:t> </a:t>
            </a:r>
            <a:r>
              <a:rPr sz="950" spc="-70" dirty="0">
                <a:latin typeface="Trebuchet MS"/>
                <a:cs typeface="Trebuchet MS"/>
              </a:rPr>
              <a:t>if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being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an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1100" i="1" dirty="0">
                <a:latin typeface="Cambria"/>
                <a:cs typeface="Cambria"/>
              </a:rPr>
              <a:t>A</a:t>
            </a:r>
            <a:r>
              <a:rPr sz="1100" i="1" spc="60" dirty="0">
                <a:latin typeface="Cambria"/>
                <a:cs typeface="Cambria"/>
              </a:rPr>
              <a:t> </a:t>
            </a:r>
            <a:r>
              <a:rPr sz="950" dirty="0">
                <a:latin typeface="Trebuchet MS"/>
                <a:cs typeface="Trebuchet MS"/>
              </a:rPr>
              <a:t>entails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being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1100" i="1" spc="-25" dirty="0">
                <a:latin typeface="Cambria"/>
                <a:cs typeface="Cambria"/>
              </a:rPr>
              <a:t>B</a:t>
            </a:r>
            <a:r>
              <a:rPr sz="950" spc="-25" dirty="0">
                <a:latin typeface="Trebuchet MS"/>
                <a:cs typeface="Trebuchet MS"/>
              </a:rPr>
              <a:t>. </a:t>
            </a:r>
            <a:r>
              <a:rPr sz="950" dirty="0">
                <a:latin typeface="Trebuchet MS"/>
                <a:cs typeface="Trebuchet MS"/>
              </a:rPr>
              <a:t>Ex:</a:t>
            </a:r>
            <a:r>
              <a:rPr sz="950" spc="114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dog,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animal</a:t>
            </a:r>
            <a:endParaRPr sz="9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370"/>
              </a:spcBef>
            </a:pPr>
            <a:endParaRPr sz="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100" i="1" spc="-10" dirty="0">
                <a:solidFill>
                  <a:srgbClr val="3333B2"/>
                </a:solidFill>
                <a:latin typeface="Cambria"/>
                <a:cs typeface="Cambria"/>
              </a:rPr>
              <a:t>Transitivity</a:t>
            </a: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sz="1100" i="1" dirty="0">
                <a:latin typeface="Cambria"/>
                <a:cs typeface="Cambria"/>
              </a:rPr>
              <a:t>A</a:t>
            </a:r>
            <a:r>
              <a:rPr sz="1100" i="1" spc="55" dirty="0">
                <a:latin typeface="Cambria"/>
                <a:cs typeface="Cambria"/>
              </a:rPr>
              <a:t> </a:t>
            </a:r>
            <a:r>
              <a:rPr sz="950" dirty="0">
                <a:latin typeface="Trebuchet MS"/>
                <a:cs typeface="Trebuchet MS"/>
              </a:rPr>
              <a:t>hypo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1100" i="1" dirty="0">
                <a:latin typeface="Cambria"/>
                <a:cs typeface="Cambria"/>
              </a:rPr>
              <a:t>B</a:t>
            </a:r>
            <a:r>
              <a:rPr sz="1100" i="1" spc="55" dirty="0">
                <a:latin typeface="Cambria"/>
                <a:cs typeface="Cambria"/>
              </a:rPr>
              <a:t> </a:t>
            </a:r>
            <a:r>
              <a:rPr sz="950" dirty="0">
                <a:latin typeface="Trebuchet MS"/>
                <a:cs typeface="Trebuchet MS"/>
              </a:rPr>
              <a:t>and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1100" i="1" dirty="0">
                <a:latin typeface="Cambria"/>
                <a:cs typeface="Cambria"/>
              </a:rPr>
              <a:t>B</a:t>
            </a:r>
            <a:r>
              <a:rPr sz="1100" i="1" spc="60" dirty="0">
                <a:latin typeface="Cambria"/>
                <a:cs typeface="Cambria"/>
              </a:rPr>
              <a:t> </a:t>
            </a:r>
            <a:r>
              <a:rPr sz="950" dirty="0">
                <a:latin typeface="Trebuchet MS"/>
                <a:cs typeface="Trebuchet MS"/>
              </a:rPr>
              <a:t>hypo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1100" i="1" spc="135" dirty="0">
                <a:latin typeface="Cambria"/>
                <a:cs typeface="Cambria"/>
              </a:rPr>
              <a:t>C</a:t>
            </a:r>
            <a:r>
              <a:rPr sz="1100" i="1" spc="80" dirty="0">
                <a:latin typeface="Cambria"/>
                <a:cs typeface="Cambria"/>
              </a:rPr>
              <a:t> </a:t>
            </a:r>
            <a:r>
              <a:rPr sz="950" dirty="0">
                <a:latin typeface="Trebuchet MS"/>
                <a:cs typeface="Trebuchet MS"/>
              </a:rPr>
              <a:t>entails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1100" i="1" dirty="0">
                <a:latin typeface="Cambria"/>
                <a:cs typeface="Cambria"/>
              </a:rPr>
              <a:t>A</a:t>
            </a:r>
            <a:r>
              <a:rPr sz="1100" i="1" spc="60" dirty="0">
                <a:latin typeface="Cambria"/>
                <a:cs typeface="Cambria"/>
              </a:rPr>
              <a:t> </a:t>
            </a:r>
            <a:r>
              <a:rPr sz="950" dirty="0">
                <a:latin typeface="Trebuchet MS"/>
                <a:cs typeface="Trebuchet MS"/>
              </a:rPr>
              <a:t>hypo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1100" i="1" spc="85" dirty="0">
                <a:latin typeface="Cambria"/>
                <a:cs typeface="Cambria"/>
              </a:rPr>
              <a:t>C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31" name="object 3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20" dirty="0"/>
              <a:t>Pawan</a:t>
            </a:r>
            <a:r>
              <a:rPr spc="15" dirty="0"/>
              <a:t> </a:t>
            </a:r>
            <a:r>
              <a:rPr dirty="0"/>
              <a:t>Goyal</a:t>
            </a:r>
            <a:r>
              <a:rPr spc="170" dirty="0"/>
              <a:t> </a:t>
            </a:r>
            <a:r>
              <a:rPr dirty="0"/>
              <a:t>(IIT</a:t>
            </a:r>
            <a:r>
              <a:rPr spc="15" dirty="0"/>
              <a:t> </a:t>
            </a:r>
            <a:r>
              <a:rPr spc="-10" dirty="0"/>
              <a:t>Kharagpur)</a:t>
            </a:r>
          </a:p>
        </p:txBody>
      </p:sp>
      <p:sp>
        <p:nvSpPr>
          <p:cNvPr id="33" name="object 33"/>
          <p:cNvSpPr txBox="1"/>
          <p:nvPr/>
        </p:nvSpPr>
        <p:spPr>
          <a:xfrm>
            <a:off x="360826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1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34" name="object 3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/>
              <a:t>16</a:t>
            </a:r>
            <a:r>
              <a:rPr spc="-20" dirty="0"/>
              <a:t> </a:t>
            </a:r>
            <a:r>
              <a:rPr spc="-110" dirty="0"/>
              <a:t>/</a:t>
            </a:r>
            <a:r>
              <a:rPr spc="15" dirty="0"/>
              <a:t> </a:t>
            </a:r>
            <a:r>
              <a:rPr spc="-25" dirty="0"/>
              <a:t>18</a:t>
            </a:r>
          </a:p>
        </p:txBody>
      </p:sp>
    </p:spTree>
  </p:cSld>
  <p:clrMapOvr>
    <a:masterClrMapping/>
  </p:clrMapOvr>
  <p:transition>
    <p:cut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Meronyms</a:t>
            </a:r>
            <a:r>
              <a:rPr spc="-25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spc="-10" dirty="0"/>
              <a:t>holonyms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822693"/>
            <a:ext cx="4483735" cy="796925"/>
            <a:chOff x="87743" y="822693"/>
            <a:chExt cx="4483735" cy="796925"/>
          </a:xfrm>
        </p:grpSpPr>
        <p:sp>
          <p:nvSpPr>
            <p:cNvPr id="4" name="object 4"/>
            <p:cNvSpPr/>
            <p:nvPr/>
          </p:nvSpPr>
          <p:spPr>
            <a:xfrm>
              <a:off x="87743" y="822693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6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66" y="185674"/>
                  </a:lnTo>
                  <a:lnTo>
                    <a:pt x="4432566" y="50800"/>
                  </a:lnTo>
                  <a:lnTo>
                    <a:pt x="4428558" y="31075"/>
                  </a:lnTo>
                  <a:lnTo>
                    <a:pt x="4417644" y="14922"/>
                  </a:lnTo>
                  <a:lnTo>
                    <a:pt x="4401491" y="4008"/>
                  </a:lnTo>
                  <a:lnTo>
                    <a:pt x="4381766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995705"/>
              <a:ext cx="4432566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1517726"/>
              <a:ext cx="101599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1505026"/>
              <a:ext cx="4381715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311" y="866927"/>
              <a:ext cx="50749" cy="650798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1039990"/>
              <a:ext cx="4432935" cy="528955"/>
            </a:xfrm>
            <a:custGeom>
              <a:avLst/>
              <a:gdLst/>
              <a:ahLst/>
              <a:cxnLst/>
              <a:rect l="l" t="t" r="r" b="b"/>
              <a:pathLst>
                <a:path w="4432935" h="528955">
                  <a:moveTo>
                    <a:pt x="4432566" y="0"/>
                  </a:moveTo>
                  <a:lnTo>
                    <a:pt x="0" y="0"/>
                  </a:lnTo>
                  <a:lnTo>
                    <a:pt x="0" y="477735"/>
                  </a:lnTo>
                  <a:lnTo>
                    <a:pt x="4008" y="497460"/>
                  </a:lnTo>
                  <a:lnTo>
                    <a:pt x="14922" y="513613"/>
                  </a:lnTo>
                  <a:lnTo>
                    <a:pt x="31075" y="524527"/>
                  </a:lnTo>
                  <a:lnTo>
                    <a:pt x="50800" y="528535"/>
                  </a:lnTo>
                  <a:lnTo>
                    <a:pt x="4381766" y="528535"/>
                  </a:lnTo>
                  <a:lnTo>
                    <a:pt x="4401491" y="524527"/>
                  </a:lnTo>
                  <a:lnTo>
                    <a:pt x="4417644" y="513613"/>
                  </a:lnTo>
                  <a:lnTo>
                    <a:pt x="4428558" y="497460"/>
                  </a:lnTo>
                  <a:lnTo>
                    <a:pt x="4432566" y="477735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09" y="905027"/>
              <a:ext cx="0" cy="631825"/>
            </a:xfrm>
            <a:custGeom>
              <a:avLst/>
              <a:gdLst/>
              <a:ahLst/>
              <a:cxnLst/>
              <a:rect l="l" t="t" r="r" b="b"/>
              <a:pathLst>
                <a:path h="631825">
                  <a:moveTo>
                    <a:pt x="0" y="63174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09" y="89232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09" y="87962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09" y="86692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25844" y="751235"/>
            <a:ext cx="3510279" cy="784860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sz="1100" i="1" spc="-10" dirty="0">
                <a:solidFill>
                  <a:srgbClr val="3333B2"/>
                </a:solidFill>
                <a:latin typeface="Cambria"/>
                <a:cs typeface="Cambria"/>
              </a:rPr>
              <a:t>Definition</a:t>
            </a: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sz="950" b="1" dirty="0">
                <a:latin typeface="Trebuchet MS"/>
                <a:cs typeface="Trebuchet MS"/>
              </a:rPr>
              <a:t>Meronymy:</a:t>
            </a:r>
            <a:r>
              <a:rPr sz="950" b="1" spc="10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an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asymmetric,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transitive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relation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between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senses.</a:t>
            </a:r>
            <a:endParaRPr sz="950">
              <a:latin typeface="Trebuchet MS"/>
              <a:cs typeface="Trebuchet MS"/>
            </a:endParaRPr>
          </a:p>
          <a:p>
            <a:pPr marL="12700" marR="991235">
              <a:lnSpc>
                <a:spcPts val="1350"/>
              </a:lnSpc>
              <a:spcBef>
                <a:spcPts val="85"/>
              </a:spcBef>
            </a:pPr>
            <a:r>
              <a:rPr sz="1100" i="1" spc="65" dirty="0">
                <a:latin typeface="Cambria"/>
                <a:cs typeface="Cambria"/>
              </a:rPr>
              <a:t>X</a:t>
            </a:r>
            <a:r>
              <a:rPr sz="1100" i="1" spc="100" dirty="0">
                <a:latin typeface="Cambria"/>
                <a:cs typeface="Cambria"/>
              </a:rPr>
              <a:t> </a:t>
            </a:r>
            <a:r>
              <a:rPr sz="950" dirty="0">
                <a:latin typeface="Trebuchet MS"/>
                <a:cs typeface="Trebuchet MS"/>
              </a:rPr>
              <a:t>is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b="1" dirty="0">
                <a:latin typeface="Trebuchet MS"/>
                <a:cs typeface="Trebuchet MS"/>
              </a:rPr>
              <a:t>meronym</a:t>
            </a:r>
            <a:r>
              <a:rPr sz="950" b="1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1100" i="1" dirty="0">
                <a:latin typeface="Cambria"/>
                <a:cs typeface="Cambria"/>
              </a:rPr>
              <a:t>Y</a:t>
            </a:r>
            <a:r>
              <a:rPr sz="1100" i="1" spc="140" dirty="0">
                <a:latin typeface="Cambria"/>
                <a:cs typeface="Cambria"/>
              </a:rPr>
              <a:t> </a:t>
            </a:r>
            <a:r>
              <a:rPr sz="950" spc="-70" dirty="0">
                <a:latin typeface="Trebuchet MS"/>
                <a:cs typeface="Trebuchet MS"/>
              </a:rPr>
              <a:t>if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85" dirty="0">
                <a:latin typeface="Trebuchet MS"/>
                <a:cs typeface="Trebuchet MS"/>
              </a:rPr>
              <a:t>it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denotes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part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1100" i="1" spc="-25" dirty="0">
                <a:latin typeface="Cambria"/>
                <a:cs typeface="Cambria"/>
              </a:rPr>
              <a:t>Y</a:t>
            </a:r>
            <a:r>
              <a:rPr sz="950" spc="-25" dirty="0">
                <a:latin typeface="Trebuchet MS"/>
                <a:cs typeface="Trebuchet MS"/>
              </a:rPr>
              <a:t>.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inverse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relation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is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b="1" spc="-10" dirty="0">
                <a:latin typeface="Trebuchet MS"/>
                <a:cs typeface="Trebuchet MS"/>
              </a:rPr>
              <a:t>holonymy</a:t>
            </a:r>
            <a:r>
              <a:rPr sz="950" spc="-10" dirty="0">
                <a:latin typeface="Trebuchet MS"/>
                <a:cs typeface="Trebuchet MS"/>
              </a:rPr>
              <a:t>.</a:t>
            </a:r>
            <a:endParaRPr sz="950">
              <a:latin typeface="Trebuchet MS"/>
              <a:cs typeface="Trebuchet MS"/>
            </a:endParaRPr>
          </a:p>
        </p:txBody>
      </p:sp>
      <p:graphicFrame>
        <p:nvGraphicFramePr>
          <p:cNvPr id="15" name="object 15"/>
          <p:cNvGraphicFramePr>
            <a:graphicFrameLocks noGrp="1"/>
          </p:cNvGraphicFramePr>
          <p:nvPr/>
        </p:nvGraphicFramePr>
        <p:xfrm>
          <a:off x="1651063" y="1745716"/>
          <a:ext cx="1300480" cy="8826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74370"/>
                <a:gridCol w="626110"/>
              </a:tblGrid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950" spc="-10" dirty="0">
                          <a:latin typeface="Trebuchet MS"/>
                          <a:cs typeface="Trebuchet MS"/>
                        </a:rPr>
                        <a:t>meronym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19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950" spc="-10" dirty="0">
                          <a:latin typeface="Trebuchet MS"/>
                          <a:cs typeface="Trebuchet MS"/>
                        </a:rPr>
                        <a:t>holonym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19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950" spc="-10" dirty="0">
                          <a:latin typeface="Trebuchet MS"/>
                          <a:cs typeface="Trebuchet MS"/>
                        </a:rPr>
                        <a:t>porch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19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950" spc="-10" dirty="0">
                          <a:latin typeface="Trebuchet MS"/>
                          <a:cs typeface="Trebuchet MS"/>
                        </a:rPr>
                        <a:t>house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19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950" spc="-10" dirty="0">
                          <a:latin typeface="Trebuchet MS"/>
                          <a:cs typeface="Trebuchet MS"/>
                        </a:rPr>
                        <a:t>wheel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19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950" spc="-25" dirty="0">
                          <a:latin typeface="Trebuchet MS"/>
                          <a:cs typeface="Trebuchet MS"/>
                        </a:rPr>
                        <a:t>car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19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950" spc="-25" dirty="0">
                          <a:latin typeface="Trebuchet MS"/>
                          <a:cs typeface="Trebuchet MS"/>
                        </a:rPr>
                        <a:t>leg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19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950" spc="-10" dirty="0">
                          <a:latin typeface="Trebuchet MS"/>
                          <a:cs typeface="Trebuchet MS"/>
                        </a:rPr>
                        <a:t>chair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19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950" spc="-20" dirty="0">
                          <a:latin typeface="Trebuchet MS"/>
                          <a:cs typeface="Trebuchet MS"/>
                        </a:rPr>
                        <a:t>nose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19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950" spc="-20" dirty="0">
                          <a:latin typeface="Trebuchet MS"/>
                          <a:cs typeface="Trebuchet MS"/>
                        </a:rPr>
                        <a:t>face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19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1" name="object 2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20" dirty="0"/>
              <a:t>Pawan</a:t>
            </a:r>
            <a:r>
              <a:rPr spc="15" dirty="0"/>
              <a:t> </a:t>
            </a:r>
            <a:r>
              <a:rPr dirty="0"/>
              <a:t>Goyal</a:t>
            </a:r>
            <a:r>
              <a:rPr spc="170" dirty="0"/>
              <a:t> </a:t>
            </a:r>
            <a:r>
              <a:rPr dirty="0"/>
              <a:t>(IIT</a:t>
            </a:r>
            <a:r>
              <a:rPr spc="15" dirty="0"/>
              <a:t> </a:t>
            </a:r>
            <a:r>
              <a:rPr spc="-10" dirty="0"/>
              <a:t>Kharagpur)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360826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1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/>
              <a:t>17</a:t>
            </a:r>
            <a:r>
              <a:rPr spc="-20" dirty="0"/>
              <a:t> </a:t>
            </a:r>
            <a:r>
              <a:rPr spc="-110" dirty="0"/>
              <a:t>/</a:t>
            </a:r>
            <a:r>
              <a:rPr spc="15" dirty="0"/>
              <a:t> </a:t>
            </a:r>
            <a:r>
              <a:rPr spc="-25" dirty="0"/>
              <a:t>18</a:t>
            </a:r>
          </a:p>
        </p:txBody>
      </p:sp>
    </p:spTree>
  </p:cSld>
  <p:clrMapOvr>
    <a:masterClrMapping/>
  </p:clrMapOvr>
  <p:transition>
    <p:cut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7743" y="893356"/>
            <a:ext cx="4432935" cy="82550"/>
          </a:xfrm>
          <a:custGeom>
            <a:avLst/>
            <a:gdLst/>
            <a:ahLst/>
            <a:cxnLst/>
            <a:rect l="l" t="t" r="r" b="b"/>
            <a:pathLst>
              <a:path w="4432935" h="82550">
                <a:moveTo>
                  <a:pt x="4381766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82384"/>
                </a:lnTo>
                <a:lnTo>
                  <a:pt x="4432566" y="82384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4" y="14922"/>
                </a:lnTo>
                <a:lnTo>
                  <a:pt x="4401491" y="4008"/>
                </a:lnTo>
                <a:lnTo>
                  <a:pt x="4381766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87743" y="937768"/>
            <a:ext cx="4483735" cy="382270"/>
            <a:chOff x="87743" y="937768"/>
            <a:chExt cx="4483735" cy="38227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8544" y="1218336"/>
              <a:ext cx="101599" cy="1016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344" y="1205636"/>
              <a:ext cx="4381715" cy="1143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20311" y="943914"/>
              <a:ext cx="50749" cy="274421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87743" y="937768"/>
              <a:ext cx="4432935" cy="331470"/>
            </a:xfrm>
            <a:custGeom>
              <a:avLst/>
              <a:gdLst/>
              <a:ahLst/>
              <a:cxnLst/>
              <a:rect l="l" t="t" r="r" b="b"/>
              <a:pathLst>
                <a:path w="4432935" h="331469">
                  <a:moveTo>
                    <a:pt x="4432566" y="0"/>
                  </a:moveTo>
                  <a:lnTo>
                    <a:pt x="0" y="0"/>
                  </a:lnTo>
                  <a:lnTo>
                    <a:pt x="0" y="280568"/>
                  </a:lnTo>
                  <a:lnTo>
                    <a:pt x="4008" y="300293"/>
                  </a:lnTo>
                  <a:lnTo>
                    <a:pt x="14922" y="316445"/>
                  </a:lnTo>
                  <a:lnTo>
                    <a:pt x="31075" y="327359"/>
                  </a:lnTo>
                  <a:lnTo>
                    <a:pt x="50800" y="331368"/>
                  </a:lnTo>
                  <a:lnTo>
                    <a:pt x="4381766" y="331368"/>
                  </a:lnTo>
                  <a:lnTo>
                    <a:pt x="4401491" y="327359"/>
                  </a:lnTo>
                  <a:lnTo>
                    <a:pt x="4417644" y="316445"/>
                  </a:lnTo>
                  <a:lnTo>
                    <a:pt x="4428558" y="300293"/>
                  </a:lnTo>
                  <a:lnTo>
                    <a:pt x="4432566" y="280568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520309" y="982014"/>
              <a:ext cx="0" cy="255904"/>
            </a:xfrm>
            <a:custGeom>
              <a:avLst/>
              <a:gdLst/>
              <a:ahLst/>
              <a:cxnLst/>
              <a:rect l="l" t="t" r="r" b="b"/>
              <a:pathLst>
                <a:path h="255905">
                  <a:moveTo>
                    <a:pt x="0" y="255371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520309" y="969311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09" y="956611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09" y="943911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154315" y="942136"/>
            <a:ext cx="229997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i="1" spc="-60" dirty="0">
                <a:solidFill>
                  <a:srgbClr val="FFFFFF"/>
                </a:solidFill>
                <a:latin typeface="Cambria"/>
                <a:cs typeface="Cambria"/>
              </a:rPr>
              <a:t>Word</a:t>
            </a:r>
            <a:r>
              <a:rPr sz="1400" i="1" spc="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Sense</a:t>
            </a:r>
            <a:r>
              <a:rPr sz="1400" i="1" spc="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Disambiguation</a:t>
            </a:r>
            <a:r>
              <a:rPr sz="1400" i="1" spc="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-</a:t>
            </a:r>
            <a:r>
              <a:rPr sz="1400" i="1" spc="2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spc="-50" dirty="0">
                <a:solidFill>
                  <a:srgbClr val="FFFFFF"/>
                </a:solidFill>
                <a:latin typeface="Cambria"/>
                <a:cs typeface="Cambria"/>
              </a:rPr>
              <a:t>I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20" dirty="0"/>
              <a:t>Pawan</a:t>
            </a:r>
            <a:r>
              <a:rPr spc="15" dirty="0"/>
              <a:t> </a:t>
            </a:r>
            <a:r>
              <a:rPr dirty="0"/>
              <a:t>Goyal</a:t>
            </a:r>
            <a:r>
              <a:rPr spc="170" dirty="0"/>
              <a:t> </a:t>
            </a:r>
            <a:r>
              <a:rPr dirty="0"/>
              <a:t>(IIT</a:t>
            </a:r>
            <a:r>
              <a:rPr spc="15" dirty="0"/>
              <a:t> </a:t>
            </a:r>
            <a:r>
              <a:rPr spc="-10" dirty="0"/>
              <a:t>Kharagpur)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364622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3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r>
              <a:rPr dirty="0"/>
              <a:t>1</a:t>
            </a:r>
            <a:r>
              <a:rPr spc="-5" dirty="0"/>
              <a:t> </a:t>
            </a:r>
            <a:r>
              <a:rPr spc="-110" dirty="0"/>
              <a:t>/</a:t>
            </a:r>
            <a:r>
              <a:rPr spc="15" dirty="0"/>
              <a:t> </a:t>
            </a:r>
            <a:r>
              <a:rPr spc="-25" dirty="0"/>
              <a:t>15</a:t>
            </a:r>
          </a:p>
        </p:txBody>
      </p:sp>
    </p:spTree>
  </p:cSld>
  <p:clrMapOvr>
    <a:masterClrMapping/>
  </p:clrMapOvr>
  <p:transition>
    <p:cut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60" dirty="0"/>
              <a:t>Word</a:t>
            </a:r>
            <a:r>
              <a:rPr dirty="0"/>
              <a:t> Sense</a:t>
            </a:r>
            <a:r>
              <a:rPr spc="5" dirty="0"/>
              <a:t> </a:t>
            </a:r>
            <a:r>
              <a:rPr dirty="0"/>
              <a:t>Disambiguation </a:t>
            </a:r>
            <a:r>
              <a:rPr spc="-10" dirty="0"/>
              <a:t>(WSD)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639533"/>
            <a:ext cx="4483735" cy="1483360"/>
            <a:chOff x="87743" y="639533"/>
            <a:chExt cx="4483735" cy="1483360"/>
          </a:xfrm>
        </p:grpSpPr>
        <p:sp>
          <p:nvSpPr>
            <p:cNvPr id="4" name="object 4"/>
            <p:cNvSpPr/>
            <p:nvPr/>
          </p:nvSpPr>
          <p:spPr>
            <a:xfrm>
              <a:off x="87743" y="639533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6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66" y="185674"/>
                  </a:lnTo>
                  <a:lnTo>
                    <a:pt x="4432566" y="50800"/>
                  </a:lnTo>
                  <a:lnTo>
                    <a:pt x="4428558" y="31075"/>
                  </a:lnTo>
                  <a:lnTo>
                    <a:pt x="4417644" y="14922"/>
                  </a:lnTo>
                  <a:lnTo>
                    <a:pt x="4401491" y="4008"/>
                  </a:lnTo>
                  <a:lnTo>
                    <a:pt x="4381766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812558"/>
              <a:ext cx="4432566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2021027"/>
              <a:ext cx="101599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2008327"/>
              <a:ext cx="4381715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311" y="683780"/>
              <a:ext cx="50749" cy="1337246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856818"/>
              <a:ext cx="4432935" cy="1215390"/>
            </a:xfrm>
            <a:custGeom>
              <a:avLst/>
              <a:gdLst/>
              <a:ahLst/>
              <a:cxnLst/>
              <a:rect l="l" t="t" r="r" b="b"/>
              <a:pathLst>
                <a:path w="4432935" h="1215389">
                  <a:moveTo>
                    <a:pt x="4432566" y="0"/>
                  </a:moveTo>
                  <a:lnTo>
                    <a:pt x="0" y="0"/>
                  </a:lnTo>
                  <a:lnTo>
                    <a:pt x="0" y="1164209"/>
                  </a:lnTo>
                  <a:lnTo>
                    <a:pt x="4008" y="1183933"/>
                  </a:lnTo>
                  <a:lnTo>
                    <a:pt x="14922" y="1200086"/>
                  </a:lnTo>
                  <a:lnTo>
                    <a:pt x="31075" y="1211000"/>
                  </a:lnTo>
                  <a:lnTo>
                    <a:pt x="50800" y="1215009"/>
                  </a:lnTo>
                  <a:lnTo>
                    <a:pt x="4381766" y="1215009"/>
                  </a:lnTo>
                  <a:lnTo>
                    <a:pt x="4401491" y="1211000"/>
                  </a:lnTo>
                  <a:lnTo>
                    <a:pt x="4417644" y="1200086"/>
                  </a:lnTo>
                  <a:lnTo>
                    <a:pt x="4428558" y="1183933"/>
                  </a:lnTo>
                  <a:lnTo>
                    <a:pt x="4432566" y="1164209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09" y="721855"/>
              <a:ext cx="0" cy="1318260"/>
            </a:xfrm>
            <a:custGeom>
              <a:avLst/>
              <a:gdLst/>
              <a:ahLst/>
              <a:cxnLst/>
              <a:rect l="l" t="t" r="r" b="b"/>
              <a:pathLst>
                <a:path h="1318260">
                  <a:moveTo>
                    <a:pt x="0" y="1318221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09" y="70915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09" y="69645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09" y="68375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1597" y="903693"/>
              <a:ext cx="64757" cy="6475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1597" y="1113726"/>
              <a:ext cx="64757" cy="64757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81597" y="1303515"/>
              <a:ext cx="64757" cy="64757"/>
            </a:xfrm>
            <a:prstGeom prst="rect">
              <a:avLst/>
            </a:prstGeom>
          </p:spPr>
        </p:pic>
      </p:grpSp>
      <p:grpSp>
        <p:nvGrpSpPr>
          <p:cNvPr id="17" name="object 17"/>
          <p:cNvGrpSpPr/>
          <p:nvPr/>
        </p:nvGrpSpPr>
        <p:grpSpPr>
          <a:xfrm>
            <a:off x="87743" y="2223757"/>
            <a:ext cx="4483735" cy="839469"/>
            <a:chOff x="87743" y="2223757"/>
            <a:chExt cx="4483735" cy="839469"/>
          </a:xfrm>
        </p:grpSpPr>
        <p:sp>
          <p:nvSpPr>
            <p:cNvPr id="18" name="object 18"/>
            <p:cNvSpPr/>
            <p:nvPr/>
          </p:nvSpPr>
          <p:spPr>
            <a:xfrm>
              <a:off x="87743" y="2223757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6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799"/>
                  </a:lnTo>
                  <a:lnTo>
                    <a:pt x="0" y="185673"/>
                  </a:lnTo>
                  <a:lnTo>
                    <a:pt x="4432566" y="185673"/>
                  </a:lnTo>
                  <a:lnTo>
                    <a:pt x="4432566" y="50799"/>
                  </a:lnTo>
                  <a:lnTo>
                    <a:pt x="4428558" y="31075"/>
                  </a:lnTo>
                  <a:lnTo>
                    <a:pt x="4417644" y="14922"/>
                  </a:lnTo>
                  <a:lnTo>
                    <a:pt x="4401491" y="4008"/>
                  </a:lnTo>
                  <a:lnTo>
                    <a:pt x="4381766" y="0"/>
                  </a:lnTo>
                  <a:close/>
                </a:path>
              </a:pathLst>
            </a:custGeom>
            <a:solidFill>
              <a:srgbClr val="CCE5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7744" y="2396769"/>
              <a:ext cx="4432566" cy="50609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38544" y="2961551"/>
              <a:ext cx="101599" cy="10160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89344" y="2948851"/>
              <a:ext cx="4381715" cy="114300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520311" y="2267991"/>
              <a:ext cx="50749" cy="693559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87743" y="2441054"/>
              <a:ext cx="4432935" cy="571500"/>
            </a:xfrm>
            <a:custGeom>
              <a:avLst/>
              <a:gdLst/>
              <a:ahLst/>
              <a:cxnLst/>
              <a:rect l="l" t="t" r="r" b="b"/>
              <a:pathLst>
                <a:path w="4432935" h="571500">
                  <a:moveTo>
                    <a:pt x="4432566" y="0"/>
                  </a:moveTo>
                  <a:lnTo>
                    <a:pt x="0" y="0"/>
                  </a:lnTo>
                  <a:lnTo>
                    <a:pt x="0" y="520496"/>
                  </a:lnTo>
                  <a:lnTo>
                    <a:pt x="4008" y="540221"/>
                  </a:lnTo>
                  <a:lnTo>
                    <a:pt x="14922" y="556374"/>
                  </a:lnTo>
                  <a:lnTo>
                    <a:pt x="31075" y="567288"/>
                  </a:lnTo>
                  <a:lnTo>
                    <a:pt x="50800" y="571296"/>
                  </a:lnTo>
                  <a:lnTo>
                    <a:pt x="4381766" y="571296"/>
                  </a:lnTo>
                  <a:lnTo>
                    <a:pt x="4401491" y="567288"/>
                  </a:lnTo>
                  <a:lnTo>
                    <a:pt x="4417644" y="556374"/>
                  </a:lnTo>
                  <a:lnTo>
                    <a:pt x="4428558" y="540221"/>
                  </a:lnTo>
                  <a:lnTo>
                    <a:pt x="4432566" y="520496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E5F2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520309" y="2306091"/>
              <a:ext cx="0" cy="675005"/>
            </a:xfrm>
            <a:custGeom>
              <a:avLst/>
              <a:gdLst/>
              <a:ahLst/>
              <a:cxnLst/>
              <a:rect l="l" t="t" r="r" b="b"/>
              <a:pathLst>
                <a:path h="675005">
                  <a:moveTo>
                    <a:pt x="0" y="67450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520309" y="229338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520309" y="228068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520309" y="226798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81597" y="2490787"/>
              <a:ext cx="64757" cy="64757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81597" y="2872892"/>
              <a:ext cx="64757" cy="64757"/>
            </a:xfrm>
            <a:prstGeom prst="rect">
              <a:avLst/>
            </a:prstGeom>
          </p:spPr>
        </p:pic>
      </p:grpSp>
      <p:sp>
        <p:nvSpPr>
          <p:cNvPr id="30" name="object 30"/>
          <p:cNvSpPr txBox="1"/>
          <p:nvPr/>
        </p:nvSpPr>
        <p:spPr>
          <a:xfrm>
            <a:off x="87744" y="568103"/>
            <a:ext cx="4340225" cy="2409825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500"/>
              </a:spcBef>
            </a:pPr>
            <a:r>
              <a:rPr sz="1100" i="1" dirty="0">
                <a:solidFill>
                  <a:srgbClr val="3333B2"/>
                </a:solidFill>
                <a:latin typeface="Cambria"/>
                <a:cs typeface="Cambria"/>
              </a:rPr>
              <a:t>Sense</a:t>
            </a:r>
            <a:r>
              <a:rPr sz="1100" i="1" spc="-50" dirty="0">
                <a:solidFill>
                  <a:srgbClr val="3333B2"/>
                </a:solidFill>
                <a:latin typeface="Cambria"/>
                <a:cs typeface="Cambria"/>
              </a:rPr>
              <a:t> </a:t>
            </a:r>
            <a:r>
              <a:rPr sz="1100" i="1" spc="-10" dirty="0">
                <a:solidFill>
                  <a:srgbClr val="3333B2"/>
                </a:solidFill>
                <a:latin typeface="Cambria"/>
                <a:cs typeface="Cambria"/>
              </a:rPr>
              <a:t>ambiguity</a:t>
            </a:r>
            <a:endParaRPr sz="1100">
              <a:latin typeface="Cambria"/>
              <a:cs typeface="Cambria"/>
            </a:endParaRPr>
          </a:p>
          <a:p>
            <a:pPr marL="327660">
              <a:lnSpc>
                <a:spcPct val="100000"/>
              </a:lnSpc>
              <a:spcBef>
                <a:spcPts val="400"/>
              </a:spcBef>
            </a:pPr>
            <a:r>
              <a:rPr sz="950" spc="50" dirty="0">
                <a:latin typeface="Trebuchet MS"/>
                <a:cs typeface="Trebuchet MS"/>
              </a:rPr>
              <a:t>Many</a:t>
            </a:r>
            <a:r>
              <a:rPr sz="950" spc="6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words</a:t>
            </a:r>
            <a:r>
              <a:rPr sz="950" spc="6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have</a:t>
            </a:r>
            <a:r>
              <a:rPr sz="950" spc="6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several</a:t>
            </a:r>
            <a:r>
              <a:rPr sz="950" spc="6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meanings</a:t>
            </a:r>
            <a:r>
              <a:rPr sz="950" spc="6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or</a:t>
            </a:r>
            <a:r>
              <a:rPr sz="950" spc="60" dirty="0">
                <a:latin typeface="Trebuchet MS"/>
                <a:cs typeface="Trebuchet MS"/>
              </a:rPr>
              <a:t> </a:t>
            </a:r>
            <a:r>
              <a:rPr sz="950" spc="50" dirty="0">
                <a:latin typeface="Trebuchet MS"/>
                <a:cs typeface="Trebuchet MS"/>
              </a:rPr>
              <a:t>senses</a:t>
            </a:r>
            <a:endParaRPr sz="950">
              <a:latin typeface="Trebuchet MS"/>
              <a:cs typeface="Trebuchet MS"/>
            </a:endParaRPr>
          </a:p>
          <a:p>
            <a:pPr marL="327660" marR="1491615">
              <a:lnSpc>
                <a:spcPct val="131100"/>
              </a:lnSpc>
              <a:spcBef>
                <a:spcPts val="160"/>
              </a:spcBef>
            </a:pP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meaning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b="1" spc="85" dirty="0">
                <a:latin typeface="Trebuchet MS"/>
                <a:cs typeface="Trebuchet MS"/>
              </a:rPr>
              <a:t>bass</a:t>
            </a:r>
            <a:r>
              <a:rPr sz="950" b="1" spc="4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depends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on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context </a:t>
            </a:r>
            <a:r>
              <a:rPr sz="950" dirty="0">
                <a:latin typeface="Trebuchet MS"/>
                <a:cs typeface="Trebuchet MS"/>
              </a:rPr>
              <a:t>Are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we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talking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about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music,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or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fish?</a:t>
            </a:r>
            <a:endParaRPr sz="950">
              <a:latin typeface="Trebuchet MS"/>
              <a:cs typeface="Trebuchet MS"/>
            </a:endParaRPr>
          </a:p>
          <a:p>
            <a:pPr marL="602615" marR="88900" indent="-116205">
              <a:lnSpc>
                <a:spcPct val="110700"/>
              </a:lnSpc>
              <a:spcBef>
                <a:spcPts val="190"/>
              </a:spcBef>
              <a:buClr>
                <a:srgbClr val="D6D6EF"/>
              </a:buClr>
              <a:buSzPct val="66666"/>
              <a:buFont typeface="Lucida Sans Unicode"/>
              <a:buChar char="►"/>
              <a:tabLst>
                <a:tab pos="604520" algn="l"/>
              </a:tabLst>
            </a:pPr>
            <a:r>
              <a:rPr sz="900" dirty="0">
                <a:latin typeface="Trebuchet MS"/>
                <a:cs typeface="Trebuchet MS"/>
              </a:rPr>
              <a:t>An</a:t>
            </a:r>
            <a:r>
              <a:rPr sz="900" spc="-15" dirty="0">
                <a:latin typeface="Trebuchet MS"/>
                <a:cs typeface="Trebuchet MS"/>
              </a:rPr>
              <a:t> </a:t>
            </a:r>
            <a:r>
              <a:rPr sz="900" spc="-35" dirty="0">
                <a:latin typeface="Trebuchet MS"/>
                <a:cs typeface="Trebuchet MS"/>
              </a:rPr>
              <a:t>electric</a:t>
            </a:r>
            <a:r>
              <a:rPr sz="900" spc="-15" dirty="0">
                <a:latin typeface="Trebuchet MS"/>
                <a:cs typeface="Trebuchet MS"/>
              </a:rPr>
              <a:t> </a:t>
            </a:r>
            <a:r>
              <a:rPr sz="900" spc="-30" dirty="0">
                <a:latin typeface="Trebuchet MS"/>
                <a:cs typeface="Trebuchet MS"/>
              </a:rPr>
              <a:t>guitar</a:t>
            </a:r>
            <a:r>
              <a:rPr sz="900" spc="-10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and</a:t>
            </a:r>
            <a:r>
              <a:rPr sz="900" spc="-15" dirty="0">
                <a:latin typeface="Trebuchet MS"/>
                <a:cs typeface="Trebuchet MS"/>
              </a:rPr>
              <a:t> </a:t>
            </a:r>
            <a:r>
              <a:rPr sz="900" b="1" spc="65" dirty="0">
                <a:latin typeface="Trebuchet MS"/>
                <a:cs typeface="Trebuchet MS"/>
              </a:rPr>
              <a:t>bass</a:t>
            </a:r>
            <a:r>
              <a:rPr sz="900" b="1" spc="-10" dirty="0">
                <a:latin typeface="Trebuchet MS"/>
                <a:cs typeface="Trebuchet MS"/>
              </a:rPr>
              <a:t> </a:t>
            </a:r>
            <a:r>
              <a:rPr sz="900" spc="-25" dirty="0">
                <a:latin typeface="Trebuchet MS"/>
                <a:cs typeface="Trebuchet MS"/>
              </a:rPr>
              <a:t>player</a:t>
            </a:r>
            <a:r>
              <a:rPr sz="900" spc="-1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stand</a:t>
            </a:r>
            <a:r>
              <a:rPr sz="900" spc="-15" dirty="0">
                <a:latin typeface="Trebuchet MS"/>
                <a:cs typeface="Trebuchet MS"/>
              </a:rPr>
              <a:t> </a:t>
            </a:r>
            <a:r>
              <a:rPr sz="900" spc="-65" dirty="0">
                <a:latin typeface="Trebuchet MS"/>
                <a:cs typeface="Trebuchet MS"/>
              </a:rPr>
              <a:t>off</a:t>
            </a:r>
            <a:r>
              <a:rPr sz="900" spc="-10" dirty="0">
                <a:latin typeface="Trebuchet MS"/>
                <a:cs typeface="Trebuchet MS"/>
              </a:rPr>
              <a:t> </a:t>
            </a:r>
            <a:r>
              <a:rPr sz="900" spc="-65" dirty="0">
                <a:latin typeface="Trebuchet MS"/>
                <a:cs typeface="Trebuchet MS"/>
              </a:rPr>
              <a:t>to</a:t>
            </a:r>
            <a:r>
              <a:rPr sz="900" spc="-1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one</a:t>
            </a:r>
            <a:r>
              <a:rPr sz="900" spc="-10" dirty="0">
                <a:latin typeface="Trebuchet MS"/>
                <a:cs typeface="Trebuchet MS"/>
              </a:rPr>
              <a:t> side,</a:t>
            </a:r>
            <a:r>
              <a:rPr sz="900" spc="-15" dirty="0">
                <a:latin typeface="Trebuchet MS"/>
                <a:cs typeface="Trebuchet MS"/>
              </a:rPr>
              <a:t> </a:t>
            </a:r>
            <a:r>
              <a:rPr sz="900" spc="-25" dirty="0">
                <a:latin typeface="Trebuchet MS"/>
                <a:cs typeface="Trebuchet MS"/>
              </a:rPr>
              <a:t>not</a:t>
            </a:r>
            <a:r>
              <a:rPr sz="900" spc="-10" dirty="0">
                <a:latin typeface="Trebuchet MS"/>
                <a:cs typeface="Trebuchet MS"/>
              </a:rPr>
              <a:t> </a:t>
            </a:r>
            <a:r>
              <a:rPr sz="900" spc="-25" dirty="0">
                <a:latin typeface="Trebuchet MS"/>
                <a:cs typeface="Trebuchet MS"/>
              </a:rPr>
              <a:t>really</a:t>
            </a:r>
            <a:r>
              <a:rPr sz="900" spc="-15" dirty="0">
                <a:latin typeface="Trebuchet MS"/>
                <a:cs typeface="Trebuchet MS"/>
              </a:rPr>
              <a:t> </a:t>
            </a:r>
            <a:r>
              <a:rPr sz="900" spc="-35" dirty="0">
                <a:latin typeface="Trebuchet MS"/>
                <a:cs typeface="Trebuchet MS"/>
              </a:rPr>
              <a:t>part</a:t>
            </a:r>
            <a:r>
              <a:rPr sz="900" spc="-15" dirty="0">
                <a:latin typeface="Trebuchet MS"/>
                <a:cs typeface="Trebuchet MS"/>
              </a:rPr>
              <a:t> </a:t>
            </a:r>
            <a:r>
              <a:rPr sz="900" spc="-25" dirty="0">
                <a:latin typeface="Trebuchet MS"/>
                <a:cs typeface="Trebuchet MS"/>
              </a:rPr>
              <a:t>of 	the</a:t>
            </a:r>
            <a:r>
              <a:rPr sz="900" spc="-1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scene,</a:t>
            </a:r>
            <a:r>
              <a:rPr sz="900" spc="-15" dirty="0">
                <a:latin typeface="Trebuchet MS"/>
                <a:cs typeface="Trebuchet MS"/>
              </a:rPr>
              <a:t> </a:t>
            </a:r>
            <a:r>
              <a:rPr sz="900" spc="-45" dirty="0">
                <a:latin typeface="Trebuchet MS"/>
                <a:cs typeface="Trebuchet MS"/>
              </a:rPr>
              <a:t>just</a:t>
            </a:r>
            <a:r>
              <a:rPr sz="900" spc="-15" dirty="0">
                <a:latin typeface="Trebuchet MS"/>
                <a:cs typeface="Trebuchet MS"/>
              </a:rPr>
              <a:t> </a:t>
            </a:r>
            <a:r>
              <a:rPr sz="900" spc="50" dirty="0">
                <a:latin typeface="Trebuchet MS"/>
                <a:cs typeface="Trebuchet MS"/>
              </a:rPr>
              <a:t>as</a:t>
            </a:r>
            <a:r>
              <a:rPr sz="900" spc="-1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a</a:t>
            </a:r>
            <a:r>
              <a:rPr sz="900" spc="-15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sort</a:t>
            </a:r>
            <a:r>
              <a:rPr sz="900" spc="-15" dirty="0">
                <a:latin typeface="Trebuchet MS"/>
                <a:cs typeface="Trebuchet MS"/>
              </a:rPr>
              <a:t> </a:t>
            </a:r>
            <a:r>
              <a:rPr sz="900" spc="-45" dirty="0">
                <a:latin typeface="Trebuchet MS"/>
                <a:cs typeface="Trebuchet MS"/>
              </a:rPr>
              <a:t>of</a:t>
            </a:r>
            <a:r>
              <a:rPr sz="900" spc="-1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nod</a:t>
            </a:r>
            <a:r>
              <a:rPr sz="900" spc="-10" dirty="0">
                <a:latin typeface="Trebuchet MS"/>
                <a:cs typeface="Trebuchet MS"/>
              </a:rPr>
              <a:t> </a:t>
            </a:r>
            <a:r>
              <a:rPr sz="900" spc="-65" dirty="0">
                <a:latin typeface="Trebuchet MS"/>
                <a:cs typeface="Trebuchet MS"/>
              </a:rPr>
              <a:t>to</a:t>
            </a:r>
            <a:r>
              <a:rPr sz="900" spc="-1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gringo</a:t>
            </a:r>
            <a:r>
              <a:rPr sz="900" spc="-15" dirty="0">
                <a:latin typeface="Trebuchet MS"/>
                <a:cs typeface="Trebuchet MS"/>
              </a:rPr>
              <a:t> </a:t>
            </a:r>
            <a:r>
              <a:rPr sz="900" spc="-20" dirty="0">
                <a:latin typeface="Trebuchet MS"/>
                <a:cs typeface="Trebuchet MS"/>
              </a:rPr>
              <a:t>expectations</a:t>
            </a:r>
            <a:r>
              <a:rPr sz="900" spc="-15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perhaps.</a:t>
            </a:r>
            <a:endParaRPr sz="900">
              <a:latin typeface="Trebuchet MS"/>
              <a:cs typeface="Trebuchet MS"/>
            </a:endParaRPr>
          </a:p>
          <a:p>
            <a:pPr marL="602615" marR="68580" indent="-116205">
              <a:lnSpc>
                <a:spcPct val="110700"/>
              </a:lnSpc>
              <a:buClr>
                <a:srgbClr val="D6D6EF"/>
              </a:buClr>
              <a:buSzPct val="66666"/>
              <a:buFont typeface="Lucida Sans Unicode"/>
              <a:buChar char="►"/>
              <a:tabLst>
                <a:tab pos="604520" algn="l"/>
              </a:tabLst>
            </a:pPr>
            <a:r>
              <a:rPr sz="900" dirty="0">
                <a:latin typeface="Trebuchet MS"/>
                <a:cs typeface="Trebuchet MS"/>
              </a:rPr>
              <a:t>And</a:t>
            </a:r>
            <a:r>
              <a:rPr sz="900" spc="-15" dirty="0">
                <a:latin typeface="Trebuchet MS"/>
                <a:cs typeface="Trebuchet MS"/>
              </a:rPr>
              <a:t> </a:t>
            </a:r>
            <a:r>
              <a:rPr sz="900" spc="-100" dirty="0">
                <a:latin typeface="Trebuchet MS"/>
                <a:cs typeface="Trebuchet MS"/>
              </a:rPr>
              <a:t>it</a:t>
            </a:r>
            <a:r>
              <a:rPr sz="900" spc="-15" dirty="0">
                <a:latin typeface="Trebuchet MS"/>
                <a:cs typeface="Trebuchet MS"/>
              </a:rPr>
              <a:t> </a:t>
            </a:r>
            <a:r>
              <a:rPr sz="900" spc="-40" dirty="0">
                <a:latin typeface="Trebuchet MS"/>
                <a:cs typeface="Trebuchet MS"/>
              </a:rPr>
              <a:t>all</a:t>
            </a:r>
            <a:r>
              <a:rPr sz="900" spc="-15" dirty="0">
                <a:latin typeface="Trebuchet MS"/>
                <a:cs typeface="Trebuchet MS"/>
              </a:rPr>
              <a:t> </a:t>
            </a:r>
            <a:r>
              <a:rPr sz="900" spc="-20" dirty="0">
                <a:latin typeface="Trebuchet MS"/>
                <a:cs typeface="Trebuchet MS"/>
              </a:rPr>
              <a:t>started</a:t>
            </a:r>
            <a:r>
              <a:rPr sz="900" spc="-10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when</a:t>
            </a:r>
            <a:r>
              <a:rPr sz="900" spc="-15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fishermen</a:t>
            </a:r>
            <a:r>
              <a:rPr sz="900" spc="-15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decided</a:t>
            </a:r>
            <a:r>
              <a:rPr sz="900" spc="-15" dirty="0">
                <a:latin typeface="Trebuchet MS"/>
                <a:cs typeface="Trebuchet MS"/>
              </a:rPr>
              <a:t> </a:t>
            </a:r>
            <a:r>
              <a:rPr sz="900" spc="-25" dirty="0">
                <a:latin typeface="Trebuchet MS"/>
                <a:cs typeface="Trebuchet MS"/>
              </a:rPr>
              <a:t>the</a:t>
            </a:r>
            <a:r>
              <a:rPr sz="900" spc="-10" dirty="0">
                <a:latin typeface="Trebuchet MS"/>
                <a:cs typeface="Trebuchet MS"/>
              </a:rPr>
              <a:t> </a:t>
            </a:r>
            <a:r>
              <a:rPr sz="900" spc="-20" dirty="0">
                <a:latin typeface="Trebuchet MS"/>
                <a:cs typeface="Trebuchet MS"/>
              </a:rPr>
              <a:t>striped</a:t>
            </a:r>
            <a:r>
              <a:rPr sz="900" spc="-15" dirty="0">
                <a:latin typeface="Trebuchet MS"/>
                <a:cs typeface="Trebuchet MS"/>
              </a:rPr>
              <a:t> </a:t>
            </a:r>
            <a:r>
              <a:rPr sz="900" b="1" spc="65" dirty="0">
                <a:latin typeface="Trebuchet MS"/>
                <a:cs typeface="Trebuchet MS"/>
              </a:rPr>
              <a:t>bass</a:t>
            </a:r>
            <a:r>
              <a:rPr sz="900" b="1" spc="-15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in</a:t>
            </a:r>
            <a:r>
              <a:rPr sz="900" spc="-1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Lake</a:t>
            </a:r>
            <a:r>
              <a:rPr sz="900" spc="-10" dirty="0">
                <a:latin typeface="Trebuchet MS"/>
                <a:cs typeface="Trebuchet MS"/>
              </a:rPr>
              <a:t> </a:t>
            </a:r>
            <a:r>
              <a:rPr sz="900" spc="-20" dirty="0">
                <a:latin typeface="Trebuchet MS"/>
                <a:cs typeface="Trebuchet MS"/>
              </a:rPr>
              <a:t>Mead 	were</a:t>
            </a:r>
            <a:r>
              <a:rPr sz="900" spc="-40" dirty="0">
                <a:latin typeface="Trebuchet MS"/>
                <a:cs typeface="Trebuchet MS"/>
              </a:rPr>
              <a:t> </a:t>
            </a:r>
            <a:r>
              <a:rPr sz="900" spc="-25" dirty="0">
                <a:latin typeface="Trebuchet MS"/>
                <a:cs typeface="Trebuchet MS"/>
              </a:rPr>
              <a:t>too</a:t>
            </a:r>
            <a:r>
              <a:rPr sz="900" spc="-35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skinny.</a:t>
            </a:r>
            <a:endParaRPr sz="9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50"/>
              </a:spcBef>
            </a:pPr>
            <a:endParaRPr sz="900">
              <a:latin typeface="Trebuchet MS"/>
              <a:cs typeface="Trebuchet MS"/>
            </a:endParaRPr>
          </a:p>
          <a:p>
            <a:pPr marL="50800">
              <a:lnSpc>
                <a:spcPct val="100000"/>
              </a:lnSpc>
            </a:pPr>
            <a:r>
              <a:rPr sz="1100" i="1" spc="-10" dirty="0">
                <a:solidFill>
                  <a:srgbClr val="007F00"/>
                </a:solidFill>
                <a:latin typeface="Cambria"/>
                <a:cs typeface="Cambria"/>
              </a:rPr>
              <a:t>Disambiguation</a:t>
            </a:r>
            <a:endParaRPr sz="1100">
              <a:latin typeface="Cambria"/>
              <a:cs typeface="Cambria"/>
            </a:endParaRPr>
          </a:p>
          <a:p>
            <a:pPr marL="327660" marR="217170">
              <a:lnSpc>
                <a:spcPct val="118900"/>
              </a:lnSpc>
              <a:spcBef>
                <a:spcPts val="204"/>
              </a:spcBef>
            </a:pP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task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disambiguation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is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to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determine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which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spc="60" dirty="0">
                <a:latin typeface="Trebuchet MS"/>
                <a:cs typeface="Trebuchet MS"/>
              </a:rPr>
              <a:t>senses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an </a:t>
            </a:r>
            <a:r>
              <a:rPr sz="950" dirty="0">
                <a:latin typeface="Trebuchet MS"/>
                <a:cs typeface="Trebuchet MS"/>
              </a:rPr>
              <a:t>ambiguous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word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is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invoked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in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particular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50" dirty="0">
                <a:latin typeface="Trebuchet MS"/>
                <a:cs typeface="Trebuchet MS"/>
              </a:rPr>
              <a:t>use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word.</a:t>
            </a:r>
            <a:endParaRPr sz="950">
              <a:latin typeface="Trebuchet MS"/>
              <a:cs typeface="Trebuchet MS"/>
            </a:endParaRPr>
          </a:p>
          <a:p>
            <a:pPr marL="327660">
              <a:lnSpc>
                <a:spcPct val="100000"/>
              </a:lnSpc>
              <a:spcBef>
                <a:spcPts val="515"/>
              </a:spcBef>
            </a:pPr>
            <a:r>
              <a:rPr sz="950" dirty="0">
                <a:latin typeface="Trebuchet MS"/>
                <a:cs typeface="Trebuchet MS"/>
              </a:rPr>
              <a:t>This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is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done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by looking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at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context</a:t>
            </a:r>
            <a:r>
              <a:rPr sz="950" dirty="0">
                <a:latin typeface="Trebuchet MS"/>
                <a:cs typeface="Trebuchet MS"/>
              </a:rPr>
              <a:t> of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word’s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use.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36" name="object 3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20" dirty="0"/>
              <a:t>Pawan</a:t>
            </a:r>
            <a:r>
              <a:rPr spc="15" dirty="0"/>
              <a:t> </a:t>
            </a:r>
            <a:r>
              <a:rPr dirty="0"/>
              <a:t>Goyal</a:t>
            </a:r>
            <a:r>
              <a:rPr spc="170" dirty="0"/>
              <a:t> </a:t>
            </a:r>
            <a:r>
              <a:rPr dirty="0"/>
              <a:t>(IIT</a:t>
            </a:r>
            <a:r>
              <a:rPr spc="15" dirty="0"/>
              <a:t> </a:t>
            </a:r>
            <a:r>
              <a:rPr spc="-10" dirty="0"/>
              <a:t>Kharagpur)</a:t>
            </a:r>
          </a:p>
        </p:txBody>
      </p:sp>
      <p:sp>
        <p:nvSpPr>
          <p:cNvPr id="38" name="object 38"/>
          <p:cNvSpPr txBox="1"/>
          <p:nvPr/>
        </p:nvSpPr>
        <p:spPr>
          <a:xfrm>
            <a:off x="364622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3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4355386" y="3339672"/>
            <a:ext cx="1987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2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15</a:t>
            </a:r>
            <a:endParaRPr sz="600">
              <a:latin typeface="Cambria"/>
              <a:cs typeface="Cambria"/>
            </a:endParaRPr>
          </a:p>
        </p:txBody>
      </p:sp>
    </p:spTree>
  </p:cSld>
  <p:clrMapOvr>
    <a:masterClrMapping/>
  </p:clrMapOvr>
  <p:transition>
    <p:cut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Algorithms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597" y="1153553"/>
            <a:ext cx="64757" cy="6475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77532" y="1041499"/>
            <a:ext cx="2159000" cy="1275080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R="409575" algn="r">
              <a:lnSpc>
                <a:spcPct val="100000"/>
              </a:lnSpc>
              <a:spcBef>
                <a:spcPts val="459"/>
              </a:spcBef>
            </a:pPr>
            <a:r>
              <a:rPr sz="950" dirty="0">
                <a:latin typeface="Trebuchet MS"/>
                <a:cs typeface="Trebuchet MS"/>
              </a:rPr>
              <a:t>Knowledge</a:t>
            </a:r>
            <a:r>
              <a:rPr sz="950" spc="110" dirty="0">
                <a:latin typeface="Trebuchet MS"/>
                <a:cs typeface="Trebuchet MS"/>
              </a:rPr>
              <a:t> </a:t>
            </a:r>
            <a:r>
              <a:rPr sz="950" spc="60" dirty="0">
                <a:latin typeface="Trebuchet MS"/>
                <a:cs typeface="Trebuchet MS"/>
              </a:rPr>
              <a:t>Based</a:t>
            </a:r>
            <a:r>
              <a:rPr sz="950" spc="11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Approaches</a:t>
            </a:r>
            <a:endParaRPr sz="950">
              <a:latin typeface="Trebuchet MS"/>
              <a:cs typeface="Trebuchet MS"/>
            </a:endParaRPr>
          </a:p>
          <a:p>
            <a:pPr marL="116205" marR="443865" indent="-116205" algn="r">
              <a:lnSpc>
                <a:spcPct val="100000"/>
              </a:lnSpc>
              <a:spcBef>
                <a:spcPts val="305"/>
              </a:spcBef>
              <a:buClr>
                <a:srgbClr val="3333B2"/>
              </a:buClr>
              <a:buSzPct val="66666"/>
              <a:buFont typeface="Lucida Sans Unicode"/>
              <a:buChar char="►"/>
              <a:tabLst>
                <a:tab pos="116205" algn="l"/>
              </a:tabLst>
            </a:pPr>
            <a:r>
              <a:rPr sz="900" dirty="0">
                <a:latin typeface="Trebuchet MS"/>
                <a:cs typeface="Trebuchet MS"/>
              </a:rPr>
              <a:t>Overlap</a:t>
            </a:r>
            <a:r>
              <a:rPr sz="900" spc="60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Based</a:t>
            </a:r>
            <a:r>
              <a:rPr sz="900" spc="65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Approaches</a:t>
            </a:r>
            <a:endParaRPr sz="900">
              <a:latin typeface="Trebuchet MS"/>
              <a:cs typeface="Trebuchet MS"/>
            </a:endParaRPr>
          </a:p>
          <a:p>
            <a:pPr marL="38100">
              <a:lnSpc>
                <a:spcPct val="100000"/>
              </a:lnSpc>
              <a:spcBef>
                <a:spcPts val="365"/>
              </a:spcBef>
            </a:pPr>
            <a:r>
              <a:rPr sz="950" dirty="0">
                <a:latin typeface="Trebuchet MS"/>
                <a:cs typeface="Trebuchet MS"/>
              </a:rPr>
              <a:t>Machine</a:t>
            </a:r>
            <a:r>
              <a:rPr sz="950" spc="114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Learning</a:t>
            </a:r>
            <a:r>
              <a:rPr sz="950" spc="114" dirty="0">
                <a:latin typeface="Trebuchet MS"/>
                <a:cs typeface="Trebuchet MS"/>
              </a:rPr>
              <a:t> </a:t>
            </a:r>
            <a:r>
              <a:rPr sz="950" spc="60" dirty="0">
                <a:latin typeface="Trebuchet MS"/>
                <a:cs typeface="Trebuchet MS"/>
              </a:rPr>
              <a:t>Based</a:t>
            </a:r>
            <a:r>
              <a:rPr sz="950" spc="12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Approaches</a:t>
            </a:r>
            <a:endParaRPr sz="950">
              <a:latin typeface="Trebuchet MS"/>
              <a:cs typeface="Trebuchet MS"/>
            </a:endParaRPr>
          </a:p>
          <a:p>
            <a:pPr marL="313690" indent="-116205">
              <a:lnSpc>
                <a:spcPct val="100000"/>
              </a:lnSpc>
              <a:spcBef>
                <a:spcPts val="305"/>
              </a:spcBef>
              <a:buClr>
                <a:srgbClr val="3333B2"/>
              </a:buClr>
              <a:buSzPct val="66666"/>
              <a:buFont typeface="Lucida Sans Unicode"/>
              <a:buChar char="►"/>
              <a:tabLst>
                <a:tab pos="313690" algn="l"/>
              </a:tabLst>
            </a:pPr>
            <a:r>
              <a:rPr sz="900" dirty="0">
                <a:latin typeface="Trebuchet MS"/>
                <a:cs typeface="Trebuchet MS"/>
              </a:rPr>
              <a:t>Supervised</a:t>
            </a:r>
            <a:r>
              <a:rPr sz="900" spc="150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Approaches</a:t>
            </a:r>
            <a:endParaRPr sz="900">
              <a:latin typeface="Trebuchet MS"/>
              <a:cs typeface="Trebuchet MS"/>
            </a:endParaRPr>
          </a:p>
          <a:p>
            <a:pPr marL="313690" indent="-116205">
              <a:lnSpc>
                <a:spcPct val="100000"/>
              </a:lnSpc>
              <a:spcBef>
                <a:spcPts val="114"/>
              </a:spcBef>
              <a:buClr>
                <a:srgbClr val="3333B2"/>
              </a:buClr>
              <a:buSzPct val="66666"/>
              <a:buFont typeface="Lucida Sans Unicode"/>
              <a:buChar char="►"/>
              <a:tabLst>
                <a:tab pos="313690" algn="l"/>
              </a:tabLst>
            </a:pPr>
            <a:r>
              <a:rPr sz="900" dirty="0">
                <a:latin typeface="Trebuchet MS"/>
                <a:cs typeface="Trebuchet MS"/>
              </a:rPr>
              <a:t>Semi-supervised</a:t>
            </a:r>
            <a:r>
              <a:rPr sz="900" spc="130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Algorithms</a:t>
            </a:r>
            <a:endParaRPr sz="900">
              <a:latin typeface="Trebuchet MS"/>
              <a:cs typeface="Trebuchet MS"/>
            </a:endParaRPr>
          </a:p>
          <a:p>
            <a:pPr marL="313690" indent="-116205">
              <a:lnSpc>
                <a:spcPct val="100000"/>
              </a:lnSpc>
              <a:spcBef>
                <a:spcPts val="114"/>
              </a:spcBef>
              <a:buClr>
                <a:srgbClr val="3333B2"/>
              </a:buClr>
              <a:buSzPct val="66666"/>
              <a:buFont typeface="Lucida Sans Unicode"/>
              <a:buChar char="►"/>
              <a:tabLst>
                <a:tab pos="313690" algn="l"/>
              </a:tabLst>
            </a:pPr>
            <a:r>
              <a:rPr sz="900" dirty="0">
                <a:latin typeface="Trebuchet MS"/>
                <a:cs typeface="Trebuchet MS"/>
              </a:rPr>
              <a:t>Unsupervised</a:t>
            </a:r>
            <a:r>
              <a:rPr sz="900" spc="135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Algorithms</a:t>
            </a:r>
            <a:endParaRPr sz="900">
              <a:latin typeface="Trebuchet MS"/>
              <a:cs typeface="Trebuchet MS"/>
            </a:endParaRPr>
          </a:p>
          <a:p>
            <a:pPr marL="38100">
              <a:lnSpc>
                <a:spcPct val="100000"/>
              </a:lnSpc>
              <a:spcBef>
                <a:spcPts val="525"/>
              </a:spcBef>
            </a:pPr>
            <a:r>
              <a:rPr sz="950" dirty="0">
                <a:latin typeface="Trebuchet MS"/>
                <a:cs typeface="Trebuchet MS"/>
              </a:rPr>
              <a:t>Hybrid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Approaches</a:t>
            </a:r>
            <a:endParaRPr sz="950">
              <a:latin typeface="Trebuchet MS"/>
              <a:cs typeface="Trebuchet MS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597" y="1520482"/>
            <a:ext cx="64757" cy="6475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597" y="2211311"/>
            <a:ext cx="64757" cy="64757"/>
          </a:xfrm>
          <a:prstGeom prst="rect">
            <a:avLst/>
          </a:prstGeom>
        </p:spPr>
      </p:pic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20" dirty="0"/>
              <a:t>Pawan</a:t>
            </a:r>
            <a:r>
              <a:rPr spc="15" dirty="0"/>
              <a:t> </a:t>
            </a:r>
            <a:r>
              <a:rPr dirty="0"/>
              <a:t>Goyal</a:t>
            </a:r>
            <a:r>
              <a:rPr spc="170" dirty="0"/>
              <a:t> </a:t>
            </a:r>
            <a:r>
              <a:rPr dirty="0"/>
              <a:t>(IIT</a:t>
            </a:r>
            <a:r>
              <a:rPr spc="15" dirty="0"/>
              <a:t> </a:t>
            </a:r>
            <a:r>
              <a:rPr spc="-10" dirty="0"/>
              <a:t>Kharagpur)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364622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3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r>
              <a:rPr dirty="0"/>
              <a:t>3</a:t>
            </a:r>
            <a:r>
              <a:rPr spc="-5" dirty="0"/>
              <a:t> </a:t>
            </a:r>
            <a:r>
              <a:rPr spc="-110" dirty="0"/>
              <a:t>/</a:t>
            </a:r>
            <a:r>
              <a:rPr spc="15" dirty="0"/>
              <a:t> </a:t>
            </a:r>
            <a:r>
              <a:rPr spc="-25" dirty="0"/>
              <a:t>15</a:t>
            </a:r>
          </a:p>
        </p:txBody>
      </p:sp>
    </p:spTree>
  </p:cSld>
  <p:clrMapOvr>
    <a:masterClrMapping/>
  </p:clrMapOvr>
  <p:transition>
    <p:cut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Knowledge</a:t>
            </a:r>
            <a:r>
              <a:rPr spc="35" dirty="0"/>
              <a:t> </a:t>
            </a:r>
            <a:r>
              <a:rPr dirty="0"/>
              <a:t>Based</a:t>
            </a:r>
            <a:r>
              <a:rPr spc="40" dirty="0"/>
              <a:t> </a:t>
            </a:r>
            <a:r>
              <a:rPr spc="-10" dirty="0"/>
              <a:t>Approaches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815289"/>
            <a:ext cx="4483735" cy="1984375"/>
            <a:chOff x="87743" y="815289"/>
            <a:chExt cx="4483735" cy="1984375"/>
          </a:xfrm>
        </p:grpSpPr>
        <p:sp>
          <p:nvSpPr>
            <p:cNvPr id="4" name="object 4"/>
            <p:cNvSpPr/>
            <p:nvPr/>
          </p:nvSpPr>
          <p:spPr>
            <a:xfrm>
              <a:off x="87743" y="815289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6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66" y="185674"/>
                  </a:lnTo>
                  <a:lnTo>
                    <a:pt x="4432566" y="50800"/>
                  </a:lnTo>
                  <a:lnTo>
                    <a:pt x="4428558" y="31075"/>
                  </a:lnTo>
                  <a:lnTo>
                    <a:pt x="4417644" y="14922"/>
                  </a:lnTo>
                  <a:lnTo>
                    <a:pt x="4401491" y="4008"/>
                  </a:lnTo>
                  <a:lnTo>
                    <a:pt x="4381766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988314"/>
              <a:ext cx="4432566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2697911"/>
              <a:ext cx="101599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2685211"/>
              <a:ext cx="4381715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311" y="859536"/>
              <a:ext cx="50749" cy="1838375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1032573"/>
              <a:ext cx="4432935" cy="1716405"/>
            </a:xfrm>
            <a:custGeom>
              <a:avLst/>
              <a:gdLst/>
              <a:ahLst/>
              <a:cxnLst/>
              <a:rect l="l" t="t" r="r" b="b"/>
              <a:pathLst>
                <a:path w="4432935" h="1716405">
                  <a:moveTo>
                    <a:pt x="4432566" y="0"/>
                  </a:moveTo>
                  <a:lnTo>
                    <a:pt x="0" y="0"/>
                  </a:lnTo>
                  <a:lnTo>
                    <a:pt x="0" y="1665338"/>
                  </a:lnTo>
                  <a:lnTo>
                    <a:pt x="4008" y="1685062"/>
                  </a:lnTo>
                  <a:lnTo>
                    <a:pt x="14922" y="1701215"/>
                  </a:lnTo>
                  <a:lnTo>
                    <a:pt x="31075" y="1712129"/>
                  </a:lnTo>
                  <a:lnTo>
                    <a:pt x="50800" y="1716138"/>
                  </a:lnTo>
                  <a:lnTo>
                    <a:pt x="4381766" y="1716138"/>
                  </a:lnTo>
                  <a:lnTo>
                    <a:pt x="4401491" y="1712129"/>
                  </a:lnTo>
                  <a:lnTo>
                    <a:pt x="4417644" y="1701215"/>
                  </a:lnTo>
                  <a:lnTo>
                    <a:pt x="4428558" y="1685062"/>
                  </a:lnTo>
                  <a:lnTo>
                    <a:pt x="4432566" y="1665338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09" y="897610"/>
              <a:ext cx="0" cy="1819910"/>
            </a:xfrm>
            <a:custGeom>
              <a:avLst/>
              <a:gdLst/>
              <a:ahLst/>
              <a:cxnLst/>
              <a:rect l="l" t="t" r="r" b="b"/>
              <a:pathLst>
                <a:path h="1819910">
                  <a:moveTo>
                    <a:pt x="0" y="1819351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09" y="884908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09" y="872208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09" y="859508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1597" y="1082319"/>
              <a:ext cx="64757" cy="6475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1597" y="1292352"/>
              <a:ext cx="64757" cy="64757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81597" y="1846541"/>
              <a:ext cx="64757" cy="64757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81597" y="2228646"/>
              <a:ext cx="64757" cy="64757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81597" y="2438679"/>
              <a:ext cx="64757" cy="64757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125844" y="740654"/>
            <a:ext cx="4311015" cy="1975485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100" i="1" dirty="0">
                <a:solidFill>
                  <a:srgbClr val="3333B2"/>
                </a:solidFill>
                <a:latin typeface="Cambria"/>
                <a:cs typeface="Cambria"/>
              </a:rPr>
              <a:t>Overlap</a:t>
            </a:r>
            <a:r>
              <a:rPr sz="1100" i="1" spc="-35" dirty="0">
                <a:solidFill>
                  <a:srgbClr val="3333B2"/>
                </a:solidFill>
                <a:latin typeface="Cambria"/>
                <a:cs typeface="Cambria"/>
              </a:rPr>
              <a:t> </a:t>
            </a:r>
            <a:r>
              <a:rPr sz="1100" i="1" dirty="0">
                <a:solidFill>
                  <a:srgbClr val="3333B2"/>
                </a:solidFill>
                <a:latin typeface="Cambria"/>
                <a:cs typeface="Cambria"/>
              </a:rPr>
              <a:t>Based</a:t>
            </a:r>
            <a:r>
              <a:rPr sz="1100" i="1" spc="-25" dirty="0">
                <a:solidFill>
                  <a:srgbClr val="3333B2"/>
                </a:solidFill>
                <a:latin typeface="Cambria"/>
                <a:cs typeface="Cambria"/>
              </a:rPr>
              <a:t> </a:t>
            </a:r>
            <a:r>
              <a:rPr sz="1100" i="1" spc="-10" dirty="0">
                <a:solidFill>
                  <a:srgbClr val="3333B2"/>
                </a:solidFill>
                <a:latin typeface="Cambria"/>
                <a:cs typeface="Cambria"/>
              </a:rPr>
              <a:t>Approaches</a:t>
            </a:r>
            <a:endParaRPr sz="1100">
              <a:latin typeface="Cambria"/>
              <a:cs typeface="Cambria"/>
            </a:endParaRPr>
          </a:p>
          <a:p>
            <a:pPr marL="289560">
              <a:lnSpc>
                <a:spcPct val="100000"/>
              </a:lnSpc>
              <a:spcBef>
                <a:spcPts val="425"/>
              </a:spcBef>
            </a:pPr>
            <a:r>
              <a:rPr sz="950" dirty="0">
                <a:latin typeface="Trebuchet MS"/>
                <a:cs typeface="Trebuchet MS"/>
              </a:rPr>
              <a:t>Require</a:t>
            </a:r>
            <a:r>
              <a:rPr sz="950" spc="16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170" dirty="0">
                <a:latin typeface="Trebuchet MS"/>
                <a:cs typeface="Trebuchet MS"/>
              </a:rPr>
              <a:t> </a:t>
            </a:r>
            <a:r>
              <a:rPr sz="950" b="1" dirty="0">
                <a:latin typeface="Trebuchet MS"/>
                <a:cs typeface="Trebuchet MS"/>
              </a:rPr>
              <a:t>Machine</a:t>
            </a:r>
            <a:r>
              <a:rPr sz="950" b="1" spc="170" dirty="0">
                <a:latin typeface="Trebuchet MS"/>
                <a:cs typeface="Trebuchet MS"/>
              </a:rPr>
              <a:t> </a:t>
            </a:r>
            <a:r>
              <a:rPr sz="950" b="1" dirty="0">
                <a:latin typeface="Trebuchet MS"/>
                <a:cs typeface="Trebuchet MS"/>
              </a:rPr>
              <a:t>Readable</a:t>
            </a:r>
            <a:r>
              <a:rPr sz="950" b="1" spc="170" dirty="0">
                <a:latin typeface="Trebuchet MS"/>
                <a:cs typeface="Trebuchet MS"/>
              </a:rPr>
              <a:t> </a:t>
            </a:r>
            <a:r>
              <a:rPr sz="950" b="1" dirty="0">
                <a:latin typeface="Trebuchet MS"/>
                <a:cs typeface="Trebuchet MS"/>
              </a:rPr>
              <a:t>Dictionary</a:t>
            </a:r>
            <a:r>
              <a:rPr sz="950" b="1" spc="16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(MRD).</a:t>
            </a:r>
            <a:endParaRPr sz="950">
              <a:latin typeface="Trebuchet MS"/>
              <a:cs typeface="Trebuchet MS"/>
            </a:endParaRPr>
          </a:p>
          <a:p>
            <a:pPr marL="289560" marR="5080">
              <a:lnSpc>
                <a:spcPct val="118900"/>
              </a:lnSpc>
              <a:spcBef>
                <a:spcPts val="295"/>
              </a:spcBef>
            </a:pPr>
            <a:r>
              <a:rPr sz="950" dirty="0">
                <a:latin typeface="Trebuchet MS"/>
                <a:cs typeface="Trebuchet MS"/>
              </a:rPr>
              <a:t>Find</a:t>
            </a:r>
            <a:r>
              <a:rPr sz="950" spc="-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overlap</a:t>
            </a:r>
            <a:r>
              <a:rPr sz="950" spc="-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between</a:t>
            </a:r>
            <a:r>
              <a:rPr sz="950" spc="-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features</a:t>
            </a:r>
            <a:r>
              <a:rPr sz="950" spc="-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-25" dirty="0">
                <a:latin typeface="Trebuchet MS"/>
                <a:cs typeface="Trebuchet MS"/>
              </a:rPr>
              <a:t> </a:t>
            </a:r>
            <a:r>
              <a:rPr sz="950" spc="-35" dirty="0">
                <a:latin typeface="Trebuchet MS"/>
                <a:cs typeface="Trebuchet MS"/>
              </a:rPr>
              <a:t>different</a:t>
            </a:r>
            <a:r>
              <a:rPr sz="950" spc="-30" dirty="0">
                <a:latin typeface="Trebuchet MS"/>
                <a:cs typeface="Trebuchet MS"/>
              </a:rPr>
              <a:t> </a:t>
            </a:r>
            <a:r>
              <a:rPr sz="950" spc="60" dirty="0">
                <a:latin typeface="Trebuchet MS"/>
                <a:cs typeface="Trebuchet MS"/>
              </a:rPr>
              <a:t>senses</a:t>
            </a:r>
            <a:r>
              <a:rPr sz="950" spc="-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-25" dirty="0">
                <a:latin typeface="Trebuchet MS"/>
                <a:cs typeface="Trebuchet MS"/>
              </a:rPr>
              <a:t> an</a:t>
            </a:r>
            <a:r>
              <a:rPr sz="950" spc="50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ambiguous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word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(</a:t>
            </a:r>
            <a:r>
              <a:rPr sz="950" b="1" dirty="0">
                <a:latin typeface="Trebuchet MS"/>
                <a:cs typeface="Trebuchet MS"/>
              </a:rPr>
              <a:t>sense</a:t>
            </a:r>
            <a:r>
              <a:rPr sz="950" b="1" spc="30" dirty="0">
                <a:latin typeface="Trebuchet MS"/>
                <a:cs typeface="Trebuchet MS"/>
              </a:rPr>
              <a:t> </a:t>
            </a:r>
            <a:r>
              <a:rPr sz="950" b="1" dirty="0">
                <a:latin typeface="Trebuchet MS"/>
                <a:cs typeface="Trebuchet MS"/>
              </a:rPr>
              <a:t>bag</a:t>
            </a:r>
            <a:r>
              <a:rPr sz="950" dirty="0">
                <a:latin typeface="Trebuchet MS"/>
                <a:cs typeface="Trebuchet MS"/>
              </a:rPr>
              <a:t>)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and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features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words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in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its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context </a:t>
            </a:r>
            <a:r>
              <a:rPr sz="950" dirty="0">
                <a:latin typeface="Trebuchet MS"/>
                <a:cs typeface="Trebuchet MS"/>
              </a:rPr>
              <a:t>(</a:t>
            </a:r>
            <a:r>
              <a:rPr sz="950" b="1" dirty="0">
                <a:latin typeface="Trebuchet MS"/>
                <a:cs typeface="Trebuchet MS"/>
              </a:rPr>
              <a:t>context </a:t>
            </a:r>
            <a:r>
              <a:rPr sz="950" b="1" spc="-10" dirty="0">
                <a:latin typeface="Trebuchet MS"/>
                <a:cs typeface="Trebuchet MS"/>
              </a:rPr>
              <a:t>bag</a:t>
            </a:r>
            <a:r>
              <a:rPr sz="950" spc="-10" dirty="0">
                <a:latin typeface="Trebuchet MS"/>
                <a:cs typeface="Trebuchet MS"/>
              </a:rPr>
              <a:t>).</a:t>
            </a:r>
            <a:endParaRPr sz="950">
              <a:latin typeface="Trebuchet MS"/>
              <a:cs typeface="Trebuchet MS"/>
            </a:endParaRPr>
          </a:p>
          <a:p>
            <a:pPr marL="289560" marR="34925">
              <a:lnSpc>
                <a:spcPct val="118900"/>
              </a:lnSpc>
              <a:spcBef>
                <a:spcPts val="300"/>
              </a:spcBef>
            </a:pP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features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could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be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spc="55" dirty="0">
                <a:latin typeface="Trebuchet MS"/>
                <a:cs typeface="Trebuchet MS"/>
              </a:rPr>
              <a:t>sense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definitions,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example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sentences,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hypernyms </a:t>
            </a:r>
            <a:r>
              <a:rPr sz="950" spc="-20" dirty="0">
                <a:latin typeface="Trebuchet MS"/>
                <a:cs typeface="Trebuchet MS"/>
              </a:rPr>
              <a:t>etc.</a:t>
            </a:r>
            <a:endParaRPr sz="950">
              <a:latin typeface="Trebuchet MS"/>
              <a:cs typeface="Trebuchet MS"/>
            </a:endParaRPr>
          </a:p>
          <a:p>
            <a:pPr marL="289560">
              <a:lnSpc>
                <a:spcPct val="100000"/>
              </a:lnSpc>
              <a:spcBef>
                <a:spcPts val="515"/>
              </a:spcBef>
            </a:pP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features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could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also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be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given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weights.</a:t>
            </a:r>
            <a:endParaRPr sz="950">
              <a:latin typeface="Trebuchet MS"/>
              <a:cs typeface="Trebuchet MS"/>
            </a:endParaRPr>
          </a:p>
          <a:p>
            <a:pPr marL="289560" marR="621665">
              <a:lnSpc>
                <a:spcPct val="118900"/>
              </a:lnSpc>
              <a:spcBef>
                <a:spcPts val="295"/>
              </a:spcBef>
            </a:pP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spc="55" dirty="0">
                <a:latin typeface="Trebuchet MS"/>
                <a:cs typeface="Trebuchet MS"/>
              </a:rPr>
              <a:t>sense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which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spc="55" dirty="0">
                <a:latin typeface="Trebuchet MS"/>
                <a:cs typeface="Trebuchet MS"/>
              </a:rPr>
              <a:t>has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maximum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overlap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is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selected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spc="70" dirty="0">
                <a:latin typeface="Trebuchet MS"/>
                <a:cs typeface="Trebuchet MS"/>
              </a:rPr>
              <a:t>as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the </a:t>
            </a:r>
            <a:r>
              <a:rPr sz="950" spc="-10" dirty="0">
                <a:latin typeface="Trebuchet MS"/>
                <a:cs typeface="Trebuchet MS"/>
              </a:rPr>
              <a:t>contextually</a:t>
            </a:r>
            <a:r>
              <a:rPr sz="950" spc="-5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appropriate</a:t>
            </a:r>
            <a:r>
              <a:rPr sz="950" spc="-5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sense.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20" dirty="0"/>
              <a:t>Pawan</a:t>
            </a:r>
            <a:r>
              <a:rPr spc="15" dirty="0"/>
              <a:t> </a:t>
            </a:r>
            <a:r>
              <a:rPr dirty="0"/>
              <a:t>Goyal</a:t>
            </a:r>
            <a:r>
              <a:rPr spc="170" dirty="0"/>
              <a:t> </a:t>
            </a:r>
            <a:r>
              <a:rPr dirty="0"/>
              <a:t>(IIT</a:t>
            </a:r>
            <a:r>
              <a:rPr spc="15" dirty="0"/>
              <a:t> </a:t>
            </a:r>
            <a:r>
              <a:rPr spc="-10" dirty="0"/>
              <a:t>Kharagpur)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364622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3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r>
              <a:rPr dirty="0"/>
              <a:t>4</a:t>
            </a:r>
            <a:r>
              <a:rPr spc="-5" dirty="0"/>
              <a:t> </a:t>
            </a:r>
            <a:r>
              <a:rPr spc="-110" dirty="0"/>
              <a:t>/</a:t>
            </a:r>
            <a:r>
              <a:rPr spc="15" dirty="0"/>
              <a:t> </a:t>
            </a:r>
            <a:r>
              <a:rPr spc="-25" dirty="0"/>
              <a:t>15</a:t>
            </a:r>
          </a:p>
        </p:txBody>
      </p:sp>
    </p:spTree>
  </p:cSld>
  <p:clrMapOvr>
    <a:masterClrMapping/>
  </p:clrMapOvr>
  <p:transition>
    <p:cut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Lesk’s</a:t>
            </a:r>
            <a:r>
              <a:rPr spc="180" dirty="0"/>
              <a:t> </a:t>
            </a:r>
            <a:r>
              <a:rPr spc="-10" dirty="0"/>
              <a:t>Algorithm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844" y="394787"/>
            <a:ext cx="4189729" cy="103124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18900"/>
              </a:lnSpc>
              <a:spcBef>
                <a:spcPts val="90"/>
              </a:spcBef>
            </a:pPr>
            <a:r>
              <a:rPr sz="950" b="1" spc="60" dirty="0">
                <a:latin typeface="Trebuchet MS"/>
                <a:cs typeface="Trebuchet MS"/>
              </a:rPr>
              <a:t>Sense</a:t>
            </a:r>
            <a:r>
              <a:rPr sz="950" b="1" spc="-15" dirty="0">
                <a:latin typeface="Trebuchet MS"/>
                <a:cs typeface="Trebuchet MS"/>
              </a:rPr>
              <a:t> </a:t>
            </a:r>
            <a:r>
              <a:rPr sz="950" b="1" spc="70" dirty="0">
                <a:latin typeface="Trebuchet MS"/>
                <a:cs typeface="Trebuchet MS"/>
              </a:rPr>
              <a:t>Bag:</a:t>
            </a:r>
            <a:r>
              <a:rPr sz="950" b="1" spc="5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contains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words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in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definition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candidate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spc="55" dirty="0">
                <a:latin typeface="Trebuchet MS"/>
                <a:cs typeface="Trebuchet MS"/>
              </a:rPr>
              <a:t>sense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the </a:t>
            </a:r>
            <a:r>
              <a:rPr sz="950" dirty="0">
                <a:latin typeface="Trebuchet MS"/>
                <a:cs typeface="Trebuchet MS"/>
              </a:rPr>
              <a:t>ambiguous</a:t>
            </a:r>
            <a:r>
              <a:rPr sz="950" spc="254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word.</a:t>
            </a:r>
            <a:endParaRPr sz="950">
              <a:latin typeface="Trebuchet MS"/>
              <a:cs typeface="Trebuchet MS"/>
            </a:endParaRPr>
          </a:p>
          <a:p>
            <a:pPr marL="12700" marR="187325">
              <a:lnSpc>
                <a:spcPct val="118900"/>
              </a:lnSpc>
            </a:pPr>
            <a:r>
              <a:rPr sz="950" b="1" dirty="0">
                <a:latin typeface="Trebuchet MS"/>
                <a:cs typeface="Trebuchet MS"/>
              </a:rPr>
              <a:t>Context</a:t>
            </a:r>
            <a:r>
              <a:rPr sz="950" b="1" spc="-10" dirty="0">
                <a:latin typeface="Trebuchet MS"/>
                <a:cs typeface="Trebuchet MS"/>
              </a:rPr>
              <a:t> </a:t>
            </a:r>
            <a:r>
              <a:rPr sz="950" b="1" spc="70" dirty="0">
                <a:latin typeface="Trebuchet MS"/>
                <a:cs typeface="Trebuchet MS"/>
              </a:rPr>
              <a:t>Bag:</a:t>
            </a:r>
            <a:r>
              <a:rPr sz="950" b="1" spc="6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contains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words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in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definition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each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spc="55" dirty="0">
                <a:latin typeface="Trebuchet MS"/>
                <a:cs typeface="Trebuchet MS"/>
              </a:rPr>
              <a:t>sense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each context</a:t>
            </a:r>
            <a:r>
              <a:rPr sz="95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word.</a:t>
            </a:r>
            <a:endParaRPr sz="9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54"/>
              </a:spcBef>
            </a:pPr>
            <a:endParaRPr sz="950">
              <a:latin typeface="Trebuchet MS"/>
              <a:cs typeface="Trebuchet MS"/>
            </a:endParaRPr>
          </a:p>
          <a:p>
            <a:pPr marL="166370" algn="ctr">
              <a:lnSpc>
                <a:spcPct val="100000"/>
              </a:lnSpc>
            </a:pPr>
            <a:r>
              <a:rPr sz="950" i="1" spc="65" dirty="0">
                <a:latin typeface="Trebuchet MS"/>
                <a:cs typeface="Trebuchet MS"/>
              </a:rPr>
              <a:t>On</a:t>
            </a:r>
            <a:r>
              <a:rPr sz="950" i="1" spc="-10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burning </a:t>
            </a:r>
            <a:r>
              <a:rPr sz="950" b="1" i="1" dirty="0">
                <a:latin typeface="Trebuchet MS"/>
                <a:cs typeface="Trebuchet MS"/>
              </a:rPr>
              <a:t>coal</a:t>
            </a:r>
            <a:r>
              <a:rPr sz="950" b="1" i="1" spc="5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we get</a:t>
            </a:r>
            <a:r>
              <a:rPr sz="950" i="1" spc="5" dirty="0">
                <a:latin typeface="Trebuchet MS"/>
                <a:cs typeface="Trebuchet MS"/>
              </a:rPr>
              <a:t> </a:t>
            </a:r>
            <a:r>
              <a:rPr sz="950" i="1" spc="-20" dirty="0">
                <a:solidFill>
                  <a:srgbClr val="FF0000"/>
                </a:solidFill>
                <a:latin typeface="Trebuchet MS"/>
                <a:cs typeface="Trebuchet MS"/>
              </a:rPr>
              <a:t>ash</a:t>
            </a:r>
            <a:r>
              <a:rPr sz="950" i="1" spc="-20" dirty="0">
                <a:latin typeface="Trebuchet MS"/>
                <a:cs typeface="Trebuchet MS"/>
              </a:rPr>
              <a:t>.</a:t>
            </a:r>
            <a:endParaRPr sz="95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1418" y="1749336"/>
            <a:ext cx="2971800" cy="1390649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20" dirty="0"/>
              <a:t>Pawan</a:t>
            </a:r>
            <a:r>
              <a:rPr spc="15" dirty="0"/>
              <a:t> </a:t>
            </a:r>
            <a:r>
              <a:rPr dirty="0"/>
              <a:t>Goyal</a:t>
            </a:r>
            <a:r>
              <a:rPr spc="170" dirty="0"/>
              <a:t> </a:t>
            </a:r>
            <a:r>
              <a:rPr dirty="0"/>
              <a:t>(IIT</a:t>
            </a:r>
            <a:r>
              <a:rPr spc="15" dirty="0"/>
              <a:t> </a:t>
            </a:r>
            <a:r>
              <a:rPr spc="-10" dirty="0"/>
              <a:t>Kharagpur)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64622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3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355386" y="3339672"/>
            <a:ext cx="1987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5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15</a:t>
            </a:r>
            <a:endParaRPr sz="600">
              <a:latin typeface="Cambria"/>
              <a:cs typeface="Cambria"/>
            </a:endParaRPr>
          </a:p>
        </p:txBody>
      </p:sp>
    </p:spTree>
  </p:cSld>
  <p:clrMapOvr>
    <a:masterClrMapping/>
  </p:clrMapOvr>
  <p:transition>
    <p:cut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Walker’s</a:t>
            </a:r>
            <a:r>
              <a:rPr spc="-50" dirty="0"/>
              <a:t> </a:t>
            </a:r>
            <a:r>
              <a:rPr spc="-10" dirty="0"/>
              <a:t>Algorithm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597" y="568121"/>
            <a:ext cx="64757" cy="6475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77532" y="437624"/>
            <a:ext cx="4077335" cy="1610360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5"/>
              </a:spcBef>
            </a:pPr>
            <a:r>
              <a:rPr sz="950" spc="90" dirty="0">
                <a:latin typeface="Trebuchet MS"/>
                <a:cs typeface="Trebuchet MS"/>
              </a:rPr>
              <a:t>A</a:t>
            </a:r>
            <a:r>
              <a:rPr sz="950" spc="70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Thesaurus</a:t>
            </a:r>
            <a:r>
              <a:rPr sz="950" spc="70" dirty="0">
                <a:latin typeface="Trebuchet MS"/>
                <a:cs typeface="Trebuchet MS"/>
              </a:rPr>
              <a:t> </a:t>
            </a:r>
            <a:r>
              <a:rPr sz="950" spc="60" dirty="0">
                <a:latin typeface="Trebuchet MS"/>
                <a:cs typeface="Trebuchet MS"/>
              </a:rPr>
              <a:t>Based</a:t>
            </a:r>
            <a:r>
              <a:rPr sz="950" spc="7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approach</a:t>
            </a:r>
            <a:endParaRPr sz="950">
              <a:latin typeface="Trebuchet MS"/>
              <a:cs typeface="Trebuchet MS"/>
            </a:endParaRPr>
          </a:p>
          <a:p>
            <a:pPr marL="38100" marR="30480">
              <a:lnSpc>
                <a:spcPct val="118900"/>
              </a:lnSpc>
              <a:spcBef>
                <a:spcPts val="300"/>
              </a:spcBef>
            </a:pPr>
            <a:r>
              <a:rPr sz="950" b="1" dirty="0">
                <a:latin typeface="Trebuchet MS"/>
                <a:cs typeface="Trebuchet MS"/>
              </a:rPr>
              <a:t>Step</a:t>
            </a:r>
            <a:r>
              <a:rPr sz="950" b="1" spc="5" dirty="0">
                <a:latin typeface="Trebuchet MS"/>
                <a:cs typeface="Trebuchet MS"/>
              </a:rPr>
              <a:t> </a:t>
            </a:r>
            <a:r>
              <a:rPr sz="950" b="1" dirty="0">
                <a:latin typeface="Trebuchet MS"/>
                <a:cs typeface="Trebuchet MS"/>
              </a:rPr>
              <a:t>1:</a:t>
            </a:r>
            <a:r>
              <a:rPr sz="950" b="1" spc="7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For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each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spc="55" dirty="0">
                <a:latin typeface="Trebuchet MS"/>
                <a:cs typeface="Trebuchet MS"/>
              </a:rPr>
              <a:t>sense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target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word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find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thesaurus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category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to </a:t>
            </a:r>
            <a:r>
              <a:rPr sz="950" dirty="0">
                <a:latin typeface="Trebuchet MS"/>
                <a:cs typeface="Trebuchet MS"/>
              </a:rPr>
              <a:t>which</a:t>
            </a:r>
            <a:r>
              <a:rPr sz="950" spc="-30" dirty="0">
                <a:latin typeface="Trebuchet MS"/>
                <a:cs typeface="Trebuchet MS"/>
              </a:rPr>
              <a:t> that </a:t>
            </a:r>
            <a:r>
              <a:rPr sz="950" spc="55" dirty="0">
                <a:latin typeface="Trebuchet MS"/>
                <a:cs typeface="Trebuchet MS"/>
              </a:rPr>
              <a:t>sense</a:t>
            </a:r>
            <a:r>
              <a:rPr sz="950" spc="-3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belongs</a:t>
            </a:r>
            <a:endParaRPr sz="950">
              <a:latin typeface="Trebuchet MS"/>
              <a:cs typeface="Trebuchet MS"/>
            </a:endParaRPr>
          </a:p>
          <a:p>
            <a:pPr marL="38100" marR="120014">
              <a:lnSpc>
                <a:spcPct val="104900"/>
              </a:lnSpc>
              <a:spcBef>
                <a:spcPts val="455"/>
              </a:spcBef>
            </a:pPr>
            <a:r>
              <a:rPr sz="950" b="1" dirty="0">
                <a:latin typeface="Trebuchet MS"/>
                <a:cs typeface="Trebuchet MS"/>
              </a:rPr>
              <a:t>Step</a:t>
            </a:r>
            <a:r>
              <a:rPr sz="950" b="1" spc="25" dirty="0">
                <a:latin typeface="Trebuchet MS"/>
                <a:cs typeface="Trebuchet MS"/>
              </a:rPr>
              <a:t> </a:t>
            </a:r>
            <a:r>
              <a:rPr sz="950" b="1" dirty="0">
                <a:latin typeface="Trebuchet MS"/>
                <a:cs typeface="Trebuchet MS"/>
              </a:rPr>
              <a:t>2:</a:t>
            </a:r>
            <a:r>
              <a:rPr sz="950" b="1" spc="10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Calculate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score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spc="-40" dirty="0">
                <a:latin typeface="Trebuchet MS"/>
                <a:cs typeface="Trebuchet MS"/>
              </a:rPr>
              <a:t>for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each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spc="55" dirty="0">
                <a:latin typeface="Trebuchet MS"/>
                <a:cs typeface="Trebuchet MS"/>
              </a:rPr>
              <a:t>sense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by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using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context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words. </a:t>
            </a:r>
            <a:r>
              <a:rPr sz="950" i="1" spc="70" dirty="0">
                <a:latin typeface="Trebuchet MS"/>
                <a:cs typeface="Trebuchet MS"/>
              </a:rPr>
              <a:t>A</a:t>
            </a:r>
            <a:r>
              <a:rPr sz="950" i="1" spc="-5" dirty="0">
                <a:latin typeface="Trebuchet MS"/>
                <a:cs typeface="Trebuchet MS"/>
              </a:rPr>
              <a:t> </a:t>
            </a:r>
            <a:r>
              <a:rPr sz="950" i="1" spc="-20" dirty="0">
                <a:latin typeface="Trebuchet MS"/>
                <a:cs typeface="Trebuchet MS"/>
              </a:rPr>
              <a:t>context</a:t>
            </a:r>
            <a:r>
              <a:rPr sz="950" i="1" spc="-5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word</a:t>
            </a:r>
            <a:r>
              <a:rPr sz="950" i="1" spc="-5" dirty="0">
                <a:latin typeface="Trebuchet MS"/>
                <a:cs typeface="Trebuchet MS"/>
              </a:rPr>
              <a:t> </a:t>
            </a:r>
            <a:r>
              <a:rPr sz="950" i="1" spc="-65" dirty="0">
                <a:latin typeface="Trebuchet MS"/>
                <a:cs typeface="Trebuchet MS"/>
              </a:rPr>
              <a:t>will</a:t>
            </a:r>
            <a:r>
              <a:rPr sz="950" i="1" spc="-5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add</a:t>
            </a:r>
            <a:r>
              <a:rPr sz="950" i="1" spc="-5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1</a:t>
            </a:r>
            <a:r>
              <a:rPr sz="950" i="1" spc="-5" dirty="0">
                <a:latin typeface="Trebuchet MS"/>
                <a:cs typeface="Trebuchet MS"/>
              </a:rPr>
              <a:t> </a:t>
            </a:r>
            <a:r>
              <a:rPr sz="950" i="1" spc="-50" dirty="0">
                <a:latin typeface="Trebuchet MS"/>
                <a:cs typeface="Trebuchet MS"/>
              </a:rPr>
              <a:t>to</a:t>
            </a:r>
            <a:r>
              <a:rPr sz="950" i="1" spc="-5" dirty="0">
                <a:latin typeface="Trebuchet MS"/>
                <a:cs typeface="Trebuchet MS"/>
              </a:rPr>
              <a:t> </a:t>
            </a:r>
            <a:r>
              <a:rPr sz="950" i="1" spc="-20" dirty="0">
                <a:latin typeface="Trebuchet MS"/>
                <a:cs typeface="Trebuchet MS"/>
              </a:rPr>
              <a:t>the</a:t>
            </a:r>
            <a:r>
              <a:rPr sz="950" i="1" spc="-5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score </a:t>
            </a:r>
            <a:r>
              <a:rPr sz="950" i="1" spc="-35" dirty="0">
                <a:latin typeface="Trebuchet MS"/>
                <a:cs typeface="Trebuchet MS"/>
              </a:rPr>
              <a:t>of</a:t>
            </a:r>
            <a:r>
              <a:rPr sz="950" i="1" spc="-5" dirty="0">
                <a:latin typeface="Trebuchet MS"/>
                <a:cs typeface="Trebuchet MS"/>
              </a:rPr>
              <a:t> </a:t>
            </a:r>
            <a:r>
              <a:rPr sz="950" i="1" spc="-20" dirty="0">
                <a:latin typeface="Trebuchet MS"/>
                <a:cs typeface="Trebuchet MS"/>
              </a:rPr>
              <a:t>the</a:t>
            </a:r>
            <a:r>
              <a:rPr sz="950" i="1" spc="-5" dirty="0">
                <a:latin typeface="Trebuchet MS"/>
                <a:cs typeface="Trebuchet MS"/>
              </a:rPr>
              <a:t> </a:t>
            </a:r>
            <a:r>
              <a:rPr sz="950" i="1" spc="55" dirty="0">
                <a:latin typeface="Trebuchet MS"/>
                <a:cs typeface="Trebuchet MS"/>
              </a:rPr>
              <a:t>sense</a:t>
            </a:r>
            <a:r>
              <a:rPr sz="950" i="1" spc="-5" dirty="0">
                <a:latin typeface="Trebuchet MS"/>
                <a:cs typeface="Trebuchet MS"/>
              </a:rPr>
              <a:t> </a:t>
            </a:r>
            <a:r>
              <a:rPr sz="950" i="1" spc="-100" dirty="0">
                <a:latin typeface="Trebuchet MS"/>
                <a:cs typeface="Trebuchet MS"/>
              </a:rPr>
              <a:t>if</a:t>
            </a:r>
            <a:r>
              <a:rPr sz="950" i="1" spc="-5" dirty="0">
                <a:latin typeface="Trebuchet MS"/>
                <a:cs typeface="Trebuchet MS"/>
              </a:rPr>
              <a:t> </a:t>
            </a:r>
            <a:r>
              <a:rPr sz="950" i="1" spc="-20" dirty="0">
                <a:latin typeface="Trebuchet MS"/>
                <a:cs typeface="Trebuchet MS"/>
              </a:rPr>
              <a:t>the</a:t>
            </a:r>
            <a:r>
              <a:rPr sz="950" i="1" spc="-5" dirty="0">
                <a:latin typeface="Trebuchet MS"/>
                <a:cs typeface="Trebuchet MS"/>
              </a:rPr>
              <a:t> </a:t>
            </a:r>
            <a:r>
              <a:rPr sz="950" i="1" spc="-10" dirty="0">
                <a:latin typeface="Trebuchet MS"/>
                <a:cs typeface="Trebuchet MS"/>
              </a:rPr>
              <a:t>thesaurus </a:t>
            </a:r>
            <a:r>
              <a:rPr sz="950" i="1" dirty="0">
                <a:latin typeface="Trebuchet MS"/>
                <a:cs typeface="Trebuchet MS"/>
              </a:rPr>
              <a:t>category</a:t>
            </a:r>
            <a:r>
              <a:rPr sz="950" i="1" spc="-5" dirty="0">
                <a:latin typeface="Trebuchet MS"/>
                <a:cs typeface="Trebuchet MS"/>
              </a:rPr>
              <a:t> </a:t>
            </a:r>
            <a:r>
              <a:rPr sz="950" i="1" spc="-35" dirty="0">
                <a:latin typeface="Trebuchet MS"/>
                <a:cs typeface="Trebuchet MS"/>
              </a:rPr>
              <a:t>of</a:t>
            </a:r>
            <a:r>
              <a:rPr sz="950" i="1" dirty="0">
                <a:latin typeface="Trebuchet MS"/>
                <a:cs typeface="Trebuchet MS"/>
              </a:rPr>
              <a:t> </a:t>
            </a:r>
            <a:r>
              <a:rPr sz="950" i="1" spc="-20" dirty="0">
                <a:latin typeface="Trebuchet MS"/>
                <a:cs typeface="Trebuchet MS"/>
              </a:rPr>
              <a:t>the</a:t>
            </a:r>
            <a:r>
              <a:rPr sz="950" i="1" dirty="0">
                <a:latin typeface="Trebuchet MS"/>
                <a:cs typeface="Trebuchet MS"/>
              </a:rPr>
              <a:t> word</a:t>
            </a:r>
            <a:r>
              <a:rPr sz="950" i="1" spc="-5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matches </a:t>
            </a:r>
            <a:r>
              <a:rPr sz="950" i="1" spc="-55" dirty="0">
                <a:latin typeface="Trebuchet MS"/>
                <a:cs typeface="Trebuchet MS"/>
              </a:rPr>
              <a:t>that</a:t>
            </a:r>
            <a:r>
              <a:rPr sz="950" i="1" dirty="0">
                <a:latin typeface="Trebuchet MS"/>
                <a:cs typeface="Trebuchet MS"/>
              </a:rPr>
              <a:t> </a:t>
            </a:r>
            <a:r>
              <a:rPr sz="950" i="1" spc="-35" dirty="0">
                <a:latin typeface="Trebuchet MS"/>
                <a:cs typeface="Trebuchet MS"/>
              </a:rPr>
              <a:t>of</a:t>
            </a:r>
            <a:r>
              <a:rPr sz="950" i="1" spc="-5" dirty="0">
                <a:latin typeface="Trebuchet MS"/>
                <a:cs typeface="Trebuchet MS"/>
              </a:rPr>
              <a:t> </a:t>
            </a:r>
            <a:r>
              <a:rPr sz="950" i="1" spc="-20" dirty="0">
                <a:latin typeface="Trebuchet MS"/>
                <a:cs typeface="Trebuchet MS"/>
              </a:rPr>
              <a:t>the</a:t>
            </a:r>
            <a:r>
              <a:rPr sz="950" i="1" dirty="0">
                <a:latin typeface="Trebuchet MS"/>
                <a:cs typeface="Trebuchet MS"/>
              </a:rPr>
              <a:t> </a:t>
            </a:r>
            <a:r>
              <a:rPr sz="950" i="1" spc="-10" dirty="0">
                <a:latin typeface="Trebuchet MS"/>
                <a:cs typeface="Trebuchet MS"/>
              </a:rPr>
              <a:t>sense.</a:t>
            </a:r>
            <a:endParaRPr sz="950">
              <a:latin typeface="Trebuchet MS"/>
              <a:cs typeface="Trebuchet MS"/>
            </a:endParaRPr>
          </a:p>
          <a:p>
            <a:pPr marL="313690" indent="-116205">
              <a:lnSpc>
                <a:spcPct val="100000"/>
              </a:lnSpc>
              <a:spcBef>
                <a:spcPts val="204"/>
              </a:spcBef>
              <a:buClr>
                <a:srgbClr val="3333B2"/>
              </a:buClr>
              <a:buSzPct val="66666"/>
              <a:buFont typeface="Lucida Sans Unicode"/>
              <a:buChar char="►"/>
              <a:tabLst>
                <a:tab pos="313690" algn="l"/>
              </a:tabLst>
            </a:pPr>
            <a:r>
              <a:rPr sz="900" dirty="0">
                <a:latin typeface="Trebuchet MS"/>
                <a:cs typeface="Trebuchet MS"/>
              </a:rPr>
              <a:t>E.g.</a:t>
            </a:r>
            <a:r>
              <a:rPr sz="900" spc="40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The</a:t>
            </a:r>
            <a:r>
              <a:rPr sz="900" spc="-20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money</a:t>
            </a:r>
            <a:r>
              <a:rPr sz="900" spc="-15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in</a:t>
            </a:r>
            <a:r>
              <a:rPr sz="900" spc="-20" dirty="0">
                <a:latin typeface="Trebuchet MS"/>
                <a:cs typeface="Trebuchet MS"/>
              </a:rPr>
              <a:t> this </a:t>
            </a:r>
            <a:r>
              <a:rPr sz="900" dirty="0">
                <a:latin typeface="Trebuchet MS"/>
                <a:cs typeface="Trebuchet MS"/>
              </a:rPr>
              <a:t>bank</a:t>
            </a:r>
            <a:r>
              <a:rPr sz="900" spc="-20" dirty="0">
                <a:latin typeface="Trebuchet MS"/>
                <a:cs typeface="Trebuchet MS"/>
              </a:rPr>
              <a:t> fetches</a:t>
            </a:r>
            <a:r>
              <a:rPr sz="900" spc="-1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an</a:t>
            </a:r>
            <a:r>
              <a:rPr sz="900" spc="-20" dirty="0">
                <a:latin typeface="Trebuchet MS"/>
                <a:cs typeface="Trebuchet MS"/>
              </a:rPr>
              <a:t> </a:t>
            </a:r>
            <a:r>
              <a:rPr sz="900" spc="-35" dirty="0">
                <a:latin typeface="Trebuchet MS"/>
                <a:cs typeface="Trebuchet MS"/>
              </a:rPr>
              <a:t>interest</a:t>
            </a:r>
            <a:r>
              <a:rPr sz="900" spc="-20" dirty="0">
                <a:latin typeface="Trebuchet MS"/>
                <a:cs typeface="Trebuchet MS"/>
              </a:rPr>
              <a:t> </a:t>
            </a:r>
            <a:r>
              <a:rPr sz="900" spc="-45" dirty="0">
                <a:latin typeface="Trebuchet MS"/>
                <a:cs typeface="Trebuchet MS"/>
              </a:rPr>
              <a:t>of</a:t>
            </a:r>
            <a:r>
              <a:rPr sz="900" spc="-20" dirty="0">
                <a:latin typeface="Trebuchet MS"/>
                <a:cs typeface="Trebuchet MS"/>
              </a:rPr>
              <a:t> </a:t>
            </a:r>
            <a:r>
              <a:rPr sz="1000" spc="-65" dirty="0">
                <a:latin typeface="Cambria"/>
                <a:cs typeface="Cambria"/>
              </a:rPr>
              <a:t>8</a:t>
            </a:r>
            <a:r>
              <a:rPr sz="1000" spc="-65" dirty="0">
                <a:latin typeface="Arial MT"/>
                <a:cs typeface="Arial MT"/>
              </a:rPr>
              <a:t>%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per</a:t>
            </a:r>
            <a:r>
              <a:rPr sz="900" spc="-20" dirty="0">
                <a:latin typeface="Trebuchet MS"/>
                <a:cs typeface="Trebuchet MS"/>
              </a:rPr>
              <a:t> annum</a:t>
            </a:r>
            <a:endParaRPr sz="900">
              <a:latin typeface="Trebuchet MS"/>
              <a:cs typeface="Trebuchet MS"/>
            </a:endParaRPr>
          </a:p>
          <a:p>
            <a:pPr marL="313690" indent="-116205">
              <a:lnSpc>
                <a:spcPct val="100000"/>
              </a:lnSpc>
              <a:spcBef>
                <a:spcPts val="100"/>
              </a:spcBef>
              <a:buClr>
                <a:srgbClr val="3333B2"/>
              </a:buClr>
              <a:buSzPct val="66666"/>
              <a:buFont typeface="Lucida Sans Unicode"/>
              <a:buChar char="►"/>
              <a:tabLst>
                <a:tab pos="313690" algn="l"/>
              </a:tabLst>
            </a:pPr>
            <a:r>
              <a:rPr sz="900" spc="-30" dirty="0">
                <a:latin typeface="Trebuchet MS"/>
                <a:cs typeface="Trebuchet MS"/>
              </a:rPr>
              <a:t>Target</a:t>
            </a:r>
            <a:r>
              <a:rPr sz="900" spc="-40" dirty="0">
                <a:latin typeface="Trebuchet MS"/>
                <a:cs typeface="Trebuchet MS"/>
              </a:rPr>
              <a:t> </a:t>
            </a:r>
            <a:r>
              <a:rPr sz="900" spc="-20" dirty="0">
                <a:latin typeface="Trebuchet MS"/>
                <a:cs typeface="Trebuchet MS"/>
              </a:rPr>
              <a:t>word:</a:t>
            </a:r>
            <a:r>
              <a:rPr sz="900" spc="-25" dirty="0">
                <a:latin typeface="Trebuchet MS"/>
                <a:cs typeface="Trebuchet MS"/>
              </a:rPr>
              <a:t> </a:t>
            </a:r>
            <a:r>
              <a:rPr sz="900" i="1" spc="-20" dirty="0">
                <a:latin typeface="Trebuchet MS"/>
                <a:cs typeface="Trebuchet MS"/>
              </a:rPr>
              <a:t>bank</a:t>
            </a:r>
            <a:endParaRPr sz="900">
              <a:latin typeface="Trebuchet MS"/>
              <a:cs typeface="Trebuchet MS"/>
            </a:endParaRPr>
          </a:p>
          <a:p>
            <a:pPr marL="313690" indent="-116205">
              <a:lnSpc>
                <a:spcPct val="100000"/>
              </a:lnSpc>
              <a:spcBef>
                <a:spcPts val="115"/>
              </a:spcBef>
              <a:buClr>
                <a:srgbClr val="3333B2"/>
              </a:buClr>
              <a:buSzPct val="66666"/>
              <a:buFont typeface="Lucida Sans Unicode"/>
              <a:buChar char="►"/>
              <a:tabLst>
                <a:tab pos="313690" algn="l"/>
              </a:tabLst>
            </a:pPr>
            <a:r>
              <a:rPr sz="900" dirty="0">
                <a:latin typeface="Trebuchet MS"/>
                <a:cs typeface="Trebuchet MS"/>
              </a:rPr>
              <a:t>Clue</a:t>
            </a:r>
            <a:r>
              <a:rPr sz="900" spc="-2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words</a:t>
            </a:r>
            <a:r>
              <a:rPr sz="900" spc="-20" dirty="0">
                <a:latin typeface="Trebuchet MS"/>
                <a:cs typeface="Trebuchet MS"/>
              </a:rPr>
              <a:t> </a:t>
            </a:r>
            <a:r>
              <a:rPr sz="900" spc="-40" dirty="0">
                <a:latin typeface="Trebuchet MS"/>
                <a:cs typeface="Trebuchet MS"/>
              </a:rPr>
              <a:t>from</a:t>
            </a:r>
            <a:r>
              <a:rPr sz="900" spc="-20" dirty="0">
                <a:latin typeface="Trebuchet MS"/>
                <a:cs typeface="Trebuchet MS"/>
              </a:rPr>
              <a:t> </a:t>
            </a:r>
            <a:r>
              <a:rPr sz="900" spc="-25" dirty="0">
                <a:latin typeface="Trebuchet MS"/>
                <a:cs typeface="Trebuchet MS"/>
              </a:rPr>
              <a:t>the</a:t>
            </a:r>
            <a:r>
              <a:rPr sz="900" spc="-20" dirty="0">
                <a:latin typeface="Trebuchet MS"/>
                <a:cs typeface="Trebuchet MS"/>
              </a:rPr>
              <a:t> </a:t>
            </a:r>
            <a:r>
              <a:rPr sz="900" spc="-35" dirty="0">
                <a:latin typeface="Trebuchet MS"/>
                <a:cs typeface="Trebuchet MS"/>
              </a:rPr>
              <a:t>context:</a:t>
            </a:r>
            <a:r>
              <a:rPr sz="900" spc="40" dirty="0">
                <a:latin typeface="Trebuchet MS"/>
                <a:cs typeface="Trebuchet MS"/>
              </a:rPr>
              <a:t> </a:t>
            </a:r>
            <a:r>
              <a:rPr sz="900" i="1" spc="-30" dirty="0">
                <a:latin typeface="Trebuchet MS"/>
                <a:cs typeface="Trebuchet MS"/>
              </a:rPr>
              <a:t>money,</a:t>
            </a:r>
            <a:r>
              <a:rPr sz="900" i="1" spc="-20" dirty="0">
                <a:latin typeface="Trebuchet MS"/>
                <a:cs typeface="Trebuchet MS"/>
              </a:rPr>
              <a:t> </a:t>
            </a:r>
            <a:r>
              <a:rPr sz="900" i="1" spc="-45" dirty="0">
                <a:latin typeface="Trebuchet MS"/>
                <a:cs typeface="Trebuchet MS"/>
              </a:rPr>
              <a:t>interest,</a:t>
            </a:r>
            <a:r>
              <a:rPr sz="900" i="1" spc="-20" dirty="0">
                <a:latin typeface="Trebuchet MS"/>
                <a:cs typeface="Trebuchet MS"/>
              </a:rPr>
              <a:t> </a:t>
            </a:r>
            <a:r>
              <a:rPr sz="900" i="1" spc="-10" dirty="0">
                <a:latin typeface="Trebuchet MS"/>
                <a:cs typeface="Trebuchet MS"/>
              </a:rPr>
              <a:t>annum,</a:t>
            </a:r>
            <a:r>
              <a:rPr sz="900" i="1" spc="-20" dirty="0">
                <a:latin typeface="Trebuchet MS"/>
                <a:cs typeface="Trebuchet MS"/>
              </a:rPr>
              <a:t> </a:t>
            </a:r>
            <a:r>
              <a:rPr sz="900" i="1" spc="-10" dirty="0">
                <a:latin typeface="Trebuchet MS"/>
                <a:cs typeface="Trebuchet MS"/>
              </a:rPr>
              <a:t>fetch</a:t>
            </a:r>
            <a:endParaRPr sz="900">
              <a:latin typeface="Trebuchet MS"/>
              <a:cs typeface="Trebuchet MS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597" y="778154"/>
            <a:ext cx="64757" cy="6475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597" y="1160259"/>
            <a:ext cx="64757" cy="64757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59090" y="2306866"/>
            <a:ext cx="2308860" cy="761999"/>
          </a:xfrm>
          <a:prstGeom prst="rect">
            <a:avLst/>
          </a:prstGeom>
        </p:spPr>
      </p:pic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20" dirty="0"/>
              <a:t>Pawan</a:t>
            </a:r>
            <a:r>
              <a:rPr spc="15" dirty="0"/>
              <a:t> </a:t>
            </a:r>
            <a:r>
              <a:rPr dirty="0"/>
              <a:t>Goyal</a:t>
            </a:r>
            <a:r>
              <a:rPr spc="170" dirty="0"/>
              <a:t> </a:t>
            </a:r>
            <a:r>
              <a:rPr dirty="0"/>
              <a:t>(IIT</a:t>
            </a:r>
            <a:r>
              <a:rPr spc="15" dirty="0"/>
              <a:t> </a:t>
            </a:r>
            <a:r>
              <a:rPr spc="-10" dirty="0"/>
              <a:t>Kharagpur)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364622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3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355386" y="3339672"/>
            <a:ext cx="1987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6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15</a:t>
            </a:r>
            <a:endParaRPr sz="600">
              <a:latin typeface="Cambria"/>
              <a:cs typeface="Cambria"/>
            </a:endParaRPr>
          </a:p>
        </p:txBody>
      </p:sp>
    </p:spTree>
  </p:cSld>
  <p:clrMapOvr>
    <a:masterClrMapping/>
  </p:clrMapOvr>
  <p:transition>
    <p:cut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4608195" cy="351790"/>
          </a:xfrm>
          <a:custGeom>
            <a:avLst/>
            <a:gdLst/>
            <a:ahLst/>
            <a:cxnLst/>
            <a:rect l="l" t="t" r="r" b="b"/>
            <a:pathLst>
              <a:path w="4608195" h="351790">
                <a:moveTo>
                  <a:pt x="4608004" y="0"/>
                </a:moveTo>
                <a:lnTo>
                  <a:pt x="0" y="0"/>
                </a:lnTo>
                <a:lnTo>
                  <a:pt x="0" y="351383"/>
                </a:lnTo>
                <a:lnTo>
                  <a:pt x="4608004" y="351383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5300" y="60502"/>
            <a:ext cx="272161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WSD</a:t>
            </a:r>
            <a:r>
              <a:rPr sz="1400" i="1" spc="7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Using</a:t>
            </a:r>
            <a:r>
              <a:rPr sz="1400" i="1" spc="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Random</a:t>
            </a:r>
            <a:r>
              <a:rPr sz="1400" i="1" spc="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spc="-55" dirty="0">
                <a:solidFill>
                  <a:srgbClr val="FFFFFF"/>
                </a:solidFill>
                <a:latin typeface="Cambria"/>
                <a:cs typeface="Cambria"/>
              </a:rPr>
              <a:t>Walk</a:t>
            </a:r>
            <a:r>
              <a:rPr sz="1400" i="1" spc="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spc="-10" dirty="0">
                <a:solidFill>
                  <a:srgbClr val="FFFFFF"/>
                </a:solidFill>
                <a:latin typeface="Cambria"/>
                <a:cs typeface="Cambria"/>
              </a:rPr>
              <a:t>Algorithm</a:t>
            </a:r>
            <a:endParaRPr sz="140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3771" y="606615"/>
            <a:ext cx="4014724" cy="2318512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20" dirty="0"/>
              <a:t>Pawan</a:t>
            </a:r>
            <a:r>
              <a:rPr spc="15" dirty="0"/>
              <a:t> </a:t>
            </a:r>
            <a:r>
              <a:rPr dirty="0"/>
              <a:t>Goyal</a:t>
            </a:r>
            <a:r>
              <a:rPr spc="170" dirty="0"/>
              <a:t> </a:t>
            </a:r>
            <a:r>
              <a:rPr dirty="0"/>
              <a:t>(IIT</a:t>
            </a:r>
            <a:r>
              <a:rPr spc="15" dirty="0"/>
              <a:t> </a:t>
            </a:r>
            <a:r>
              <a:rPr spc="-10" dirty="0"/>
              <a:t>Kharagpur)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60826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3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/>
              <a:t>7</a:t>
            </a:r>
            <a:r>
              <a:rPr spc="-20" dirty="0"/>
              <a:t> </a:t>
            </a:r>
            <a:r>
              <a:rPr spc="-110" dirty="0"/>
              <a:t>/</a:t>
            </a:r>
            <a:r>
              <a:rPr spc="15" dirty="0"/>
              <a:t> </a:t>
            </a:r>
            <a:r>
              <a:rPr spc="-25" dirty="0"/>
              <a:t>15</a:t>
            </a:r>
          </a:p>
        </p:txBody>
      </p:sp>
    </p:spTree>
  </p:cSld>
  <p:clrMapOvr>
    <a:masterClrMapping/>
  </p:clrMapOvr>
  <p:transition>
    <p:cut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4608195" cy="351790"/>
          </a:xfrm>
          <a:custGeom>
            <a:avLst/>
            <a:gdLst/>
            <a:ahLst/>
            <a:cxnLst/>
            <a:rect l="l" t="t" r="r" b="b"/>
            <a:pathLst>
              <a:path w="4608195" h="351790">
                <a:moveTo>
                  <a:pt x="4608004" y="0"/>
                </a:moveTo>
                <a:lnTo>
                  <a:pt x="0" y="0"/>
                </a:lnTo>
                <a:lnTo>
                  <a:pt x="0" y="351383"/>
                </a:lnTo>
                <a:lnTo>
                  <a:pt x="4608004" y="351383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5300" y="60502"/>
            <a:ext cx="272161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WSD</a:t>
            </a:r>
            <a:r>
              <a:rPr sz="1400" i="1" spc="7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Using</a:t>
            </a:r>
            <a:r>
              <a:rPr sz="1400" i="1" spc="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Random</a:t>
            </a:r>
            <a:r>
              <a:rPr sz="1400" i="1" spc="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spc="-55" dirty="0">
                <a:solidFill>
                  <a:srgbClr val="FFFFFF"/>
                </a:solidFill>
                <a:latin typeface="Cambria"/>
                <a:cs typeface="Cambria"/>
              </a:rPr>
              <a:t>Walk</a:t>
            </a:r>
            <a:r>
              <a:rPr sz="1400" i="1" spc="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spc="-10" dirty="0">
                <a:solidFill>
                  <a:srgbClr val="FFFFFF"/>
                </a:solidFill>
                <a:latin typeface="Cambria"/>
                <a:cs typeface="Cambria"/>
              </a:rPr>
              <a:t>Algorithm</a:t>
            </a:r>
            <a:endParaRPr sz="140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3771" y="606615"/>
            <a:ext cx="4014724" cy="2336291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20" dirty="0"/>
              <a:t>Pawan</a:t>
            </a:r>
            <a:r>
              <a:rPr spc="15" dirty="0"/>
              <a:t> </a:t>
            </a:r>
            <a:r>
              <a:rPr dirty="0"/>
              <a:t>Goyal</a:t>
            </a:r>
            <a:r>
              <a:rPr spc="170" dirty="0"/>
              <a:t> </a:t>
            </a:r>
            <a:r>
              <a:rPr dirty="0"/>
              <a:t>(IIT</a:t>
            </a:r>
            <a:r>
              <a:rPr spc="15" dirty="0"/>
              <a:t> </a:t>
            </a:r>
            <a:r>
              <a:rPr spc="-10" dirty="0"/>
              <a:t>Kharagpur)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60826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3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/>
              <a:t>8</a:t>
            </a:r>
            <a:r>
              <a:rPr spc="-20" dirty="0"/>
              <a:t> </a:t>
            </a:r>
            <a:r>
              <a:rPr spc="-110" dirty="0"/>
              <a:t>/</a:t>
            </a:r>
            <a:r>
              <a:rPr spc="15" dirty="0"/>
              <a:t> </a:t>
            </a:r>
            <a:r>
              <a:rPr spc="-25" dirty="0"/>
              <a:t>15</a:t>
            </a:r>
          </a:p>
        </p:txBody>
      </p:sp>
    </p:spTree>
  </p:cSld>
  <p:clrMapOvr>
    <a:masterClrMapping/>
  </p:clrMapOvr>
  <p:transition>
    <p:cut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4608195" cy="351790"/>
          </a:xfrm>
          <a:custGeom>
            <a:avLst/>
            <a:gdLst/>
            <a:ahLst/>
            <a:cxnLst/>
            <a:rect l="l" t="t" r="r" b="b"/>
            <a:pathLst>
              <a:path w="4608195" h="351790">
                <a:moveTo>
                  <a:pt x="4608004" y="0"/>
                </a:moveTo>
                <a:lnTo>
                  <a:pt x="0" y="0"/>
                </a:lnTo>
                <a:lnTo>
                  <a:pt x="0" y="351383"/>
                </a:lnTo>
                <a:lnTo>
                  <a:pt x="4608004" y="351383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5300" y="60502"/>
            <a:ext cx="272161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WSD</a:t>
            </a:r>
            <a:r>
              <a:rPr sz="1400" i="1" spc="7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Using</a:t>
            </a:r>
            <a:r>
              <a:rPr sz="1400" i="1" spc="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Random</a:t>
            </a:r>
            <a:r>
              <a:rPr sz="1400" i="1" spc="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spc="-55" dirty="0">
                <a:solidFill>
                  <a:srgbClr val="FFFFFF"/>
                </a:solidFill>
                <a:latin typeface="Cambria"/>
                <a:cs typeface="Cambria"/>
              </a:rPr>
              <a:t>Walk</a:t>
            </a:r>
            <a:r>
              <a:rPr sz="1400" i="1" spc="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spc="-10" dirty="0">
                <a:solidFill>
                  <a:srgbClr val="FFFFFF"/>
                </a:solidFill>
                <a:latin typeface="Cambria"/>
                <a:cs typeface="Cambria"/>
              </a:rPr>
              <a:t>Algorithm</a:t>
            </a:r>
            <a:endParaRPr sz="140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3771" y="549719"/>
            <a:ext cx="4014724" cy="2510535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20" dirty="0"/>
              <a:t>Pawan</a:t>
            </a:r>
            <a:r>
              <a:rPr spc="15" dirty="0"/>
              <a:t> </a:t>
            </a:r>
            <a:r>
              <a:rPr dirty="0"/>
              <a:t>Goyal</a:t>
            </a:r>
            <a:r>
              <a:rPr spc="170" dirty="0"/>
              <a:t> </a:t>
            </a:r>
            <a:r>
              <a:rPr dirty="0"/>
              <a:t>(IIT</a:t>
            </a:r>
            <a:r>
              <a:rPr spc="15" dirty="0"/>
              <a:t> </a:t>
            </a:r>
            <a:r>
              <a:rPr spc="-10" dirty="0"/>
              <a:t>Kharagpur)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60826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3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/>
              <a:t>9</a:t>
            </a:r>
            <a:r>
              <a:rPr spc="-20" dirty="0"/>
              <a:t> </a:t>
            </a:r>
            <a:r>
              <a:rPr spc="-110" dirty="0"/>
              <a:t>/</a:t>
            </a:r>
            <a:r>
              <a:rPr spc="15" dirty="0"/>
              <a:t> </a:t>
            </a:r>
            <a:r>
              <a:rPr spc="-25" dirty="0"/>
              <a:t>15</a:t>
            </a:r>
          </a:p>
        </p:txBody>
      </p:sp>
    </p:spTree>
  </p:cSld>
  <p:clrMapOvr>
    <a:masterClrMapping/>
  </p:clrMapOvr>
  <p:transition>
    <p:cut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4608195" cy="351790"/>
          </a:xfrm>
          <a:custGeom>
            <a:avLst/>
            <a:gdLst/>
            <a:ahLst/>
            <a:cxnLst/>
            <a:rect l="l" t="t" r="r" b="b"/>
            <a:pathLst>
              <a:path w="4608195" h="351790">
                <a:moveTo>
                  <a:pt x="4608004" y="0"/>
                </a:moveTo>
                <a:lnTo>
                  <a:pt x="0" y="0"/>
                </a:lnTo>
                <a:lnTo>
                  <a:pt x="0" y="351383"/>
                </a:lnTo>
                <a:lnTo>
                  <a:pt x="4608004" y="351383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5300" y="60502"/>
            <a:ext cx="272161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WSD</a:t>
            </a:r>
            <a:r>
              <a:rPr sz="1400" i="1" spc="7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Using</a:t>
            </a:r>
            <a:r>
              <a:rPr sz="1400" i="1" spc="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Random</a:t>
            </a:r>
            <a:r>
              <a:rPr sz="1400" i="1" spc="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spc="-55" dirty="0">
                <a:solidFill>
                  <a:srgbClr val="FFFFFF"/>
                </a:solidFill>
                <a:latin typeface="Cambria"/>
                <a:cs typeface="Cambria"/>
              </a:rPr>
              <a:t>Walk</a:t>
            </a:r>
            <a:r>
              <a:rPr sz="1400" i="1" spc="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spc="-10" dirty="0">
                <a:solidFill>
                  <a:srgbClr val="FFFFFF"/>
                </a:solidFill>
                <a:latin typeface="Cambria"/>
                <a:cs typeface="Cambria"/>
              </a:rPr>
              <a:t>Algorithm</a:t>
            </a:r>
            <a:endParaRPr sz="140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3771" y="549719"/>
            <a:ext cx="4014724" cy="2279395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20" dirty="0"/>
              <a:t>Pawan</a:t>
            </a:r>
            <a:r>
              <a:rPr spc="15" dirty="0"/>
              <a:t> </a:t>
            </a:r>
            <a:r>
              <a:rPr dirty="0"/>
              <a:t>Goyal</a:t>
            </a:r>
            <a:r>
              <a:rPr spc="170" dirty="0"/>
              <a:t> </a:t>
            </a:r>
            <a:r>
              <a:rPr dirty="0"/>
              <a:t>(IIT</a:t>
            </a:r>
            <a:r>
              <a:rPr spc="15" dirty="0"/>
              <a:t> </a:t>
            </a:r>
            <a:r>
              <a:rPr spc="-10" dirty="0"/>
              <a:t>Kharagpur)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60826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3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/>
              <a:t>10</a:t>
            </a:r>
            <a:r>
              <a:rPr spc="-20" dirty="0"/>
              <a:t> </a:t>
            </a:r>
            <a:r>
              <a:rPr spc="-110" dirty="0"/>
              <a:t>/</a:t>
            </a:r>
            <a:r>
              <a:rPr spc="15" dirty="0"/>
              <a:t> </a:t>
            </a:r>
            <a:r>
              <a:rPr spc="-25" dirty="0"/>
              <a:t>15</a:t>
            </a:r>
          </a:p>
        </p:txBody>
      </p:sp>
    </p:spTree>
  </p:cSld>
  <p:clrMapOvr>
    <a:masterClrMapping/>
  </p:clrMapOvr>
  <p:transition>
    <p:cut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Naïve</a:t>
            </a:r>
            <a:r>
              <a:rPr spc="35" dirty="0"/>
              <a:t> </a:t>
            </a:r>
            <a:r>
              <a:rPr dirty="0"/>
              <a:t>Bayes</a:t>
            </a:r>
            <a:r>
              <a:rPr spc="40" dirty="0"/>
              <a:t> </a:t>
            </a:r>
            <a:r>
              <a:rPr dirty="0"/>
              <a:t>for</a:t>
            </a:r>
            <a:r>
              <a:rPr spc="40" dirty="0"/>
              <a:t> </a:t>
            </a:r>
            <a:r>
              <a:rPr spc="-25" dirty="0"/>
              <a:t>WSD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597" y="537083"/>
            <a:ext cx="64757" cy="6475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2932" y="444520"/>
            <a:ext cx="3962400" cy="109029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18900"/>
              </a:lnSpc>
              <a:spcBef>
                <a:spcPts val="90"/>
              </a:spcBef>
            </a:pPr>
            <a:r>
              <a:rPr sz="950" spc="90" dirty="0">
                <a:latin typeface="Trebuchet MS"/>
                <a:cs typeface="Trebuchet MS"/>
              </a:rPr>
              <a:t>A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Naïve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spc="50" dirty="0">
                <a:latin typeface="Trebuchet MS"/>
                <a:cs typeface="Trebuchet MS"/>
              </a:rPr>
              <a:t>Bayes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classifier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chooses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most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likely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spc="55" dirty="0">
                <a:latin typeface="Trebuchet MS"/>
                <a:cs typeface="Trebuchet MS"/>
              </a:rPr>
              <a:t>sense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spc="-40" dirty="0">
                <a:latin typeface="Trebuchet MS"/>
                <a:cs typeface="Trebuchet MS"/>
              </a:rPr>
              <a:t>for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word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given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7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features</a:t>
            </a:r>
            <a:r>
              <a:rPr sz="950" spc="-7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-6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7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context:</a:t>
            </a:r>
            <a:endParaRPr sz="950">
              <a:latin typeface="Trebuchet MS"/>
              <a:cs typeface="Trebuchet MS"/>
            </a:endParaRPr>
          </a:p>
          <a:p>
            <a:pPr marL="108585" algn="ctr">
              <a:lnSpc>
                <a:spcPts val="1290"/>
              </a:lnSpc>
              <a:spcBef>
                <a:spcPts val="810"/>
              </a:spcBef>
            </a:pPr>
            <a:r>
              <a:rPr sz="1100" spc="-160" dirty="0">
                <a:latin typeface="Arial MT"/>
                <a:cs typeface="Arial MT"/>
              </a:rPr>
              <a:t>ˆ</a:t>
            </a:r>
            <a:r>
              <a:rPr sz="1100" i="1" spc="-160" dirty="0">
                <a:latin typeface="Cambria"/>
                <a:cs typeface="Cambria"/>
              </a:rPr>
              <a:t>s</a:t>
            </a:r>
            <a:r>
              <a:rPr sz="1100" i="1" spc="30" dirty="0">
                <a:latin typeface="Cambria"/>
                <a:cs typeface="Cambria"/>
              </a:rPr>
              <a:t> </a:t>
            </a:r>
            <a:r>
              <a:rPr sz="1100" spc="200" dirty="0">
                <a:latin typeface="Arial MT"/>
                <a:cs typeface="Arial MT"/>
              </a:rPr>
              <a:t>=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35" dirty="0">
                <a:latin typeface="Cambria"/>
                <a:cs typeface="Cambria"/>
              </a:rPr>
              <a:t>argmax</a:t>
            </a:r>
            <a:r>
              <a:rPr sz="1100" spc="-110" dirty="0">
                <a:latin typeface="Cambria"/>
                <a:cs typeface="Cambria"/>
              </a:rPr>
              <a:t> </a:t>
            </a:r>
            <a:r>
              <a:rPr sz="1100" i="1" spc="-30" dirty="0">
                <a:latin typeface="Cambria"/>
                <a:cs typeface="Cambria"/>
              </a:rPr>
              <a:t>P</a:t>
            </a:r>
            <a:r>
              <a:rPr sz="1100" spc="-30" dirty="0">
                <a:latin typeface="Arial MT"/>
                <a:cs typeface="Arial MT"/>
              </a:rPr>
              <a:t>(</a:t>
            </a:r>
            <a:r>
              <a:rPr sz="1100" i="1" spc="-30" dirty="0">
                <a:latin typeface="Cambria"/>
                <a:cs typeface="Cambria"/>
              </a:rPr>
              <a:t>s</a:t>
            </a:r>
            <a:r>
              <a:rPr sz="1100" spc="-30" dirty="0">
                <a:latin typeface="Lucida Sans Unicode"/>
                <a:cs typeface="Lucida Sans Unicode"/>
              </a:rPr>
              <a:t>|</a:t>
            </a:r>
            <a:r>
              <a:rPr sz="1100" i="1" spc="-30" dirty="0">
                <a:latin typeface="Cambria"/>
                <a:cs typeface="Cambria"/>
              </a:rPr>
              <a:t>f</a:t>
            </a:r>
            <a:r>
              <a:rPr sz="1100" i="1" spc="-65" dirty="0">
                <a:latin typeface="Cambria"/>
                <a:cs typeface="Cambria"/>
              </a:rPr>
              <a:t> </a:t>
            </a:r>
            <a:r>
              <a:rPr sz="1100" spc="5" dirty="0">
                <a:latin typeface="Arial MT"/>
                <a:cs typeface="Arial MT"/>
              </a:rPr>
              <a:t>)</a:t>
            </a:r>
            <a:endParaRPr sz="1100">
              <a:latin typeface="Arial MT"/>
              <a:cs typeface="Arial MT"/>
            </a:endParaRPr>
          </a:p>
          <a:p>
            <a:pPr marR="635" algn="ctr">
              <a:lnSpc>
                <a:spcPts val="930"/>
              </a:lnSpc>
            </a:pPr>
            <a:r>
              <a:rPr sz="800" i="1" spc="-25" dirty="0">
                <a:latin typeface="Cambria"/>
                <a:cs typeface="Cambria"/>
              </a:rPr>
              <a:t>s</a:t>
            </a:r>
            <a:r>
              <a:rPr sz="800" spc="-25" dirty="0">
                <a:latin typeface="Lucida Sans Unicode"/>
                <a:cs typeface="Lucida Sans Unicode"/>
              </a:rPr>
              <a:t>∈</a:t>
            </a:r>
            <a:r>
              <a:rPr sz="800" i="1" spc="-25" dirty="0">
                <a:latin typeface="Cambria"/>
                <a:cs typeface="Cambria"/>
              </a:rPr>
              <a:t>S</a:t>
            </a:r>
            <a:endParaRPr sz="8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565"/>
              </a:spcBef>
            </a:pPr>
            <a:endParaRPr sz="8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950" dirty="0">
                <a:latin typeface="Trebuchet MS"/>
                <a:cs typeface="Trebuchet MS"/>
              </a:rPr>
              <a:t>Using</a:t>
            </a:r>
            <a:r>
              <a:rPr sz="950" spc="8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Bayes’</a:t>
            </a:r>
            <a:r>
              <a:rPr sz="950" spc="90" dirty="0">
                <a:latin typeface="Trebuchet MS"/>
                <a:cs typeface="Trebuchet MS"/>
              </a:rPr>
              <a:t> </a:t>
            </a:r>
            <a:r>
              <a:rPr sz="950" spc="-50" dirty="0">
                <a:latin typeface="Trebuchet MS"/>
                <a:cs typeface="Trebuchet MS"/>
              </a:rPr>
              <a:t>law,</a:t>
            </a:r>
            <a:r>
              <a:rPr sz="950" spc="8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this</a:t>
            </a:r>
            <a:r>
              <a:rPr sz="950" spc="9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can</a:t>
            </a:r>
            <a:r>
              <a:rPr sz="950" spc="8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be</a:t>
            </a:r>
            <a:r>
              <a:rPr sz="950" spc="9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expressed</a:t>
            </a:r>
            <a:r>
              <a:rPr sz="950" spc="85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as:</a:t>
            </a:r>
            <a:endParaRPr sz="950">
              <a:latin typeface="Trebuchet MS"/>
              <a:cs typeface="Trebuchet MS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597" y="1429562"/>
            <a:ext cx="64757" cy="64757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783943" y="1681619"/>
            <a:ext cx="685165" cy="3060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ts val="1290"/>
              </a:lnSpc>
              <a:spcBef>
                <a:spcPts val="90"/>
              </a:spcBef>
            </a:pPr>
            <a:r>
              <a:rPr sz="1100" spc="-160" dirty="0">
                <a:latin typeface="Arial MT"/>
                <a:cs typeface="Arial MT"/>
              </a:rPr>
              <a:t>ˆ</a:t>
            </a:r>
            <a:r>
              <a:rPr sz="1100" i="1" spc="-160" dirty="0">
                <a:latin typeface="Cambria"/>
                <a:cs typeface="Cambria"/>
              </a:rPr>
              <a:t>s</a:t>
            </a:r>
            <a:r>
              <a:rPr sz="1100" i="1" spc="5" dirty="0">
                <a:latin typeface="Cambria"/>
                <a:cs typeface="Cambria"/>
              </a:rPr>
              <a:t> </a:t>
            </a:r>
            <a:r>
              <a:rPr sz="1100" spc="200" dirty="0">
                <a:latin typeface="Arial MT"/>
                <a:cs typeface="Arial MT"/>
              </a:rPr>
              <a:t>=</a:t>
            </a:r>
            <a:r>
              <a:rPr sz="1100" spc="-55" dirty="0">
                <a:latin typeface="Arial MT"/>
                <a:cs typeface="Arial MT"/>
              </a:rPr>
              <a:t> </a:t>
            </a:r>
            <a:r>
              <a:rPr sz="1100" spc="-20" dirty="0">
                <a:latin typeface="Cambria"/>
                <a:cs typeface="Cambria"/>
              </a:rPr>
              <a:t>argmax</a:t>
            </a:r>
            <a:endParaRPr sz="1100">
              <a:latin typeface="Cambria"/>
              <a:cs typeface="Cambria"/>
            </a:endParaRPr>
          </a:p>
          <a:p>
            <a:pPr marL="384810">
              <a:lnSpc>
                <a:spcPts val="930"/>
              </a:lnSpc>
            </a:pPr>
            <a:r>
              <a:rPr sz="800" i="1" spc="-25" dirty="0">
                <a:latin typeface="Cambria"/>
                <a:cs typeface="Cambria"/>
              </a:rPr>
              <a:t>s</a:t>
            </a:r>
            <a:r>
              <a:rPr sz="800" spc="-25" dirty="0">
                <a:latin typeface="Lucida Sans Unicode"/>
                <a:cs typeface="Lucida Sans Unicode"/>
              </a:rPr>
              <a:t>∈</a:t>
            </a:r>
            <a:r>
              <a:rPr sz="800" i="1" spc="-25" dirty="0">
                <a:latin typeface="Cambria"/>
                <a:cs typeface="Cambria"/>
              </a:rPr>
              <a:t>S</a:t>
            </a:r>
            <a:endParaRPr sz="80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473820" y="1584223"/>
            <a:ext cx="60452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spc="20" dirty="0">
                <a:latin typeface="Cambria"/>
                <a:cs typeface="Cambria"/>
              </a:rPr>
              <a:t>P</a:t>
            </a:r>
            <a:r>
              <a:rPr sz="1100" spc="20" dirty="0">
                <a:latin typeface="Arial MT"/>
                <a:cs typeface="Arial MT"/>
              </a:rPr>
              <a:t>(</a:t>
            </a:r>
            <a:r>
              <a:rPr sz="1100" i="1" spc="20" dirty="0">
                <a:latin typeface="Cambria"/>
                <a:cs typeface="Cambria"/>
              </a:rPr>
              <a:t>s</a:t>
            </a:r>
            <a:r>
              <a:rPr sz="1100" spc="20" dirty="0">
                <a:latin typeface="Arial MT"/>
                <a:cs typeface="Arial MT"/>
              </a:rPr>
              <a:t>)</a:t>
            </a:r>
            <a:r>
              <a:rPr sz="1100" i="1" spc="20" dirty="0">
                <a:latin typeface="Cambria"/>
                <a:cs typeface="Cambria"/>
              </a:rPr>
              <a:t>P</a:t>
            </a:r>
            <a:r>
              <a:rPr sz="1100" spc="20" dirty="0">
                <a:latin typeface="Arial MT"/>
                <a:cs typeface="Arial MT"/>
              </a:rPr>
              <a:t>(</a:t>
            </a:r>
            <a:r>
              <a:rPr sz="1100" i="1" spc="20" dirty="0">
                <a:latin typeface="Cambria"/>
                <a:cs typeface="Cambria"/>
              </a:rPr>
              <a:t>f </a:t>
            </a:r>
            <a:r>
              <a:rPr sz="1100" spc="-25" dirty="0">
                <a:latin typeface="Lucida Sans Unicode"/>
                <a:cs typeface="Lucida Sans Unicode"/>
              </a:rPr>
              <a:t>|</a:t>
            </a:r>
            <a:r>
              <a:rPr sz="1100" i="1" spc="-25" dirty="0">
                <a:latin typeface="Cambria"/>
                <a:cs typeface="Cambria"/>
              </a:rPr>
              <a:t>s</a:t>
            </a:r>
            <a:r>
              <a:rPr sz="1100" spc="-25" dirty="0">
                <a:latin typeface="Arial MT"/>
                <a:cs typeface="Arial MT"/>
              </a:rPr>
              <a:t>)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486520" y="1797266"/>
            <a:ext cx="579120" cy="0"/>
          </a:xfrm>
          <a:custGeom>
            <a:avLst/>
            <a:gdLst/>
            <a:ahLst/>
            <a:cxnLst/>
            <a:rect l="l" t="t" r="r" b="b"/>
            <a:pathLst>
              <a:path w="579119">
                <a:moveTo>
                  <a:pt x="0" y="0"/>
                </a:moveTo>
                <a:lnTo>
                  <a:pt x="579056" y="0"/>
                </a:lnTo>
              </a:path>
            </a:pathLst>
          </a:custGeom>
          <a:ln w="77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637777" y="1777085"/>
            <a:ext cx="27686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dirty="0">
                <a:latin typeface="Cambria"/>
                <a:cs typeface="Cambria"/>
              </a:rPr>
              <a:t>P</a:t>
            </a:r>
            <a:r>
              <a:rPr sz="1100" dirty="0">
                <a:latin typeface="Arial MT"/>
                <a:cs typeface="Arial MT"/>
              </a:rPr>
              <a:t>(</a:t>
            </a:r>
            <a:r>
              <a:rPr sz="1100" i="1" dirty="0">
                <a:latin typeface="Cambria"/>
                <a:cs typeface="Cambria"/>
              </a:rPr>
              <a:t>f</a:t>
            </a:r>
            <a:r>
              <a:rPr sz="1100" i="1" spc="-5" dirty="0">
                <a:latin typeface="Cambria"/>
                <a:cs typeface="Cambria"/>
              </a:rPr>
              <a:t> </a:t>
            </a:r>
            <a:r>
              <a:rPr sz="1100" spc="5" dirty="0">
                <a:latin typeface="Arial MT"/>
                <a:cs typeface="Arial MT"/>
              </a:rPr>
              <a:t>)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849158" y="2029333"/>
            <a:ext cx="1186815" cy="3060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ts val="1290"/>
              </a:lnSpc>
              <a:spcBef>
                <a:spcPts val="90"/>
              </a:spcBef>
            </a:pPr>
            <a:r>
              <a:rPr sz="1100" spc="200" dirty="0">
                <a:latin typeface="Arial MT"/>
                <a:cs typeface="Arial MT"/>
              </a:rPr>
              <a:t>=</a:t>
            </a:r>
            <a:r>
              <a:rPr sz="1100" spc="70" dirty="0">
                <a:latin typeface="Arial MT"/>
                <a:cs typeface="Arial MT"/>
              </a:rPr>
              <a:t> </a:t>
            </a:r>
            <a:r>
              <a:rPr sz="1100" spc="-35" dirty="0">
                <a:latin typeface="Cambria"/>
                <a:cs typeface="Cambria"/>
              </a:rPr>
              <a:t>argmax</a:t>
            </a:r>
            <a:r>
              <a:rPr sz="1100" spc="-55" dirty="0">
                <a:latin typeface="Cambria"/>
                <a:cs typeface="Cambria"/>
              </a:rPr>
              <a:t> </a:t>
            </a:r>
            <a:r>
              <a:rPr sz="1100" i="1" dirty="0">
                <a:latin typeface="Cambria"/>
                <a:cs typeface="Cambria"/>
              </a:rPr>
              <a:t>P</a:t>
            </a:r>
            <a:r>
              <a:rPr sz="1100" dirty="0">
                <a:latin typeface="Arial MT"/>
                <a:cs typeface="Arial MT"/>
              </a:rPr>
              <a:t>(</a:t>
            </a:r>
            <a:r>
              <a:rPr sz="1100" i="1" dirty="0">
                <a:latin typeface="Cambria"/>
                <a:cs typeface="Cambria"/>
              </a:rPr>
              <a:t>s</a:t>
            </a:r>
            <a:r>
              <a:rPr sz="1100" dirty="0">
                <a:latin typeface="Arial MT"/>
                <a:cs typeface="Arial MT"/>
              </a:rPr>
              <a:t>)</a:t>
            </a:r>
            <a:r>
              <a:rPr sz="1100" i="1" dirty="0">
                <a:latin typeface="Cambria"/>
                <a:cs typeface="Cambria"/>
              </a:rPr>
              <a:t>P</a:t>
            </a:r>
            <a:r>
              <a:rPr sz="1100" dirty="0">
                <a:latin typeface="Arial MT"/>
                <a:cs typeface="Arial MT"/>
              </a:rPr>
              <a:t>(</a:t>
            </a:r>
            <a:r>
              <a:rPr sz="1100" i="1" dirty="0">
                <a:latin typeface="Cambria"/>
                <a:cs typeface="Cambria"/>
              </a:rPr>
              <a:t>f</a:t>
            </a:r>
            <a:r>
              <a:rPr sz="1100" i="1" spc="5" dirty="0">
                <a:latin typeface="Cambria"/>
                <a:cs typeface="Cambria"/>
              </a:rPr>
              <a:t> </a:t>
            </a:r>
            <a:r>
              <a:rPr sz="1100" spc="-25" dirty="0">
                <a:latin typeface="Lucida Sans Unicode"/>
                <a:cs typeface="Lucida Sans Unicode"/>
              </a:rPr>
              <a:t>|</a:t>
            </a:r>
            <a:r>
              <a:rPr sz="1100" i="1" spc="-25" dirty="0">
                <a:latin typeface="Cambria"/>
                <a:cs typeface="Cambria"/>
              </a:rPr>
              <a:t>s</a:t>
            </a:r>
            <a:r>
              <a:rPr sz="1100" spc="-25" dirty="0">
                <a:latin typeface="Arial MT"/>
                <a:cs typeface="Arial MT"/>
              </a:rPr>
              <a:t>)</a:t>
            </a:r>
            <a:endParaRPr sz="1100">
              <a:latin typeface="Arial MT"/>
              <a:cs typeface="Arial MT"/>
            </a:endParaRPr>
          </a:p>
          <a:p>
            <a:pPr marL="292735">
              <a:lnSpc>
                <a:spcPts val="930"/>
              </a:lnSpc>
            </a:pPr>
            <a:r>
              <a:rPr sz="800" i="1" spc="-25" dirty="0">
                <a:latin typeface="Cambria"/>
                <a:cs typeface="Cambria"/>
              </a:rPr>
              <a:t>s</a:t>
            </a:r>
            <a:r>
              <a:rPr sz="800" spc="-25" dirty="0">
                <a:latin typeface="Lucida Sans Unicode"/>
                <a:cs typeface="Lucida Sans Unicode"/>
              </a:rPr>
              <a:t>∈</a:t>
            </a:r>
            <a:r>
              <a:rPr sz="800" i="1" spc="-25" dirty="0">
                <a:latin typeface="Cambria"/>
                <a:cs typeface="Cambria"/>
              </a:rPr>
              <a:t>S</a:t>
            </a:r>
            <a:endParaRPr sz="800">
              <a:latin typeface="Cambria"/>
              <a:cs typeface="Cambria"/>
            </a:endParaRPr>
          </a:p>
        </p:txBody>
      </p:sp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597" y="2532786"/>
            <a:ext cx="64757" cy="64757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2055329" y="3047746"/>
            <a:ext cx="1701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45" dirty="0">
                <a:latin typeface="Cambria"/>
                <a:cs typeface="Cambria"/>
              </a:rPr>
              <a:t>s</a:t>
            </a:r>
            <a:r>
              <a:rPr sz="800" spc="-45" dirty="0">
                <a:latin typeface="Lucida Sans Unicode"/>
                <a:cs typeface="Lucida Sans Unicode"/>
              </a:rPr>
              <a:t>∈</a:t>
            </a:r>
            <a:r>
              <a:rPr sz="800" i="1" spc="-45" dirty="0">
                <a:latin typeface="Cambria"/>
                <a:cs typeface="Cambria"/>
              </a:rPr>
              <a:t>S</a:t>
            </a:r>
            <a:endParaRPr sz="800">
              <a:latin typeface="Cambria"/>
              <a:cs typeface="Cambr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02932" y="2440236"/>
            <a:ext cx="3908425" cy="4635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18900"/>
              </a:lnSpc>
              <a:spcBef>
                <a:spcPts val="90"/>
              </a:spcBef>
            </a:pP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‘Naïve’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assumption: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all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features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are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conditionally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independent, </a:t>
            </a:r>
            <a:r>
              <a:rPr sz="950" dirty="0">
                <a:latin typeface="Trebuchet MS"/>
                <a:cs typeface="Trebuchet MS"/>
              </a:rPr>
              <a:t>given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10" dirty="0">
                <a:latin typeface="Trebuchet MS"/>
                <a:cs typeface="Trebuchet MS"/>
              </a:rPr>
              <a:t> sense’:</a:t>
            </a:r>
            <a:endParaRPr sz="950">
              <a:latin typeface="Trebuchet MS"/>
              <a:cs typeface="Trebuchet MS"/>
            </a:endParaRPr>
          </a:p>
          <a:p>
            <a:pPr marL="737235" algn="ctr">
              <a:lnSpc>
                <a:spcPts val="745"/>
              </a:lnSpc>
            </a:pPr>
            <a:r>
              <a:rPr sz="800" i="1" spc="-50" dirty="0">
                <a:latin typeface="Cambria"/>
                <a:cs typeface="Cambria"/>
              </a:rPr>
              <a:t>n</a:t>
            </a:r>
            <a:endParaRPr sz="800">
              <a:latin typeface="Cambria"/>
              <a:cs typeface="Cambr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619146" y="2746895"/>
            <a:ext cx="21336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1125" dirty="0">
                <a:latin typeface="Arial MT"/>
                <a:cs typeface="Arial MT"/>
              </a:rPr>
              <a:t>.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682750" y="2842949"/>
            <a:ext cx="1249680" cy="392430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0"/>
              </a:spcBef>
              <a:tabLst>
                <a:tab pos="1151890" algn="l"/>
              </a:tabLst>
            </a:pPr>
            <a:r>
              <a:rPr sz="1100" spc="-160" dirty="0">
                <a:latin typeface="Arial MT"/>
                <a:cs typeface="Arial MT"/>
              </a:rPr>
              <a:t>ˆ</a:t>
            </a:r>
            <a:r>
              <a:rPr sz="1100" i="1" spc="-160" dirty="0">
                <a:latin typeface="Cambria"/>
                <a:cs typeface="Cambria"/>
              </a:rPr>
              <a:t>s</a:t>
            </a:r>
            <a:r>
              <a:rPr sz="1100" i="1" spc="25" dirty="0">
                <a:latin typeface="Cambria"/>
                <a:cs typeface="Cambria"/>
              </a:rPr>
              <a:t> </a:t>
            </a:r>
            <a:r>
              <a:rPr sz="1100" spc="200" dirty="0">
                <a:latin typeface="Arial MT"/>
                <a:cs typeface="Arial MT"/>
              </a:rPr>
              <a:t>=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spc="-35" dirty="0">
                <a:latin typeface="Cambria"/>
                <a:cs typeface="Cambria"/>
              </a:rPr>
              <a:t>argmax</a:t>
            </a:r>
            <a:r>
              <a:rPr sz="1100" spc="-114" dirty="0">
                <a:latin typeface="Cambria"/>
                <a:cs typeface="Cambria"/>
              </a:rPr>
              <a:t> </a:t>
            </a:r>
            <a:r>
              <a:rPr sz="1100" i="1" spc="-20" dirty="0">
                <a:latin typeface="Cambria"/>
                <a:cs typeface="Cambria"/>
              </a:rPr>
              <a:t>P</a:t>
            </a:r>
            <a:r>
              <a:rPr sz="1100" spc="-20" dirty="0">
                <a:latin typeface="Arial MT"/>
                <a:cs typeface="Arial MT"/>
              </a:rPr>
              <a:t>(</a:t>
            </a:r>
            <a:r>
              <a:rPr sz="1100" i="1" spc="-20" dirty="0">
                <a:latin typeface="Cambria"/>
                <a:cs typeface="Cambria"/>
              </a:rPr>
              <a:t>s</a:t>
            </a:r>
            <a:r>
              <a:rPr sz="1100" spc="-20" dirty="0">
                <a:latin typeface="Arial MT"/>
                <a:cs typeface="Arial MT"/>
              </a:rPr>
              <a:t>)</a:t>
            </a:r>
            <a:r>
              <a:rPr sz="1100" dirty="0">
                <a:latin typeface="Arial MT"/>
                <a:cs typeface="Arial MT"/>
              </a:rPr>
              <a:t>	</a:t>
            </a:r>
            <a:r>
              <a:rPr sz="1100" i="1" spc="-50" dirty="0">
                <a:latin typeface="Cambria"/>
                <a:cs typeface="Cambria"/>
              </a:rPr>
              <a:t>P</a:t>
            </a:r>
            <a:endParaRPr sz="1100">
              <a:latin typeface="Cambria"/>
              <a:cs typeface="Cambria"/>
            </a:endParaRPr>
          </a:p>
          <a:p>
            <a:pPr marR="117475" algn="r">
              <a:lnSpc>
                <a:spcPct val="100000"/>
              </a:lnSpc>
              <a:spcBef>
                <a:spcPts val="254"/>
              </a:spcBef>
            </a:pPr>
            <a:r>
              <a:rPr sz="800" i="1" spc="-25" dirty="0">
                <a:latin typeface="Cambria"/>
                <a:cs typeface="Cambria"/>
              </a:rPr>
              <a:t>j</a:t>
            </a:r>
            <a:r>
              <a:rPr sz="800" spc="-25" dirty="0">
                <a:latin typeface="Tahoma"/>
                <a:cs typeface="Tahoma"/>
              </a:rPr>
              <a:t>=</a:t>
            </a:r>
            <a:r>
              <a:rPr sz="800" spc="-25" dirty="0">
                <a:latin typeface="Cambria"/>
                <a:cs typeface="Cambria"/>
              </a:rPr>
              <a:t>1</a:t>
            </a:r>
            <a:endParaRPr sz="800">
              <a:latin typeface="Cambria"/>
              <a:cs typeface="Cambri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999308" y="2946768"/>
            <a:ext cx="539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50" dirty="0">
                <a:latin typeface="Cambria"/>
                <a:cs typeface="Cambria"/>
              </a:rPr>
              <a:t>j</a:t>
            </a:r>
            <a:endParaRPr sz="800">
              <a:latin typeface="Cambria"/>
              <a:cs typeface="Cambri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906920" y="2888653"/>
            <a:ext cx="28765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Arial MT"/>
                <a:cs typeface="Arial MT"/>
              </a:rPr>
              <a:t>(</a:t>
            </a:r>
            <a:r>
              <a:rPr sz="1100" i="1" dirty="0">
                <a:latin typeface="Cambria"/>
                <a:cs typeface="Cambria"/>
              </a:rPr>
              <a:t>f</a:t>
            </a:r>
            <a:r>
              <a:rPr sz="1100" i="1" spc="60" dirty="0">
                <a:latin typeface="Cambria"/>
                <a:cs typeface="Cambria"/>
              </a:rPr>
              <a:t> </a:t>
            </a:r>
            <a:r>
              <a:rPr sz="1100" spc="-30" dirty="0">
                <a:latin typeface="Lucida Sans Unicode"/>
                <a:cs typeface="Lucida Sans Unicode"/>
              </a:rPr>
              <a:t>|</a:t>
            </a:r>
            <a:r>
              <a:rPr sz="1100" i="1" spc="-30" dirty="0">
                <a:latin typeface="Cambria"/>
                <a:cs typeface="Cambria"/>
              </a:rPr>
              <a:t>s</a:t>
            </a:r>
            <a:r>
              <a:rPr sz="1100" spc="-30" dirty="0">
                <a:latin typeface="Arial MT"/>
                <a:cs typeface="Arial MT"/>
              </a:rPr>
              <a:t>)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20" dirty="0"/>
              <a:t>Pawan</a:t>
            </a:r>
            <a:r>
              <a:rPr spc="15" dirty="0"/>
              <a:t> </a:t>
            </a:r>
            <a:r>
              <a:rPr dirty="0"/>
              <a:t>Goyal</a:t>
            </a:r>
            <a:r>
              <a:rPr spc="170" dirty="0"/>
              <a:t> </a:t>
            </a:r>
            <a:r>
              <a:rPr dirty="0"/>
              <a:t>(IIT</a:t>
            </a:r>
            <a:r>
              <a:rPr spc="15" dirty="0"/>
              <a:t> </a:t>
            </a:r>
            <a:r>
              <a:rPr spc="-10" dirty="0"/>
              <a:t>Kharagpur)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360826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3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317426" y="3339672"/>
            <a:ext cx="236854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11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15</a:t>
            </a:r>
            <a:endParaRPr sz="600">
              <a:latin typeface="Cambria"/>
              <a:cs typeface="Cambria"/>
            </a:endParaRPr>
          </a:p>
        </p:txBody>
      </p:sp>
    </p:spTree>
  </p:cSld>
  <p:clrMapOvr>
    <a:masterClrMapping/>
  </p:clrMapOvr>
  <p:transition>
    <p:cut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0" dirty="0"/>
              <a:t>Training</a:t>
            </a:r>
            <a:r>
              <a:rPr spc="20" dirty="0"/>
              <a:t> </a:t>
            </a:r>
            <a:r>
              <a:rPr dirty="0"/>
              <a:t>for</a:t>
            </a:r>
            <a:r>
              <a:rPr spc="25" dirty="0"/>
              <a:t> </a:t>
            </a:r>
            <a:r>
              <a:rPr dirty="0"/>
              <a:t>Naïve</a:t>
            </a:r>
            <a:r>
              <a:rPr spc="25" dirty="0"/>
              <a:t> </a:t>
            </a:r>
            <a:r>
              <a:rPr spc="-10" dirty="0"/>
              <a:t>Bayes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597" y="732815"/>
            <a:ext cx="64757" cy="6475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77532" y="623807"/>
            <a:ext cx="4105910" cy="1381125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85"/>
              </a:spcBef>
            </a:pPr>
            <a:r>
              <a:rPr sz="950" spc="-85" dirty="0">
                <a:latin typeface="Trebuchet MS"/>
                <a:cs typeface="Trebuchet MS"/>
              </a:rPr>
              <a:t>‘</a:t>
            </a:r>
            <a:r>
              <a:rPr sz="1100" i="1" spc="-85" dirty="0">
                <a:latin typeface="Cambria"/>
                <a:cs typeface="Cambria"/>
              </a:rPr>
              <a:t>f</a:t>
            </a:r>
            <a:r>
              <a:rPr sz="1100" i="1" spc="-70" dirty="0">
                <a:latin typeface="Cambria"/>
                <a:cs typeface="Cambria"/>
              </a:rPr>
              <a:t> </a:t>
            </a:r>
            <a:r>
              <a:rPr sz="950" spc="-145" dirty="0">
                <a:latin typeface="Trebuchet MS"/>
                <a:cs typeface="Trebuchet MS"/>
              </a:rPr>
              <a:t>’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is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feature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vector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consisting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of:</a:t>
            </a:r>
            <a:endParaRPr sz="950">
              <a:latin typeface="Trebuchet MS"/>
              <a:cs typeface="Trebuchet MS"/>
            </a:endParaRPr>
          </a:p>
          <a:p>
            <a:pPr marL="313690" indent="-116205">
              <a:lnSpc>
                <a:spcPts val="1200"/>
              </a:lnSpc>
              <a:spcBef>
                <a:spcPts val="175"/>
              </a:spcBef>
              <a:buClr>
                <a:srgbClr val="3333B2"/>
              </a:buClr>
              <a:buSzPct val="66666"/>
              <a:buFont typeface="Lucida Sans Unicode"/>
              <a:buChar char="►"/>
              <a:tabLst>
                <a:tab pos="313690" algn="l"/>
              </a:tabLst>
            </a:pPr>
            <a:r>
              <a:rPr sz="900" spc="110" dirty="0">
                <a:latin typeface="Trebuchet MS"/>
                <a:cs typeface="Trebuchet MS"/>
              </a:rPr>
              <a:t>POS</a:t>
            </a:r>
            <a:r>
              <a:rPr sz="900" spc="-20" dirty="0">
                <a:latin typeface="Trebuchet MS"/>
                <a:cs typeface="Trebuchet MS"/>
              </a:rPr>
              <a:t> </a:t>
            </a:r>
            <a:r>
              <a:rPr sz="900" spc="-45" dirty="0">
                <a:latin typeface="Trebuchet MS"/>
                <a:cs typeface="Trebuchet MS"/>
              </a:rPr>
              <a:t>of</a:t>
            </a:r>
            <a:r>
              <a:rPr sz="900" spc="-15" dirty="0">
                <a:latin typeface="Trebuchet MS"/>
                <a:cs typeface="Trebuchet MS"/>
              </a:rPr>
              <a:t> </a:t>
            </a:r>
            <a:r>
              <a:rPr sz="1000" i="1" spc="-50" dirty="0">
                <a:latin typeface="Cambria"/>
                <a:cs typeface="Cambria"/>
              </a:rPr>
              <a:t>w</a:t>
            </a:r>
            <a:endParaRPr sz="1000">
              <a:latin typeface="Cambria"/>
              <a:cs typeface="Cambria"/>
            </a:endParaRPr>
          </a:p>
          <a:p>
            <a:pPr marL="313690" indent="-116205">
              <a:lnSpc>
                <a:spcPts val="1195"/>
              </a:lnSpc>
              <a:buClr>
                <a:srgbClr val="3333B2"/>
              </a:buClr>
              <a:buSzPct val="66666"/>
              <a:buFont typeface="Lucida Sans Unicode"/>
              <a:buChar char="►"/>
              <a:tabLst>
                <a:tab pos="313690" algn="l"/>
              </a:tabLst>
            </a:pPr>
            <a:r>
              <a:rPr sz="900" dirty="0">
                <a:latin typeface="Trebuchet MS"/>
                <a:cs typeface="Trebuchet MS"/>
              </a:rPr>
              <a:t>Semantic</a:t>
            </a:r>
            <a:r>
              <a:rPr sz="900" spc="-2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and</a:t>
            </a:r>
            <a:r>
              <a:rPr sz="900" spc="-20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Syntactic</a:t>
            </a:r>
            <a:r>
              <a:rPr sz="900" spc="-20" dirty="0">
                <a:latin typeface="Trebuchet MS"/>
                <a:cs typeface="Trebuchet MS"/>
              </a:rPr>
              <a:t> features </a:t>
            </a:r>
            <a:r>
              <a:rPr sz="900" spc="-45" dirty="0">
                <a:latin typeface="Trebuchet MS"/>
                <a:cs typeface="Trebuchet MS"/>
              </a:rPr>
              <a:t>of</a:t>
            </a:r>
            <a:r>
              <a:rPr sz="900" spc="-20" dirty="0">
                <a:latin typeface="Trebuchet MS"/>
                <a:cs typeface="Trebuchet MS"/>
              </a:rPr>
              <a:t> </a:t>
            </a:r>
            <a:r>
              <a:rPr sz="1000" i="1" spc="-50" dirty="0">
                <a:latin typeface="Cambria"/>
                <a:cs typeface="Cambria"/>
              </a:rPr>
              <a:t>w</a:t>
            </a:r>
            <a:endParaRPr sz="1000">
              <a:latin typeface="Cambria"/>
              <a:cs typeface="Cambria"/>
            </a:endParaRPr>
          </a:p>
          <a:p>
            <a:pPr marL="313055" marR="30480" indent="-116205">
              <a:lnSpc>
                <a:spcPts val="1200"/>
              </a:lnSpc>
              <a:spcBef>
                <a:spcPts val="40"/>
              </a:spcBef>
              <a:buClr>
                <a:srgbClr val="3333B2"/>
              </a:buClr>
              <a:buSzPct val="66666"/>
              <a:buFont typeface="Lucida Sans Unicode"/>
              <a:buChar char="►"/>
              <a:tabLst>
                <a:tab pos="314960" algn="l"/>
              </a:tabLst>
            </a:pPr>
            <a:r>
              <a:rPr sz="900" spc="-10" dirty="0">
                <a:latin typeface="Trebuchet MS"/>
                <a:cs typeface="Trebuchet MS"/>
              </a:rPr>
              <a:t>Collocation</a:t>
            </a:r>
            <a:r>
              <a:rPr sz="900" spc="-35" dirty="0">
                <a:latin typeface="Trebuchet MS"/>
                <a:cs typeface="Trebuchet MS"/>
              </a:rPr>
              <a:t> </a:t>
            </a:r>
            <a:r>
              <a:rPr sz="900" spc="-30" dirty="0">
                <a:latin typeface="Trebuchet MS"/>
                <a:cs typeface="Trebuchet MS"/>
              </a:rPr>
              <a:t>vector </a:t>
            </a:r>
            <a:r>
              <a:rPr sz="900" spc="-10" dirty="0">
                <a:latin typeface="Trebuchet MS"/>
                <a:cs typeface="Trebuchet MS"/>
              </a:rPr>
              <a:t>(set</a:t>
            </a:r>
            <a:r>
              <a:rPr sz="900" spc="-30" dirty="0">
                <a:latin typeface="Trebuchet MS"/>
                <a:cs typeface="Trebuchet MS"/>
              </a:rPr>
              <a:t> </a:t>
            </a:r>
            <a:r>
              <a:rPr sz="900" spc="-45" dirty="0">
                <a:latin typeface="Trebuchet MS"/>
                <a:cs typeface="Trebuchet MS"/>
              </a:rPr>
              <a:t>of</a:t>
            </a:r>
            <a:r>
              <a:rPr sz="900" spc="-2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words</a:t>
            </a:r>
            <a:r>
              <a:rPr sz="900" spc="-2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around</a:t>
            </a:r>
            <a:r>
              <a:rPr sz="900" spc="-30" dirty="0">
                <a:latin typeface="Trebuchet MS"/>
                <a:cs typeface="Trebuchet MS"/>
              </a:rPr>
              <a:t> </a:t>
            </a:r>
            <a:r>
              <a:rPr sz="900" spc="-75" dirty="0">
                <a:latin typeface="Trebuchet MS"/>
                <a:cs typeface="Trebuchet MS"/>
              </a:rPr>
              <a:t>it)</a:t>
            </a:r>
            <a:r>
              <a:rPr sz="900" spc="-25" dirty="0">
                <a:latin typeface="Trebuchet MS"/>
                <a:cs typeface="Trebuchet MS"/>
              </a:rPr>
              <a:t> </a:t>
            </a:r>
            <a:r>
              <a:rPr sz="1000" dirty="0">
                <a:latin typeface="Lucida Sans Unicode"/>
                <a:cs typeface="Lucida Sans Unicode"/>
              </a:rPr>
              <a:t>→</a:t>
            </a:r>
            <a:r>
              <a:rPr sz="1000" spc="-70" dirty="0">
                <a:latin typeface="Lucida Sans Unicode"/>
                <a:cs typeface="Lucida Sans Unicode"/>
              </a:rPr>
              <a:t> </a:t>
            </a:r>
            <a:r>
              <a:rPr sz="900" spc="-30" dirty="0">
                <a:latin typeface="Trebuchet MS"/>
                <a:cs typeface="Trebuchet MS"/>
              </a:rPr>
              <a:t>next </a:t>
            </a:r>
            <a:r>
              <a:rPr sz="900" spc="-20" dirty="0">
                <a:latin typeface="Trebuchet MS"/>
                <a:cs typeface="Trebuchet MS"/>
              </a:rPr>
              <a:t>word</a:t>
            </a:r>
            <a:r>
              <a:rPr sz="900" spc="-30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(+1),</a:t>
            </a:r>
            <a:r>
              <a:rPr sz="900" spc="-2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+2,</a:t>
            </a:r>
            <a:r>
              <a:rPr sz="900" spc="-30" dirty="0">
                <a:latin typeface="Trebuchet MS"/>
                <a:cs typeface="Trebuchet MS"/>
              </a:rPr>
              <a:t> -</a:t>
            </a:r>
            <a:r>
              <a:rPr sz="900" spc="-20" dirty="0">
                <a:latin typeface="Trebuchet MS"/>
                <a:cs typeface="Trebuchet MS"/>
              </a:rPr>
              <a:t>1,</a:t>
            </a:r>
            <a:r>
              <a:rPr sz="900" spc="-30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-</a:t>
            </a:r>
            <a:r>
              <a:rPr sz="900" dirty="0">
                <a:latin typeface="Trebuchet MS"/>
                <a:cs typeface="Trebuchet MS"/>
              </a:rPr>
              <a:t>2</a:t>
            </a:r>
            <a:r>
              <a:rPr sz="900" spc="-25" dirty="0">
                <a:latin typeface="Trebuchet MS"/>
                <a:cs typeface="Trebuchet MS"/>
              </a:rPr>
              <a:t> and 	</a:t>
            </a:r>
            <a:r>
              <a:rPr sz="900" spc="-50" dirty="0">
                <a:latin typeface="Trebuchet MS"/>
                <a:cs typeface="Trebuchet MS"/>
              </a:rPr>
              <a:t>their</a:t>
            </a:r>
            <a:r>
              <a:rPr sz="900" spc="10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POS’s</a:t>
            </a:r>
            <a:endParaRPr sz="900">
              <a:latin typeface="Trebuchet MS"/>
              <a:cs typeface="Trebuchet MS"/>
            </a:endParaRPr>
          </a:p>
          <a:p>
            <a:pPr marL="313690" indent="-116205">
              <a:lnSpc>
                <a:spcPct val="100000"/>
              </a:lnSpc>
              <a:spcBef>
                <a:spcPts val="50"/>
              </a:spcBef>
              <a:buClr>
                <a:srgbClr val="3333B2"/>
              </a:buClr>
              <a:buSzPct val="66666"/>
              <a:buFont typeface="Lucida Sans Unicode"/>
              <a:buChar char="►"/>
              <a:tabLst>
                <a:tab pos="313690" algn="l"/>
              </a:tabLst>
            </a:pPr>
            <a:r>
              <a:rPr sz="900" dirty="0">
                <a:latin typeface="Trebuchet MS"/>
                <a:cs typeface="Trebuchet MS"/>
              </a:rPr>
              <a:t>Co-occurrence</a:t>
            </a:r>
            <a:r>
              <a:rPr sz="900" spc="-25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vector</a:t>
            </a:r>
            <a:endParaRPr sz="900">
              <a:latin typeface="Trebuchet MS"/>
              <a:cs typeface="Trebuchet MS"/>
            </a:endParaRPr>
          </a:p>
          <a:p>
            <a:pPr marL="38100" marR="276860">
              <a:lnSpc>
                <a:spcPct val="118900"/>
              </a:lnSpc>
              <a:spcBef>
                <a:spcPts val="310"/>
              </a:spcBef>
            </a:pPr>
            <a:r>
              <a:rPr sz="950" dirty="0">
                <a:latin typeface="Trebuchet MS"/>
                <a:cs typeface="Trebuchet MS"/>
              </a:rPr>
              <a:t>Set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parameters</a:t>
            </a:r>
            <a:r>
              <a:rPr sz="950" spc="5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5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Naïve</a:t>
            </a:r>
            <a:r>
              <a:rPr sz="950" spc="50" dirty="0">
                <a:latin typeface="Trebuchet MS"/>
                <a:cs typeface="Trebuchet MS"/>
              </a:rPr>
              <a:t> Bayes</a:t>
            </a:r>
            <a:r>
              <a:rPr sz="950" spc="5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using</a:t>
            </a:r>
            <a:r>
              <a:rPr sz="950" spc="5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maximum</a:t>
            </a:r>
            <a:r>
              <a:rPr sz="950" spc="5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likelihood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estimation </a:t>
            </a:r>
            <a:r>
              <a:rPr sz="950" spc="60" dirty="0">
                <a:latin typeface="Trebuchet MS"/>
                <a:cs typeface="Trebuchet MS"/>
              </a:rPr>
              <a:t>(MLE)</a:t>
            </a:r>
            <a:r>
              <a:rPr sz="950" spc="-2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from</a:t>
            </a:r>
            <a:r>
              <a:rPr sz="950" spc="-20" dirty="0">
                <a:latin typeface="Trebuchet MS"/>
                <a:cs typeface="Trebuchet MS"/>
              </a:rPr>
              <a:t> training data</a:t>
            </a:r>
            <a:endParaRPr sz="950">
              <a:latin typeface="Trebuchet MS"/>
              <a:cs typeface="Trebuchet MS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597" y="1727314"/>
            <a:ext cx="64757" cy="64757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040356" y="2266416"/>
            <a:ext cx="539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50" dirty="0">
                <a:latin typeface="Cambria"/>
                <a:cs typeface="Cambria"/>
              </a:rPr>
              <a:t>i</a:t>
            </a:r>
            <a:endParaRPr sz="80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847938" y="2208301"/>
            <a:ext cx="445134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dirty="0">
                <a:latin typeface="Cambria"/>
                <a:cs typeface="Cambria"/>
              </a:rPr>
              <a:t>P</a:t>
            </a:r>
            <a:r>
              <a:rPr sz="1100" dirty="0">
                <a:latin typeface="Arial MT"/>
                <a:cs typeface="Arial MT"/>
              </a:rPr>
              <a:t>(</a:t>
            </a:r>
            <a:r>
              <a:rPr sz="1100" i="1" dirty="0">
                <a:latin typeface="Cambria"/>
                <a:cs typeface="Cambria"/>
              </a:rPr>
              <a:t>s</a:t>
            </a:r>
            <a:r>
              <a:rPr sz="1100" i="1" spc="80" dirty="0">
                <a:latin typeface="Cambria"/>
                <a:cs typeface="Cambria"/>
              </a:rPr>
              <a:t> </a:t>
            </a:r>
            <a:r>
              <a:rPr sz="1100" spc="55" dirty="0">
                <a:latin typeface="Arial MT"/>
                <a:cs typeface="Arial MT"/>
              </a:rPr>
              <a:t>)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spc="150" dirty="0">
                <a:latin typeface="Arial MT"/>
                <a:cs typeface="Arial MT"/>
              </a:rPr>
              <a:t>=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287816" y="2104059"/>
            <a:ext cx="75946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i="1" u="sng" spc="-1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count</a:t>
            </a:r>
            <a:r>
              <a:rPr sz="1100" u="sng" spc="-1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(</a:t>
            </a:r>
            <a:r>
              <a:rPr sz="1100" i="1" u="sng" spc="-1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s</a:t>
            </a:r>
            <a:r>
              <a:rPr sz="1200" i="1" u="sng" spc="-15" baseline="-10416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i</a:t>
            </a:r>
            <a:r>
              <a:rPr sz="1100" u="sng" spc="-1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,</a:t>
            </a:r>
            <a:r>
              <a:rPr sz="1100" u="sng" spc="-18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1100" i="1" u="sng" spc="-25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w</a:t>
            </a:r>
            <a:r>
              <a:rPr sz="1200" i="1" u="sng" spc="-37" baseline="-10416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j</a:t>
            </a:r>
            <a:r>
              <a:rPr sz="1100" u="sng" spc="-2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)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357005" y="2303767"/>
            <a:ext cx="62166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i="1" spc="-10" dirty="0">
                <a:latin typeface="Cambria"/>
                <a:cs typeface="Cambria"/>
              </a:rPr>
              <a:t>count</a:t>
            </a:r>
            <a:r>
              <a:rPr sz="1100" spc="-10" dirty="0">
                <a:latin typeface="Arial MT"/>
                <a:cs typeface="Arial MT"/>
              </a:rPr>
              <a:t>(</a:t>
            </a:r>
            <a:r>
              <a:rPr sz="1100" i="1" spc="-10" dirty="0">
                <a:latin typeface="Cambria"/>
                <a:cs typeface="Cambria"/>
              </a:rPr>
              <a:t>w</a:t>
            </a:r>
            <a:r>
              <a:rPr sz="1200" i="1" spc="-15" baseline="-10416" dirty="0">
                <a:latin typeface="Cambria"/>
                <a:cs typeface="Cambria"/>
              </a:rPr>
              <a:t>j</a:t>
            </a:r>
            <a:r>
              <a:rPr sz="1100" spc="-10" dirty="0">
                <a:latin typeface="Arial MT"/>
                <a:cs typeface="Arial MT"/>
              </a:rPr>
              <a:t>)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001583" y="2706395"/>
            <a:ext cx="1701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dirty="0">
                <a:latin typeface="Cambria"/>
                <a:cs typeface="Cambria"/>
              </a:rPr>
              <a:t>j</a:t>
            </a:r>
            <a:r>
              <a:rPr sz="800" i="1" spc="170" dirty="0">
                <a:latin typeface="Cambria"/>
                <a:cs typeface="Cambria"/>
              </a:rPr>
              <a:t>  </a:t>
            </a:r>
            <a:r>
              <a:rPr sz="800" i="1" spc="-50" dirty="0">
                <a:latin typeface="Cambria"/>
                <a:cs typeface="Cambria"/>
              </a:rPr>
              <a:t>i</a:t>
            </a:r>
            <a:endParaRPr sz="800">
              <a:latin typeface="Cambria"/>
              <a:cs typeface="Cambr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824545" y="2648293"/>
            <a:ext cx="54546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dirty="0">
                <a:latin typeface="Cambria"/>
                <a:cs typeface="Cambria"/>
              </a:rPr>
              <a:t>P</a:t>
            </a:r>
            <a:r>
              <a:rPr sz="1100" dirty="0">
                <a:latin typeface="Arial MT"/>
                <a:cs typeface="Arial MT"/>
              </a:rPr>
              <a:t>(</a:t>
            </a:r>
            <a:r>
              <a:rPr sz="1100" i="1" dirty="0">
                <a:latin typeface="Cambria"/>
                <a:cs typeface="Cambria"/>
              </a:rPr>
              <a:t>f</a:t>
            </a:r>
            <a:r>
              <a:rPr sz="1100" i="1" spc="60" dirty="0">
                <a:latin typeface="Cambria"/>
                <a:cs typeface="Cambria"/>
              </a:rPr>
              <a:t> </a:t>
            </a:r>
            <a:r>
              <a:rPr sz="1100" spc="-110" dirty="0">
                <a:latin typeface="Lucida Sans Unicode"/>
                <a:cs typeface="Lucida Sans Unicode"/>
              </a:rPr>
              <a:t>|</a:t>
            </a:r>
            <a:r>
              <a:rPr sz="1100" i="1" spc="-110" dirty="0">
                <a:latin typeface="Cambria"/>
                <a:cs typeface="Cambria"/>
              </a:rPr>
              <a:t>s</a:t>
            </a:r>
            <a:r>
              <a:rPr sz="1100" i="1" spc="60" dirty="0">
                <a:latin typeface="Cambria"/>
                <a:cs typeface="Cambria"/>
              </a:rPr>
              <a:t> </a:t>
            </a:r>
            <a:r>
              <a:rPr sz="1100" spc="55" dirty="0">
                <a:latin typeface="Arial MT"/>
                <a:cs typeface="Arial MT"/>
              </a:rPr>
              <a:t>)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150" dirty="0">
                <a:latin typeface="Arial MT"/>
                <a:cs typeface="Arial MT"/>
              </a:rPr>
              <a:t>=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365108" y="2544051"/>
            <a:ext cx="70612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i="1" u="sng" spc="-2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count</a:t>
            </a:r>
            <a:r>
              <a:rPr sz="1100" u="sng" spc="-2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(</a:t>
            </a:r>
            <a:r>
              <a:rPr sz="1100" i="1" u="sng" spc="-2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f</a:t>
            </a:r>
            <a:r>
              <a:rPr sz="1200" i="1" u="sng" spc="-30" baseline="-10416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j</a:t>
            </a:r>
            <a:r>
              <a:rPr sz="1100" u="sng" spc="-2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,</a:t>
            </a:r>
            <a:r>
              <a:rPr sz="1100" u="sng" spc="-114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1100" i="1" u="sng" spc="-25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s</a:t>
            </a:r>
            <a:r>
              <a:rPr sz="1200" i="1" u="sng" spc="-37" baseline="-10416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i</a:t>
            </a:r>
            <a:r>
              <a:rPr sz="1100" u="sng" spc="-2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)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426614" y="2743746"/>
            <a:ext cx="58293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i="1" spc="-10" dirty="0">
                <a:latin typeface="Cambria"/>
                <a:cs typeface="Cambria"/>
              </a:rPr>
              <a:t>count</a:t>
            </a:r>
            <a:r>
              <a:rPr sz="1100" spc="-10" dirty="0">
                <a:latin typeface="Arial MT"/>
                <a:cs typeface="Arial MT"/>
              </a:rPr>
              <a:t>(</a:t>
            </a:r>
            <a:r>
              <a:rPr sz="1100" i="1" spc="-10" dirty="0">
                <a:latin typeface="Cambria"/>
                <a:cs typeface="Cambria"/>
              </a:rPr>
              <a:t>s</a:t>
            </a:r>
            <a:r>
              <a:rPr sz="1200" i="1" spc="-15" baseline="-10416" dirty="0">
                <a:latin typeface="Cambria"/>
                <a:cs typeface="Cambria"/>
              </a:rPr>
              <a:t>i</a:t>
            </a:r>
            <a:r>
              <a:rPr sz="1100" spc="-10" dirty="0">
                <a:latin typeface="Arial MT"/>
                <a:cs typeface="Arial MT"/>
              </a:rPr>
              <a:t>)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20" dirty="0"/>
              <a:t>Pawan</a:t>
            </a:r>
            <a:r>
              <a:rPr spc="15" dirty="0"/>
              <a:t> </a:t>
            </a:r>
            <a:r>
              <a:rPr dirty="0"/>
              <a:t>Goyal</a:t>
            </a:r>
            <a:r>
              <a:rPr spc="170" dirty="0"/>
              <a:t> </a:t>
            </a:r>
            <a:r>
              <a:rPr dirty="0"/>
              <a:t>(IIT</a:t>
            </a:r>
            <a:r>
              <a:rPr spc="15" dirty="0"/>
              <a:t> </a:t>
            </a:r>
            <a:r>
              <a:rPr spc="-10" dirty="0"/>
              <a:t>Kharagpur)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360826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3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317426" y="3339672"/>
            <a:ext cx="236854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12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15</a:t>
            </a:r>
            <a:endParaRPr sz="600">
              <a:latin typeface="Cambria"/>
              <a:cs typeface="Cambria"/>
            </a:endParaRPr>
          </a:p>
        </p:txBody>
      </p:sp>
    </p:spTree>
  </p:cSld>
  <p:clrMapOvr>
    <a:masterClrMapping/>
  </p:clrMapOvr>
  <p:transition>
    <p:cut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7743" y="893356"/>
            <a:ext cx="4432935" cy="82550"/>
          </a:xfrm>
          <a:custGeom>
            <a:avLst/>
            <a:gdLst/>
            <a:ahLst/>
            <a:cxnLst/>
            <a:rect l="l" t="t" r="r" b="b"/>
            <a:pathLst>
              <a:path w="4432935" h="82550">
                <a:moveTo>
                  <a:pt x="4381766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82384"/>
                </a:lnTo>
                <a:lnTo>
                  <a:pt x="4432566" y="82384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4" y="14922"/>
                </a:lnTo>
                <a:lnTo>
                  <a:pt x="4401491" y="4008"/>
                </a:lnTo>
                <a:lnTo>
                  <a:pt x="4381766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87743" y="937768"/>
            <a:ext cx="4483735" cy="382270"/>
            <a:chOff x="87743" y="937768"/>
            <a:chExt cx="4483735" cy="38227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8544" y="1218336"/>
              <a:ext cx="101599" cy="1016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344" y="1205636"/>
              <a:ext cx="4381715" cy="1143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20311" y="943914"/>
              <a:ext cx="50749" cy="274421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87743" y="937768"/>
              <a:ext cx="4432935" cy="331470"/>
            </a:xfrm>
            <a:custGeom>
              <a:avLst/>
              <a:gdLst/>
              <a:ahLst/>
              <a:cxnLst/>
              <a:rect l="l" t="t" r="r" b="b"/>
              <a:pathLst>
                <a:path w="4432935" h="331469">
                  <a:moveTo>
                    <a:pt x="4432566" y="0"/>
                  </a:moveTo>
                  <a:lnTo>
                    <a:pt x="0" y="0"/>
                  </a:lnTo>
                  <a:lnTo>
                    <a:pt x="0" y="280568"/>
                  </a:lnTo>
                  <a:lnTo>
                    <a:pt x="4008" y="300293"/>
                  </a:lnTo>
                  <a:lnTo>
                    <a:pt x="14922" y="316445"/>
                  </a:lnTo>
                  <a:lnTo>
                    <a:pt x="31075" y="327359"/>
                  </a:lnTo>
                  <a:lnTo>
                    <a:pt x="50800" y="331368"/>
                  </a:lnTo>
                  <a:lnTo>
                    <a:pt x="4381766" y="331368"/>
                  </a:lnTo>
                  <a:lnTo>
                    <a:pt x="4401491" y="327359"/>
                  </a:lnTo>
                  <a:lnTo>
                    <a:pt x="4417644" y="316445"/>
                  </a:lnTo>
                  <a:lnTo>
                    <a:pt x="4428558" y="300293"/>
                  </a:lnTo>
                  <a:lnTo>
                    <a:pt x="4432566" y="280568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520309" y="982014"/>
              <a:ext cx="0" cy="255904"/>
            </a:xfrm>
            <a:custGeom>
              <a:avLst/>
              <a:gdLst/>
              <a:ahLst/>
              <a:cxnLst/>
              <a:rect l="l" t="t" r="r" b="b"/>
              <a:pathLst>
                <a:path h="255905">
                  <a:moveTo>
                    <a:pt x="0" y="255371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520309" y="969311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09" y="956611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09" y="943911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123975" y="942136"/>
            <a:ext cx="236029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i="1" spc="-60" dirty="0">
                <a:solidFill>
                  <a:srgbClr val="FFFFFF"/>
                </a:solidFill>
                <a:latin typeface="Cambria"/>
                <a:cs typeface="Cambria"/>
              </a:rPr>
              <a:t>Word</a:t>
            </a:r>
            <a:r>
              <a:rPr sz="1400" i="1" spc="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Sense</a:t>
            </a:r>
            <a:r>
              <a:rPr sz="1400" i="1" spc="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Disambiguation</a:t>
            </a:r>
            <a:r>
              <a:rPr sz="1400" i="1" spc="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-</a:t>
            </a:r>
            <a:r>
              <a:rPr sz="1400" i="1" spc="2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spc="-25" dirty="0">
                <a:solidFill>
                  <a:srgbClr val="FFFFFF"/>
                </a:solidFill>
                <a:latin typeface="Cambria"/>
                <a:cs typeface="Cambria"/>
              </a:rPr>
              <a:t>II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20" dirty="0"/>
              <a:t>Pawan</a:t>
            </a:r>
            <a:r>
              <a:rPr spc="15" dirty="0"/>
              <a:t> </a:t>
            </a:r>
            <a:r>
              <a:rPr dirty="0"/>
              <a:t>Goyal</a:t>
            </a:r>
            <a:r>
              <a:rPr spc="170" dirty="0"/>
              <a:t> </a:t>
            </a:r>
            <a:r>
              <a:rPr dirty="0"/>
              <a:t>(IIT</a:t>
            </a:r>
            <a:r>
              <a:rPr spc="15" dirty="0"/>
              <a:t> </a:t>
            </a:r>
            <a:r>
              <a:rPr spc="-10" dirty="0"/>
              <a:t>Kharagpur)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364622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4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r>
              <a:rPr dirty="0"/>
              <a:t>1</a:t>
            </a:r>
            <a:r>
              <a:rPr spc="-5" dirty="0"/>
              <a:t> </a:t>
            </a:r>
            <a:r>
              <a:rPr spc="-110" dirty="0"/>
              <a:t>/</a:t>
            </a:r>
            <a:r>
              <a:rPr spc="15" dirty="0"/>
              <a:t> </a:t>
            </a:r>
            <a:r>
              <a:rPr spc="-25" dirty="0"/>
              <a:t>14</a:t>
            </a:r>
          </a:p>
        </p:txBody>
      </p:sp>
    </p:spTree>
  </p:cSld>
  <p:clrMapOvr>
    <a:masterClrMapping/>
  </p:clrMapOvr>
  <p:transition>
    <p:cut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Minimally</a:t>
            </a:r>
            <a:r>
              <a:rPr spc="65" dirty="0"/>
              <a:t> </a:t>
            </a:r>
            <a:r>
              <a:rPr dirty="0"/>
              <a:t>Supervised</a:t>
            </a:r>
            <a:r>
              <a:rPr spc="70" dirty="0"/>
              <a:t> </a:t>
            </a:r>
            <a:r>
              <a:rPr dirty="0"/>
              <a:t>WSD</a:t>
            </a:r>
            <a:r>
              <a:rPr spc="70" dirty="0"/>
              <a:t> </a:t>
            </a:r>
            <a:r>
              <a:rPr dirty="0"/>
              <a:t>-</a:t>
            </a:r>
            <a:r>
              <a:rPr spc="70" dirty="0"/>
              <a:t> </a:t>
            </a:r>
            <a:r>
              <a:rPr spc="-30" dirty="0"/>
              <a:t>Yarowsky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597" y="1053249"/>
            <a:ext cx="64757" cy="6475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77532" y="942982"/>
            <a:ext cx="4062729" cy="155448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 marR="2404110">
              <a:lnSpc>
                <a:spcPct val="131100"/>
              </a:lnSpc>
              <a:spcBef>
                <a:spcPts val="90"/>
              </a:spcBef>
            </a:pPr>
            <a:r>
              <a:rPr sz="950" dirty="0">
                <a:latin typeface="Trebuchet MS"/>
                <a:cs typeface="Trebuchet MS"/>
              </a:rPr>
              <a:t>Annotations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are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expensive! </a:t>
            </a:r>
            <a:r>
              <a:rPr sz="950" spc="-20" dirty="0">
                <a:latin typeface="Trebuchet MS"/>
                <a:cs typeface="Trebuchet MS"/>
              </a:rPr>
              <a:t>“Bootstrapping”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or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spc="-35" dirty="0">
                <a:latin typeface="Trebuchet MS"/>
                <a:cs typeface="Trebuchet MS"/>
              </a:rPr>
              <a:t>co-</a:t>
            </a:r>
            <a:r>
              <a:rPr sz="950" spc="-10" dirty="0">
                <a:latin typeface="Trebuchet MS"/>
                <a:cs typeface="Trebuchet MS"/>
              </a:rPr>
              <a:t>training</a:t>
            </a:r>
            <a:endParaRPr sz="950">
              <a:latin typeface="Trebuchet MS"/>
              <a:cs typeface="Trebuchet MS"/>
            </a:endParaRPr>
          </a:p>
          <a:p>
            <a:pPr marL="313690" indent="-116205">
              <a:lnSpc>
                <a:spcPct val="100000"/>
              </a:lnSpc>
              <a:spcBef>
                <a:spcPts val="305"/>
              </a:spcBef>
              <a:buClr>
                <a:srgbClr val="3333B2"/>
              </a:buClr>
              <a:buSzPct val="66666"/>
              <a:buFont typeface="Lucida Sans Unicode"/>
              <a:buChar char="►"/>
              <a:tabLst>
                <a:tab pos="313690" algn="l"/>
              </a:tabLst>
            </a:pPr>
            <a:r>
              <a:rPr sz="900" spc="-10" dirty="0">
                <a:latin typeface="Trebuchet MS"/>
                <a:cs typeface="Trebuchet MS"/>
              </a:rPr>
              <a:t>Start</a:t>
            </a:r>
            <a:r>
              <a:rPr sz="900" spc="-40" dirty="0">
                <a:latin typeface="Trebuchet MS"/>
                <a:cs typeface="Trebuchet MS"/>
              </a:rPr>
              <a:t> </a:t>
            </a:r>
            <a:r>
              <a:rPr sz="900" spc="-55" dirty="0">
                <a:latin typeface="Trebuchet MS"/>
                <a:cs typeface="Trebuchet MS"/>
              </a:rPr>
              <a:t>with</a:t>
            </a:r>
            <a:r>
              <a:rPr sz="900" spc="-25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(small)</a:t>
            </a:r>
            <a:r>
              <a:rPr sz="900" spc="-30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seed,</a:t>
            </a:r>
            <a:r>
              <a:rPr sz="900" spc="-30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learn</a:t>
            </a:r>
            <a:r>
              <a:rPr sz="900" spc="-30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decision</a:t>
            </a:r>
            <a:r>
              <a:rPr sz="900" spc="-30" dirty="0">
                <a:latin typeface="Trebuchet MS"/>
                <a:cs typeface="Trebuchet MS"/>
              </a:rPr>
              <a:t> </a:t>
            </a:r>
            <a:r>
              <a:rPr sz="900" spc="-20" dirty="0">
                <a:latin typeface="Trebuchet MS"/>
                <a:cs typeface="Trebuchet MS"/>
              </a:rPr>
              <a:t>list</a:t>
            </a:r>
            <a:endParaRPr sz="900">
              <a:latin typeface="Trebuchet MS"/>
              <a:cs typeface="Trebuchet MS"/>
            </a:endParaRPr>
          </a:p>
          <a:p>
            <a:pPr marL="313690" indent="-116205">
              <a:lnSpc>
                <a:spcPct val="100000"/>
              </a:lnSpc>
              <a:spcBef>
                <a:spcPts val="114"/>
              </a:spcBef>
              <a:buClr>
                <a:srgbClr val="3333B2"/>
              </a:buClr>
              <a:buSzPct val="66666"/>
              <a:buFont typeface="Lucida Sans Unicode"/>
              <a:buChar char="►"/>
              <a:tabLst>
                <a:tab pos="313690" algn="l"/>
              </a:tabLst>
            </a:pPr>
            <a:r>
              <a:rPr sz="900" dirty="0">
                <a:latin typeface="Trebuchet MS"/>
                <a:cs typeface="Trebuchet MS"/>
              </a:rPr>
              <a:t>Use</a:t>
            </a:r>
            <a:r>
              <a:rPr sz="900" spc="-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decision </a:t>
            </a:r>
            <a:r>
              <a:rPr sz="900" spc="-45" dirty="0">
                <a:latin typeface="Trebuchet MS"/>
                <a:cs typeface="Trebuchet MS"/>
              </a:rPr>
              <a:t>list</a:t>
            </a:r>
            <a:r>
              <a:rPr sz="900" spc="-5" dirty="0">
                <a:latin typeface="Trebuchet MS"/>
                <a:cs typeface="Trebuchet MS"/>
              </a:rPr>
              <a:t> </a:t>
            </a:r>
            <a:r>
              <a:rPr sz="900" spc="-65" dirty="0">
                <a:latin typeface="Trebuchet MS"/>
                <a:cs typeface="Trebuchet MS"/>
              </a:rPr>
              <a:t>to</a:t>
            </a:r>
            <a:r>
              <a:rPr sz="900" dirty="0">
                <a:latin typeface="Trebuchet MS"/>
                <a:cs typeface="Trebuchet MS"/>
              </a:rPr>
              <a:t> </a:t>
            </a:r>
            <a:r>
              <a:rPr sz="900" spc="-20" dirty="0">
                <a:latin typeface="Trebuchet MS"/>
                <a:cs typeface="Trebuchet MS"/>
              </a:rPr>
              <a:t>label</a:t>
            </a:r>
            <a:r>
              <a:rPr sz="900" spc="-5" dirty="0">
                <a:latin typeface="Trebuchet MS"/>
                <a:cs typeface="Trebuchet MS"/>
              </a:rPr>
              <a:t> </a:t>
            </a:r>
            <a:r>
              <a:rPr sz="900" spc="-20" dirty="0">
                <a:latin typeface="Trebuchet MS"/>
                <a:cs typeface="Trebuchet MS"/>
              </a:rPr>
              <a:t>rest</a:t>
            </a:r>
            <a:r>
              <a:rPr sz="900" dirty="0">
                <a:latin typeface="Trebuchet MS"/>
                <a:cs typeface="Trebuchet MS"/>
              </a:rPr>
              <a:t> </a:t>
            </a:r>
            <a:r>
              <a:rPr sz="900" spc="-45" dirty="0">
                <a:latin typeface="Trebuchet MS"/>
                <a:cs typeface="Trebuchet MS"/>
              </a:rPr>
              <a:t>of</a:t>
            </a:r>
            <a:r>
              <a:rPr sz="900" spc="-5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corpus</a:t>
            </a:r>
            <a:endParaRPr sz="900">
              <a:latin typeface="Trebuchet MS"/>
              <a:cs typeface="Trebuchet MS"/>
            </a:endParaRPr>
          </a:p>
          <a:p>
            <a:pPr marL="313690" indent="-116205">
              <a:lnSpc>
                <a:spcPct val="100000"/>
              </a:lnSpc>
              <a:spcBef>
                <a:spcPts val="120"/>
              </a:spcBef>
              <a:buClr>
                <a:srgbClr val="3333B2"/>
              </a:buClr>
              <a:buSzPct val="66666"/>
              <a:buFont typeface="Lucida Sans Unicode"/>
              <a:buChar char="►"/>
              <a:tabLst>
                <a:tab pos="313690" algn="l"/>
              </a:tabLst>
            </a:pPr>
            <a:r>
              <a:rPr sz="900" dirty="0">
                <a:latin typeface="Trebuchet MS"/>
                <a:cs typeface="Trebuchet MS"/>
              </a:rPr>
              <a:t>Retain</a:t>
            </a:r>
            <a:r>
              <a:rPr sz="900" spc="-35" dirty="0">
                <a:latin typeface="Trebuchet MS"/>
                <a:cs typeface="Trebuchet MS"/>
              </a:rPr>
              <a:t> </a:t>
            </a:r>
            <a:r>
              <a:rPr sz="900" spc="-50" dirty="0">
                <a:latin typeface="Trebuchet MS"/>
                <a:cs typeface="Trebuchet MS"/>
              </a:rPr>
              <a:t>‘confident’</a:t>
            </a:r>
            <a:r>
              <a:rPr sz="900" spc="-25" dirty="0">
                <a:latin typeface="Trebuchet MS"/>
                <a:cs typeface="Trebuchet MS"/>
              </a:rPr>
              <a:t> </a:t>
            </a:r>
            <a:r>
              <a:rPr sz="900" spc="-20" dirty="0">
                <a:latin typeface="Trebuchet MS"/>
                <a:cs typeface="Trebuchet MS"/>
              </a:rPr>
              <a:t>labels,</a:t>
            </a:r>
            <a:r>
              <a:rPr sz="900" spc="-25" dirty="0">
                <a:latin typeface="Trebuchet MS"/>
                <a:cs typeface="Trebuchet MS"/>
              </a:rPr>
              <a:t> </a:t>
            </a:r>
            <a:r>
              <a:rPr sz="900" spc="-50" dirty="0">
                <a:latin typeface="Trebuchet MS"/>
                <a:cs typeface="Trebuchet MS"/>
              </a:rPr>
              <a:t>treat</a:t>
            </a:r>
            <a:r>
              <a:rPr sz="900" spc="-25" dirty="0">
                <a:latin typeface="Trebuchet MS"/>
                <a:cs typeface="Trebuchet MS"/>
              </a:rPr>
              <a:t> </a:t>
            </a:r>
            <a:r>
              <a:rPr sz="900" spc="50" dirty="0">
                <a:latin typeface="Trebuchet MS"/>
                <a:cs typeface="Trebuchet MS"/>
              </a:rPr>
              <a:t>as</a:t>
            </a:r>
            <a:r>
              <a:rPr sz="900" spc="-25" dirty="0">
                <a:latin typeface="Trebuchet MS"/>
                <a:cs typeface="Trebuchet MS"/>
              </a:rPr>
              <a:t> </a:t>
            </a:r>
            <a:r>
              <a:rPr sz="900" spc="-20" dirty="0">
                <a:latin typeface="Trebuchet MS"/>
                <a:cs typeface="Trebuchet MS"/>
              </a:rPr>
              <a:t>annotated</a:t>
            </a:r>
            <a:r>
              <a:rPr sz="900" spc="-25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data</a:t>
            </a:r>
            <a:r>
              <a:rPr sz="900" spc="-30" dirty="0">
                <a:latin typeface="Trebuchet MS"/>
                <a:cs typeface="Trebuchet MS"/>
              </a:rPr>
              <a:t> </a:t>
            </a:r>
            <a:r>
              <a:rPr sz="900" spc="-65" dirty="0">
                <a:latin typeface="Trebuchet MS"/>
                <a:cs typeface="Trebuchet MS"/>
              </a:rPr>
              <a:t>to</a:t>
            </a:r>
            <a:r>
              <a:rPr sz="900" spc="-25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learn</a:t>
            </a:r>
            <a:r>
              <a:rPr sz="900" spc="-2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new</a:t>
            </a:r>
            <a:r>
              <a:rPr sz="900" spc="-2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decision</a:t>
            </a:r>
            <a:r>
              <a:rPr sz="900" spc="-25" dirty="0">
                <a:latin typeface="Trebuchet MS"/>
                <a:cs typeface="Trebuchet MS"/>
              </a:rPr>
              <a:t> </a:t>
            </a:r>
            <a:r>
              <a:rPr sz="900" spc="-20" dirty="0">
                <a:latin typeface="Trebuchet MS"/>
                <a:cs typeface="Trebuchet MS"/>
              </a:rPr>
              <a:t>list</a:t>
            </a:r>
            <a:endParaRPr sz="900">
              <a:latin typeface="Trebuchet MS"/>
              <a:cs typeface="Trebuchet MS"/>
            </a:endParaRPr>
          </a:p>
          <a:p>
            <a:pPr marL="313690" indent="-116205">
              <a:lnSpc>
                <a:spcPct val="100000"/>
              </a:lnSpc>
              <a:spcBef>
                <a:spcPts val="15"/>
              </a:spcBef>
              <a:buClr>
                <a:srgbClr val="3333B2"/>
              </a:buClr>
              <a:buSzPct val="66666"/>
              <a:buFont typeface="Lucida Sans Unicode"/>
              <a:buChar char="►"/>
              <a:tabLst>
                <a:tab pos="313690" algn="l"/>
              </a:tabLst>
            </a:pPr>
            <a:r>
              <a:rPr sz="900" dirty="0">
                <a:latin typeface="Trebuchet MS"/>
                <a:cs typeface="Trebuchet MS"/>
              </a:rPr>
              <a:t>Repeat </a:t>
            </a:r>
            <a:r>
              <a:rPr sz="1000" spc="-75" dirty="0">
                <a:latin typeface="Lucida Sans Unicode"/>
                <a:cs typeface="Lucida Sans Unicode"/>
              </a:rPr>
              <a:t>.</a:t>
            </a:r>
            <a:r>
              <a:rPr sz="1000" spc="-200" dirty="0">
                <a:latin typeface="Lucida Sans Unicode"/>
                <a:cs typeface="Lucida Sans Unicode"/>
              </a:rPr>
              <a:t> </a:t>
            </a:r>
            <a:r>
              <a:rPr sz="1000" spc="-75" dirty="0">
                <a:latin typeface="Lucida Sans Unicode"/>
                <a:cs typeface="Lucida Sans Unicode"/>
              </a:rPr>
              <a:t>.</a:t>
            </a:r>
            <a:r>
              <a:rPr sz="1000" spc="-200" dirty="0">
                <a:latin typeface="Lucida Sans Unicode"/>
                <a:cs typeface="Lucida Sans Unicode"/>
              </a:rPr>
              <a:t> </a:t>
            </a:r>
            <a:r>
              <a:rPr sz="1000" spc="-50" dirty="0">
                <a:latin typeface="Lucida Sans Unicode"/>
                <a:cs typeface="Lucida Sans Unicode"/>
              </a:rPr>
              <a:t>.</a:t>
            </a:r>
            <a:endParaRPr sz="1000">
              <a:latin typeface="Lucida Sans Unicode"/>
              <a:cs typeface="Lucida Sans Unicode"/>
            </a:endParaRPr>
          </a:p>
          <a:p>
            <a:pPr marL="38100">
              <a:lnSpc>
                <a:spcPct val="100000"/>
              </a:lnSpc>
              <a:spcBef>
                <a:spcPts val="345"/>
              </a:spcBef>
            </a:pPr>
            <a:r>
              <a:rPr sz="950" dirty="0">
                <a:latin typeface="Trebuchet MS"/>
                <a:cs typeface="Trebuchet MS"/>
              </a:rPr>
              <a:t>Heuristics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(derived </a:t>
            </a:r>
            <a:r>
              <a:rPr sz="950" spc="-10" dirty="0">
                <a:latin typeface="Trebuchet MS"/>
                <a:cs typeface="Trebuchet MS"/>
              </a:rPr>
              <a:t>from</a:t>
            </a:r>
            <a:r>
              <a:rPr sz="95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observation):</a:t>
            </a:r>
            <a:endParaRPr sz="950">
              <a:latin typeface="Trebuchet MS"/>
              <a:cs typeface="Trebuchet MS"/>
            </a:endParaRPr>
          </a:p>
          <a:p>
            <a:pPr marL="313690" indent="-116205">
              <a:lnSpc>
                <a:spcPct val="100000"/>
              </a:lnSpc>
              <a:spcBef>
                <a:spcPts val="305"/>
              </a:spcBef>
              <a:buClr>
                <a:srgbClr val="3333B2"/>
              </a:buClr>
              <a:buSzPct val="66666"/>
              <a:buFont typeface="Lucida Sans Unicode"/>
              <a:buChar char="►"/>
              <a:tabLst>
                <a:tab pos="313690" algn="l"/>
              </a:tabLst>
            </a:pPr>
            <a:r>
              <a:rPr sz="900" dirty="0">
                <a:latin typeface="Trebuchet MS"/>
                <a:cs typeface="Trebuchet MS"/>
              </a:rPr>
              <a:t>One</a:t>
            </a:r>
            <a:r>
              <a:rPr sz="900" spc="60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sense</a:t>
            </a:r>
            <a:r>
              <a:rPr sz="900" spc="65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per</a:t>
            </a:r>
            <a:r>
              <a:rPr sz="900" spc="65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discourse</a:t>
            </a:r>
            <a:endParaRPr sz="900">
              <a:latin typeface="Trebuchet MS"/>
              <a:cs typeface="Trebuchet MS"/>
            </a:endParaRPr>
          </a:p>
          <a:p>
            <a:pPr marL="313690" indent="-116205">
              <a:lnSpc>
                <a:spcPct val="100000"/>
              </a:lnSpc>
              <a:spcBef>
                <a:spcPts val="115"/>
              </a:spcBef>
              <a:buClr>
                <a:srgbClr val="3333B2"/>
              </a:buClr>
              <a:buSzPct val="66666"/>
              <a:buFont typeface="Lucida Sans Unicode"/>
              <a:buChar char="►"/>
              <a:tabLst>
                <a:tab pos="313690" algn="l"/>
              </a:tabLst>
            </a:pPr>
            <a:r>
              <a:rPr sz="900" dirty="0">
                <a:latin typeface="Trebuchet MS"/>
                <a:cs typeface="Trebuchet MS"/>
              </a:rPr>
              <a:t>One</a:t>
            </a:r>
            <a:r>
              <a:rPr sz="900" spc="60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sense</a:t>
            </a:r>
            <a:r>
              <a:rPr sz="900" spc="65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per</a:t>
            </a:r>
            <a:r>
              <a:rPr sz="900" spc="65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collocation</a:t>
            </a:r>
            <a:endParaRPr sz="900">
              <a:latin typeface="Trebuchet MS"/>
              <a:cs typeface="Trebuchet MS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597" y="1243037"/>
            <a:ext cx="64757" cy="6475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597" y="2065451"/>
            <a:ext cx="64757" cy="64757"/>
          </a:xfrm>
          <a:prstGeom prst="rect">
            <a:avLst/>
          </a:prstGeom>
        </p:spPr>
      </p:pic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20" dirty="0"/>
              <a:t>Pawan</a:t>
            </a:r>
            <a:r>
              <a:rPr spc="15" dirty="0"/>
              <a:t> </a:t>
            </a:r>
            <a:r>
              <a:rPr dirty="0"/>
              <a:t>Goyal</a:t>
            </a:r>
            <a:r>
              <a:rPr spc="170" dirty="0"/>
              <a:t> </a:t>
            </a:r>
            <a:r>
              <a:rPr dirty="0"/>
              <a:t>(IIT</a:t>
            </a:r>
            <a:r>
              <a:rPr spc="15" dirty="0"/>
              <a:t> </a:t>
            </a:r>
            <a:r>
              <a:rPr spc="-10" dirty="0"/>
              <a:t>Kharagpur)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364622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4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355386" y="3339672"/>
            <a:ext cx="1987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2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14</a:t>
            </a:r>
            <a:endParaRPr sz="600">
              <a:latin typeface="Cambria"/>
              <a:cs typeface="Cambria"/>
            </a:endParaRPr>
          </a:p>
        </p:txBody>
      </p:sp>
    </p:spTree>
  </p:cSld>
  <p:clrMapOvr>
    <a:masterClrMapping/>
  </p:clrMapOvr>
  <p:transition>
    <p:cut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More</a:t>
            </a:r>
            <a:r>
              <a:rPr spc="5" dirty="0"/>
              <a:t> </a:t>
            </a:r>
            <a:r>
              <a:rPr spc="-20" dirty="0"/>
              <a:t>about</a:t>
            </a:r>
            <a:r>
              <a:rPr spc="10" dirty="0"/>
              <a:t> </a:t>
            </a:r>
            <a:r>
              <a:rPr spc="-10" dirty="0"/>
              <a:t>heuristics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1025677"/>
            <a:ext cx="4483735" cy="600710"/>
            <a:chOff x="87743" y="1025677"/>
            <a:chExt cx="4483735" cy="600710"/>
          </a:xfrm>
        </p:grpSpPr>
        <p:sp>
          <p:nvSpPr>
            <p:cNvPr id="4" name="object 4"/>
            <p:cNvSpPr/>
            <p:nvPr/>
          </p:nvSpPr>
          <p:spPr>
            <a:xfrm>
              <a:off x="87743" y="1025677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6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66" y="185674"/>
                  </a:lnTo>
                  <a:lnTo>
                    <a:pt x="4432566" y="50800"/>
                  </a:lnTo>
                  <a:lnTo>
                    <a:pt x="4428558" y="31075"/>
                  </a:lnTo>
                  <a:lnTo>
                    <a:pt x="4417644" y="14922"/>
                  </a:lnTo>
                  <a:lnTo>
                    <a:pt x="4401491" y="4008"/>
                  </a:lnTo>
                  <a:lnTo>
                    <a:pt x="4381766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1198702"/>
              <a:ext cx="4432566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1524266"/>
              <a:ext cx="101599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1511566"/>
              <a:ext cx="4381715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311" y="1069911"/>
              <a:ext cx="50749" cy="454355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1242987"/>
              <a:ext cx="4432935" cy="332105"/>
            </a:xfrm>
            <a:custGeom>
              <a:avLst/>
              <a:gdLst/>
              <a:ahLst/>
              <a:cxnLst/>
              <a:rect l="l" t="t" r="r" b="b"/>
              <a:pathLst>
                <a:path w="4432935" h="332105">
                  <a:moveTo>
                    <a:pt x="4432566" y="0"/>
                  </a:moveTo>
                  <a:lnTo>
                    <a:pt x="0" y="0"/>
                  </a:lnTo>
                  <a:lnTo>
                    <a:pt x="0" y="281279"/>
                  </a:lnTo>
                  <a:lnTo>
                    <a:pt x="4008" y="301004"/>
                  </a:lnTo>
                  <a:lnTo>
                    <a:pt x="14922" y="317157"/>
                  </a:lnTo>
                  <a:lnTo>
                    <a:pt x="31075" y="328071"/>
                  </a:lnTo>
                  <a:lnTo>
                    <a:pt x="50800" y="332079"/>
                  </a:lnTo>
                  <a:lnTo>
                    <a:pt x="4381766" y="332079"/>
                  </a:lnTo>
                  <a:lnTo>
                    <a:pt x="4401491" y="328071"/>
                  </a:lnTo>
                  <a:lnTo>
                    <a:pt x="4417644" y="317157"/>
                  </a:lnTo>
                  <a:lnTo>
                    <a:pt x="4428558" y="301004"/>
                  </a:lnTo>
                  <a:lnTo>
                    <a:pt x="4432566" y="281279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09" y="1108011"/>
              <a:ext cx="0" cy="435609"/>
            </a:xfrm>
            <a:custGeom>
              <a:avLst/>
              <a:gdLst/>
              <a:ahLst/>
              <a:cxnLst/>
              <a:rect l="l" t="t" r="r" b="b"/>
              <a:pathLst>
                <a:path h="435609">
                  <a:moveTo>
                    <a:pt x="0" y="435305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09" y="109531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09" y="108261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09" y="106991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1597" y="1289837"/>
              <a:ext cx="64757" cy="64757"/>
            </a:xfrm>
            <a:prstGeom prst="rect">
              <a:avLst/>
            </a:prstGeom>
          </p:spPr>
        </p:pic>
      </p:grpSp>
      <p:grpSp>
        <p:nvGrpSpPr>
          <p:cNvPr id="15" name="object 15"/>
          <p:cNvGrpSpPr/>
          <p:nvPr/>
        </p:nvGrpSpPr>
        <p:grpSpPr>
          <a:xfrm>
            <a:off x="87743" y="1726984"/>
            <a:ext cx="4483735" cy="757555"/>
            <a:chOff x="87743" y="1726984"/>
            <a:chExt cx="4483735" cy="757555"/>
          </a:xfrm>
        </p:grpSpPr>
        <p:sp>
          <p:nvSpPr>
            <p:cNvPr id="16" name="object 16"/>
            <p:cNvSpPr/>
            <p:nvPr/>
          </p:nvSpPr>
          <p:spPr>
            <a:xfrm>
              <a:off x="87743" y="1726984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6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66" y="185674"/>
                  </a:lnTo>
                  <a:lnTo>
                    <a:pt x="4432566" y="50800"/>
                  </a:lnTo>
                  <a:lnTo>
                    <a:pt x="4428558" y="31075"/>
                  </a:lnTo>
                  <a:lnTo>
                    <a:pt x="4417644" y="14922"/>
                  </a:lnTo>
                  <a:lnTo>
                    <a:pt x="4401491" y="4008"/>
                  </a:lnTo>
                  <a:lnTo>
                    <a:pt x="4381766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1900008"/>
              <a:ext cx="4432566" cy="50609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38544" y="2382329"/>
              <a:ext cx="101599" cy="10160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89344" y="2369629"/>
              <a:ext cx="4381715" cy="11430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520311" y="1771218"/>
              <a:ext cx="50749" cy="611111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87743" y="1944281"/>
              <a:ext cx="4432935" cy="488950"/>
            </a:xfrm>
            <a:custGeom>
              <a:avLst/>
              <a:gdLst/>
              <a:ahLst/>
              <a:cxnLst/>
              <a:rect l="l" t="t" r="r" b="b"/>
              <a:pathLst>
                <a:path w="4432935" h="488950">
                  <a:moveTo>
                    <a:pt x="4432566" y="0"/>
                  </a:moveTo>
                  <a:lnTo>
                    <a:pt x="0" y="0"/>
                  </a:lnTo>
                  <a:lnTo>
                    <a:pt x="0" y="438048"/>
                  </a:lnTo>
                  <a:lnTo>
                    <a:pt x="4008" y="457773"/>
                  </a:lnTo>
                  <a:lnTo>
                    <a:pt x="14922" y="473925"/>
                  </a:lnTo>
                  <a:lnTo>
                    <a:pt x="31075" y="484839"/>
                  </a:lnTo>
                  <a:lnTo>
                    <a:pt x="50800" y="488848"/>
                  </a:lnTo>
                  <a:lnTo>
                    <a:pt x="4381766" y="488848"/>
                  </a:lnTo>
                  <a:lnTo>
                    <a:pt x="4401491" y="484839"/>
                  </a:lnTo>
                  <a:lnTo>
                    <a:pt x="4417644" y="473925"/>
                  </a:lnTo>
                  <a:lnTo>
                    <a:pt x="4428558" y="457773"/>
                  </a:lnTo>
                  <a:lnTo>
                    <a:pt x="4432566" y="438048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520309" y="1809305"/>
              <a:ext cx="0" cy="592455"/>
            </a:xfrm>
            <a:custGeom>
              <a:avLst/>
              <a:gdLst/>
              <a:ahLst/>
              <a:cxnLst/>
              <a:rect l="l" t="t" r="r" b="b"/>
              <a:pathLst>
                <a:path h="592455">
                  <a:moveTo>
                    <a:pt x="0" y="592074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520309" y="179661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520309" y="178391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520309" y="177121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81597" y="1991144"/>
              <a:ext cx="64757" cy="64757"/>
            </a:xfrm>
            <a:prstGeom prst="rect">
              <a:avLst/>
            </a:prstGeom>
          </p:spPr>
        </p:pic>
      </p:grpSp>
      <p:sp>
        <p:nvSpPr>
          <p:cNvPr id="27" name="object 27"/>
          <p:cNvSpPr txBox="1"/>
          <p:nvPr/>
        </p:nvSpPr>
        <p:spPr>
          <a:xfrm>
            <a:off x="113144" y="954219"/>
            <a:ext cx="4382135" cy="1468755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00"/>
              </a:spcBef>
            </a:pPr>
            <a:r>
              <a:rPr sz="1100" i="1" dirty="0">
                <a:solidFill>
                  <a:srgbClr val="3333B2"/>
                </a:solidFill>
                <a:latin typeface="Cambria"/>
                <a:cs typeface="Cambria"/>
              </a:rPr>
              <a:t>One</a:t>
            </a:r>
            <a:r>
              <a:rPr sz="1100" i="1" spc="-10" dirty="0">
                <a:solidFill>
                  <a:srgbClr val="3333B2"/>
                </a:solidFill>
                <a:latin typeface="Cambria"/>
                <a:cs typeface="Cambria"/>
              </a:rPr>
              <a:t> </a:t>
            </a:r>
            <a:r>
              <a:rPr sz="1100" i="1" dirty="0">
                <a:solidFill>
                  <a:srgbClr val="3333B2"/>
                </a:solidFill>
                <a:latin typeface="Cambria"/>
                <a:cs typeface="Cambria"/>
              </a:rPr>
              <a:t>Sense</a:t>
            </a:r>
            <a:r>
              <a:rPr sz="1100" i="1" spc="-10" dirty="0">
                <a:solidFill>
                  <a:srgbClr val="3333B2"/>
                </a:solidFill>
                <a:latin typeface="Cambria"/>
                <a:cs typeface="Cambria"/>
              </a:rPr>
              <a:t> </a:t>
            </a:r>
            <a:r>
              <a:rPr sz="1100" i="1" dirty="0">
                <a:solidFill>
                  <a:srgbClr val="3333B2"/>
                </a:solidFill>
                <a:latin typeface="Cambria"/>
                <a:cs typeface="Cambria"/>
              </a:rPr>
              <a:t>per</a:t>
            </a:r>
            <a:r>
              <a:rPr sz="1100" i="1" spc="-10" dirty="0">
                <a:solidFill>
                  <a:srgbClr val="3333B2"/>
                </a:solidFill>
                <a:latin typeface="Cambria"/>
                <a:cs typeface="Cambria"/>
              </a:rPr>
              <a:t> Discourse</a:t>
            </a:r>
            <a:endParaRPr sz="1100">
              <a:latin typeface="Cambria"/>
              <a:cs typeface="Cambria"/>
            </a:endParaRPr>
          </a:p>
          <a:p>
            <a:pPr marL="302260" marR="17780">
              <a:lnSpc>
                <a:spcPct val="118900"/>
              </a:lnSpc>
              <a:spcBef>
                <a:spcPts val="185"/>
              </a:spcBef>
            </a:pPr>
            <a:r>
              <a:rPr sz="950" spc="90" dirty="0">
                <a:latin typeface="Trebuchet MS"/>
                <a:cs typeface="Trebuchet MS"/>
              </a:rPr>
              <a:t>A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word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tends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to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preserve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its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meaning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across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all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its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occurrences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in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given discourse</a:t>
            </a:r>
            <a:endParaRPr sz="9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04"/>
              </a:spcBef>
            </a:pPr>
            <a:endParaRPr sz="950">
              <a:latin typeface="Trebuchet MS"/>
              <a:cs typeface="Trebuchet MS"/>
            </a:endParaRPr>
          </a:p>
          <a:p>
            <a:pPr marL="25400">
              <a:lnSpc>
                <a:spcPct val="100000"/>
              </a:lnSpc>
            </a:pPr>
            <a:r>
              <a:rPr sz="1100" i="1" dirty="0">
                <a:solidFill>
                  <a:srgbClr val="3333B2"/>
                </a:solidFill>
                <a:latin typeface="Cambria"/>
                <a:cs typeface="Cambria"/>
              </a:rPr>
              <a:t>One</a:t>
            </a:r>
            <a:r>
              <a:rPr sz="1100" i="1" spc="-10" dirty="0">
                <a:solidFill>
                  <a:srgbClr val="3333B2"/>
                </a:solidFill>
                <a:latin typeface="Cambria"/>
                <a:cs typeface="Cambria"/>
              </a:rPr>
              <a:t> </a:t>
            </a:r>
            <a:r>
              <a:rPr sz="1100" i="1" dirty="0">
                <a:solidFill>
                  <a:srgbClr val="3333B2"/>
                </a:solidFill>
                <a:latin typeface="Cambria"/>
                <a:cs typeface="Cambria"/>
              </a:rPr>
              <a:t>Sense</a:t>
            </a:r>
            <a:r>
              <a:rPr sz="1100" i="1" spc="-10" dirty="0">
                <a:solidFill>
                  <a:srgbClr val="3333B2"/>
                </a:solidFill>
                <a:latin typeface="Cambria"/>
                <a:cs typeface="Cambria"/>
              </a:rPr>
              <a:t> </a:t>
            </a:r>
            <a:r>
              <a:rPr sz="1100" i="1" dirty="0">
                <a:solidFill>
                  <a:srgbClr val="3333B2"/>
                </a:solidFill>
                <a:latin typeface="Cambria"/>
                <a:cs typeface="Cambria"/>
              </a:rPr>
              <a:t>per</a:t>
            </a:r>
            <a:r>
              <a:rPr sz="1100" i="1" spc="-10" dirty="0">
                <a:solidFill>
                  <a:srgbClr val="3333B2"/>
                </a:solidFill>
                <a:latin typeface="Cambria"/>
                <a:cs typeface="Cambria"/>
              </a:rPr>
              <a:t> Collocation</a:t>
            </a:r>
            <a:endParaRPr sz="1100">
              <a:latin typeface="Cambria"/>
              <a:cs typeface="Cambria"/>
            </a:endParaRPr>
          </a:p>
          <a:p>
            <a:pPr marL="302260">
              <a:lnSpc>
                <a:spcPct val="100000"/>
              </a:lnSpc>
              <a:spcBef>
                <a:spcPts val="400"/>
              </a:spcBef>
            </a:pPr>
            <a:r>
              <a:rPr sz="950" spc="90" dirty="0">
                <a:latin typeface="Trebuchet MS"/>
                <a:cs typeface="Trebuchet MS"/>
              </a:rPr>
              <a:t>A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word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tends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to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preserve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its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meaning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when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used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in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same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collocation</a:t>
            </a:r>
            <a:endParaRPr sz="950">
              <a:latin typeface="Trebuchet MS"/>
              <a:cs typeface="Trebuchet MS"/>
            </a:endParaRPr>
          </a:p>
          <a:p>
            <a:pPr marL="577850" indent="-116205">
              <a:lnSpc>
                <a:spcPct val="100000"/>
              </a:lnSpc>
              <a:spcBef>
                <a:spcPts val="305"/>
              </a:spcBef>
              <a:buClr>
                <a:srgbClr val="D6D6EF"/>
              </a:buClr>
              <a:buSzPct val="66666"/>
              <a:buFont typeface="Lucida Sans Unicode"/>
              <a:buChar char="►"/>
              <a:tabLst>
                <a:tab pos="577850" algn="l"/>
              </a:tabLst>
            </a:pPr>
            <a:r>
              <a:rPr sz="900" dirty="0">
                <a:latin typeface="Trebuchet MS"/>
                <a:cs typeface="Trebuchet MS"/>
              </a:rPr>
              <a:t>Strong</a:t>
            </a:r>
            <a:r>
              <a:rPr sz="900" spc="5" dirty="0">
                <a:latin typeface="Trebuchet MS"/>
                <a:cs typeface="Trebuchet MS"/>
              </a:rPr>
              <a:t> </a:t>
            </a:r>
            <a:r>
              <a:rPr sz="900" spc="-60" dirty="0">
                <a:latin typeface="Trebuchet MS"/>
                <a:cs typeface="Trebuchet MS"/>
              </a:rPr>
              <a:t>for</a:t>
            </a:r>
            <a:r>
              <a:rPr sz="900" spc="5" dirty="0">
                <a:latin typeface="Trebuchet MS"/>
                <a:cs typeface="Trebuchet MS"/>
              </a:rPr>
              <a:t> </a:t>
            </a:r>
            <a:r>
              <a:rPr sz="900" spc="-25" dirty="0">
                <a:latin typeface="Trebuchet MS"/>
                <a:cs typeface="Trebuchet MS"/>
              </a:rPr>
              <a:t>adjacent</a:t>
            </a:r>
            <a:r>
              <a:rPr sz="900" spc="5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collocations</a:t>
            </a:r>
            <a:endParaRPr sz="900">
              <a:latin typeface="Trebuchet MS"/>
              <a:cs typeface="Trebuchet MS"/>
            </a:endParaRPr>
          </a:p>
          <a:p>
            <a:pPr marL="577850" indent="-116205">
              <a:lnSpc>
                <a:spcPct val="100000"/>
              </a:lnSpc>
              <a:spcBef>
                <a:spcPts val="114"/>
              </a:spcBef>
              <a:buClr>
                <a:srgbClr val="D6D6EF"/>
              </a:buClr>
              <a:buSzPct val="66666"/>
              <a:buFont typeface="Lucida Sans Unicode"/>
              <a:buChar char="►"/>
              <a:tabLst>
                <a:tab pos="577850" algn="l"/>
              </a:tabLst>
            </a:pPr>
            <a:r>
              <a:rPr sz="900" dirty="0">
                <a:latin typeface="Trebuchet MS"/>
                <a:cs typeface="Trebuchet MS"/>
              </a:rPr>
              <a:t>Weaker</a:t>
            </a:r>
            <a:r>
              <a:rPr sz="900" spc="-25" dirty="0">
                <a:latin typeface="Trebuchet MS"/>
                <a:cs typeface="Trebuchet MS"/>
              </a:rPr>
              <a:t> </a:t>
            </a:r>
            <a:r>
              <a:rPr sz="900" spc="50" dirty="0">
                <a:latin typeface="Trebuchet MS"/>
                <a:cs typeface="Trebuchet MS"/>
              </a:rPr>
              <a:t>as</a:t>
            </a:r>
            <a:r>
              <a:rPr sz="900" spc="-25" dirty="0">
                <a:latin typeface="Trebuchet MS"/>
                <a:cs typeface="Trebuchet MS"/>
              </a:rPr>
              <a:t> the</a:t>
            </a:r>
            <a:r>
              <a:rPr sz="900" spc="-20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distance</a:t>
            </a:r>
            <a:r>
              <a:rPr sz="900" spc="-25" dirty="0">
                <a:latin typeface="Trebuchet MS"/>
                <a:cs typeface="Trebuchet MS"/>
              </a:rPr>
              <a:t> </a:t>
            </a:r>
            <a:r>
              <a:rPr sz="900" spc="-20" dirty="0">
                <a:latin typeface="Trebuchet MS"/>
                <a:cs typeface="Trebuchet MS"/>
              </a:rPr>
              <a:t>between</a:t>
            </a:r>
            <a:r>
              <a:rPr sz="900" spc="-25" dirty="0">
                <a:latin typeface="Trebuchet MS"/>
                <a:cs typeface="Trebuchet MS"/>
              </a:rPr>
              <a:t> the</a:t>
            </a:r>
            <a:r>
              <a:rPr sz="900" spc="-20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words</a:t>
            </a:r>
            <a:r>
              <a:rPr sz="900" spc="-25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increases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33" name="object 3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20" dirty="0"/>
              <a:t>Pawan</a:t>
            </a:r>
            <a:r>
              <a:rPr spc="15" dirty="0"/>
              <a:t> </a:t>
            </a:r>
            <a:r>
              <a:rPr dirty="0"/>
              <a:t>Goyal</a:t>
            </a:r>
            <a:r>
              <a:rPr spc="170" dirty="0"/>
              <a:t> </a:t>
            </a:r>
            <a:r>
              <a:rPr dirty="0"/>
              <a:t>(IIT</a:t>
            </a:r>
            <a:r>
              <a:rPr spc="15" dirty="0"/>
              <a:t> </a:t>
            </a:r>
            <a:r>
              <a:rPr spc="-10" dirty="0"/>
              <a:t>Kharagpur)</a:t>
            </a:r>
          </a:p>
        </p:txBody>
      </p:sp>
      <p:sp>
        <p:nvSpPr>
          <p:cNvPr id="35" name="object 35"/>
          <p:cNvSpPr txBox="1"/>
          <p:nvPr/>
        </p:nvSpPr>
        <p:spPr>
          <a:xfrm>
            <a:off x="364622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4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4355386" y="3339672"/>
            <a:ext cx="1987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3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14</a:t>
            </a:r>
            <a:endParaRPr sz="600">
              <a:latin typeface="Cambria"/>
              <a:cs typeface="Cambria"/>
            </a:endParaRPr>
          </a:p>
        </p:txBody>
      </p:sp>
    </p:spTree>
  </p:cSld>
  <p:clrMapOvr>
    <a:masterClrMapping/>
  </p:clrMapOvr>
  <p:transition>
    <p:cut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0" dirty="0"/>
              <a:t>Yarowsky’s</a:t>
            </a:r>
            <a:r>
              <a:rPr spc="25" dirty="0"/>
              <a:t> </a:t>
            </a:r>
            <a:r>
              <a:rPr spc="-10" dirty="0"/>
              <a:t>Method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985431"/>
            <a:ext cx="4483735" cy="1558925"/>
            <a:chOff x="87743" y="985431"/>
            <a:chExt cx="4483735" cy="1558925"/>
          </a:xfrm>
        </p:grpSpPr>
        <p:sp>
          <p:nvSpPr>
            <p:cNvPr id="4" name="object 4"/>
            <p:cNvSpPr/>
            <p:nvPr/>
          </p:nvSpPr>
          <p:spPr>
            <a:xfrm>
              <a:off x="87743" y="985431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6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66" y="185674"/>
                  </a:lnTo>
                  <a:lnTo>
                    <a:pt x="4432566" y="50800"/>
                  </a:lnTo>
                  <a:lnTo>
                    <a:pt x="4428558" y="31075"/>
                  </a:lnTo>
                  <a:lnTo>
                    <a:pt x="4417644" y="14922"/>
                  </a:lnTo>
                  <a:lnTo>
                    <a:pt x="4401491" y="4008"/>
                  </a:lnTo>
                  <a:lnTo>
                    <a:pt x="4381766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1158443"/>
              <a:ext cx="4432566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2442718"/>
              <a:ext cx="101599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2430018"/>
              <a:ext cx="4381715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311" y="1029665"/>
              <a:ext cx="50749" cy="141305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1202715"/>
              <a:ext cx="4432935" cy="1290955"/>
            </a:xfrm>
            <a:custGeom>
              <a:avLst/>
              <a:gdLst/>
              <a:ahLst/>
              <a:cxnLst/>
              <a:rect l="l" t="t" r="r" b="b"/>
              <a:pathLst>
                <a:path w="4432935" h="1290955">
                  <a:moveTo>
                    <a:pt x="4432566" y="0"/>
                  </a:moveTo>
                  <a:lnTo>
                    <a:pt x="0" y="0"/>
                  </a:lnTo>
                  <a:lnTo>
                    <a:pt x="0" y="1240002"/>
                  </a:lnTo>
                  <a:lnTo>
                    <a:pt x="4008" y="1259727"/>
                  </a:lnTo>
                  <a:lnTo>
                    <a:pt x="14922" y="1275880"/>
                  </a:lnTo>
                  <a:lnTo>
                    <a:pt x="31075" y="1286794"/>
                  </a:lnTo>
                  <a:lnTo>
                    <a:pt x="50800" y="1290802"/>
                  </a:lnTo>
                  <a:lnTo>
                    <a:pt x="4381766" y="1290802"/>
                  </a:lnTo>
                  <a:lnTo>
                    <a:pt x="4401491" y="1286794"/>
                  </a:lnTo>
                  <a:lnTo>
                    <a:pt x="4417644" y="1275880"/>
                  </a:lnTo>
                  <a:lnTo>
                    <a:pt x="4428558" y="1259727"/>
                  </a:lnTo>
                  <a:lnTo>
                    <a:pt x="4432566" y="1240002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09" y="1067752"/>
              <a:ext cx="0" cy="1394460"/>
            </a:xfrm>
            <a:custGeom>
              <a:avLst/>
              <a:gdLst/>
              <a:ahLst/>
              <a:cxnLst/>
              <a:rect l="l" t="t" r="r" b="b"/>
              <a:pathLst>
                <a:path h="1394460">
                  <a:moveTo>
                    <a:pt x="0" y="1394015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09" y="105504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09" y="104234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09" y="102964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1597" y="1252448"/>
              <a:ext cx="64757" cy="6475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1597" y="1442237"/>
              <a:ext cx="64757" cy="64757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81597" y="1981238"/>
              <a:ext cx="64757" cy="64757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81597" y="2191270"/>
              <a:ext cx="64757" cy="64757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113144" y="910784"/>
            <a:ext cx="4083050" cy="1557655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25"/>
              </a:spcBef>
            </a:pPr>
            <a:r>
              <a:rPr sz="1100" i="1" spc="-10" dirty="0">
                <a:solidFill>
                  <a:srgbClr val="3333B2"/>
                </a:solidFill>
                <a:latin typeface="Cambria"/>
                <a:cs typeface="Cambria"/>
              </a:rPr>
              <a:t>Example</a:t>
            </a:r>
            <a:endParaRPr sz="1100">
              <a:latin typeface="Cambria"/>
              <a:cs typeface="Cambria"/>
            </a:endParaRPr>
          </a:p>
          <a:p>
            <a:pPr marL="302260" marR="43180">
              <a:lnSpc>
                <a:spcPct val="131100"/>
              </a:lnSpc>
              <a:spcBef>
                <a:spcPts val="70"/>
              </a:spcBef>
            </a:pPr>
            <a:r>
              <a:rPr sz="950" dirty="0">
                <a:latin typeface="Trebuchet MS"/>
                <a:cs typeface="Trebuchet MS"/>
              </a:rPr>
              <a:t>Disambiguating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plant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(industrial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sense)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vs.</a:t>
            </a:r>
            <a:r>
              <a:rPr sz="950" spc="114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plant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(living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thing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sense) </a:t>
            </a:r>
            <a:r>
              <a:rPr sz="950" dirty="0">
                <a:latin typeface="Trebuchet MS"/>
                <a:cs typeface="Trebuchet MS"/>
              </a:rPr>
              <a:t>Think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seed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features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spc="-40" dirty="0">
                <a:latin typeface="Trebuchet MS"/>
                <a:cs typeface="Trebuchet MS"/>
              </a:rPr>
              <a:t>for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each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spc="45" dirty="0">
                <a:latin typeface="Trebuchet MS"/>
                <a:cs typeface="Trebuchet MS"/>
              </a:rPr>
              <a:t>sense</a:t>
            </a:r>
            <a:endParaRPr sz="950">
              <a:latin typeface="Trebuchet MS"/>
              <a:cs typeface="Trebuchet MS"/>
            </a:endParaRPr>
          </a:p>
          <a:p>
            <a:pPr marL="577850" indent="-116205">
              <a:lnSpc>
                <a:spcPct val="100000"/>
              </a:lnSpc>
              <a:spcBef>
                <a:spcPts val="305"/>
              </a:spcBef>
              <a:buClr>
                <a:srgbClr val="D6D6EF"/>
              </a:buClr>
              <a:buSzPct val="66666"/>
              <a:buFont typeface="Lucida Sans Unicode"/>
              <a:buChar char="►"/>
              <a:tabLst>
                <a:tab pos="577850" algn="l"/>
              </a:tabLst>
            </a:pPr>
            <a:r>
              <a:rPr sz="900" spc="-20" dirty="0">
                <a:latin typeface="Trebuchet MS"/>
                <a:cs typeface="Trebuchet MS"/>
              </a:rPr>
              <a:t>Industrial</a:t>
            </a:r>
            <a:r>
              <a:rPr sz="900" spc="20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sense:</a:t>
            </a:r>
            <a:r>
              <a:rPr sz="900" spc="90" dirty="0">
                <a:latin typeface="Trebuchet MS"/>
                <a:cs typeface="Trebuchet MS"/>
              </a:rPr>
              <a:t> </a:t>
            </a:r>
            <a:r>
              <a:rPr sz="900" spc="-20" dirty="0">
                <a:latin typeface="Trebuchet MS"/>
                <a:cs typeface="Trebuchet MS"/>
              </a:rPr>
              <a:t>co-</a:t>
            </a:r>
            <a:r>
              <a:rPr sz="900" spc="-10" dirty="0">
                <a:latin typeface="Trebuchet MS"/>
                <a:cs typeface="Trebuchet MS"/>
              </a:rPr>
              <a:t>occurring</a:t>
            </a:r>
            <a:r>
              <a:rPr sz="900" spc="25" dirty="0">
                <a:latin typeface="Trebuchet MS"/>
                <a:cs typeface="Trebuchet MS"/>
              </a:rPr>
              <a:t> </a:t>
            </a:r>
            <a:r>
              <a:rPr sz="900" spc="-55" dirty="0">
                <a:latin typeface="Trebuchet MS"/>
                <a:cs typeface="Trebuchet MS"/>
              </a:rPr>
              <a:t>with</a:t>
            </a:r>
            <a:r>
              <a:rPr sz="900" spc="20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‘manufacturing’</a:t>
            </a:r>
            <a:endParaRPr sz="900">
              <a:latin typeface="Trebuchet MS"/>
              <a:cs typeface="Trebuchet MS"/>
            </a:endParaRPr>
          </a:p>
          <a:p>
            <a:pPr marL="577850" indent="-116205">
              <a:lnSpc>
                <a:spcPct val="100000"/>
              </a:lnSpc>
              <a:spcBef>
                <a:spcPts val="114"/>
              </a:spcBef>
              <a:buClr>
                <a:srgbClr val="D6D6EF"/>
              </a:buClr>
              <a:buSzPct val="66666"/>
              <a:buFont typeface="Lucida Sans Unicode"/>
              <a:buChar char="►"/>
              <a:tabLst>
                <a:tab pos="577850" algn="l"/>
              </a:tabLst>
            </a:pPr>
            <a:r>
              <a:rPr sz="900" dirty="0">
                <a:latin typeface="Trebuchet MS"/>
                <a:cs typeface="Trebuchet MS"/>
              </a:rPr>
              <a:t>Living</a:t>
            </a:r>
            <a:r>
              <a:rPr sz="900" spc="5" dirty="0">
                <a:latin typeface="Trebuchet MS"/>
                <a:cs typeface="Trebuchet MS"/>
              </a:rPr>
              <a:t> </a:t>
            </a:r>
            <a:r>
              <a:rPr sz="900" spc="-25" dirty="0">
                <a:latin typeface="Trebuchet MS"/>
                <a:cs typeface="Trebuchet MS"/>
              </a:rPr>
              <a:t>thing</a:t>
            </a:r>
            <a:r>
              <a:rPr sz="900" spc="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sense:</a:t>
            </a:r>
            <a:r>
              <a:rPr sz="900" spc="70" dirty="0">
                <a:latin typeface="Trebuchet MS"/>
                <a:cs typeface="Trebuchet MS"/>
              </a:rPr>
              <a:t> </a:t>
            </a:r>
            <a:r>
              <a:rPr sz="900" spc="-20" dirty="0">
                <a:latin typeface="Trebuchet MS"/>
                <a:cs typeface="Trebuchet MS"/>
              </a:rPr>
              <a:t>co-</a:t>
            </a:r>
            <a:r>
              <a:rPr sz="900" spc="-10" dirty="0">
                <a:latin typeface="Trebuchet MS"/>
                <a:cs typeface="Trebuchet MS"/>
              </a:rPr>
              <a:t>occurring</a:t>
            </a:r>
            <a:r>
              <a:rPr sz="900" spc="5" dirty="0">
                <a:latin typeface="Trebuchet MS"/>
                <a:cs typeface="Trebuchet MS"/>
              </a:rPr>
              <a:t> </a:t>
            </a:r>
            <a:r>
              <a:rPr sz="900" spc="-55" dirty="0">
                <a:latin typeface="Trebuchet MS"/>
                <a:cs typeface="Trebuchet MS"/>
              </a:rPr>
              <a:t>with</a:t>
            </a:r>
            <a:r>
              <a:rPr sz="900" spc="10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‘life’</a:t>
            </a:r>
            <a:endParaRPr sz="900">
              <a:latin typeface="Trebuchet MS"/>
              <a:cs typeface="Trebuchet MS"/>
            </a:endParaRPr>
          </a:p>
          <a:p>
            <a:pPr marL="302260">
              <a:lnSpc>
                <a:spcPct val="100000"/>
              </a:lnSpc>
              <a:spcBef>
                <a:spcPts val="525"/>
              </a:spcBef>
            </a:pPr>
            <a:r>
              <a:rPr sz="950" spc="75" dirty="0">
                <a:latin typeface="Trebuchet MS"/>
                <a:cs typeface="Trebuchet MS"/>
              </a:rPr>
              <a:t>Use</a:t>
            </a:r>
            <a:r>
              <a:rPr sz="950" spc="-10" dirty="0">
                <a:latin typeface="Trebuchet MS"/>
                <a:cs typeface="Trebuchet MS"/>
              </a:rPr>
              <a:t> ‘one </a:t>
            </a:r>
            <a:r>
              <a:rPr sz="950" spc="55" dirty="0">
                <a:latin typeface="Trebuchet MS"/>
                <a:cs typeface="Trebuchet MS"/>
              </a:rPr>
              <a:t>sense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per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collocation’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to</a:t>
            </a:r>
            <a:r>
              <a:rPr sz="950" spc="-10" dirty="0">
                <a:latin typeface="Trebuchet MS"/>
                <a:cs typeface="Trebuchet MS"/>
              </a:rPr>
              <a:t> build </a:t>
            </a:r>
            <a:r>
              <a:rPr sz="950" spc="-40" dirty="0">
                <a:latin typeface="Trebuchet MS"/>
                <a:cs typeface="Trebuchet MS"/>
              </a:rPr>
              <a:t>initial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decision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list</a:t>
            </a:r>
            <a:r>
              <a:rPr sz="950" spc="-10" dirty="0">
                <a:latin typeface="Trebuchet MS"/>
                <a:cs typeface="Trebuchet MS"/>
              </a:rPr>
              <a:t> classifier</a:t>
            </a:r>
            <a:endParaRPr sz="950">
              <a:latin typeface="Trebuchet MS"/>
              <a:cs typeface="Trebuchet MS"/>
            </a:endParaRPr>
          </a:p>
          <a:p>
            <a:pPr marL="302260" marR="133985">
              <a:lnSpc>
                <a:spcPct val="118900"/>
              </a:lnSpc>
              <a:spcBef>
                <a:spcPts val="295"/>
              </a:spcBef>
            </a:pPr>
            <a:r>
              <a:rPr sz="950" spc="-30" dirty="0">
                <a:latin typeface="Trebuchet MS"/>
                <a:cs typeface="Trebuchet MS"/>
              </a:rPr>
              <a:t>Treat</a:t>
            </a:r>
            <a:r>
              <a:rPr sz="950" dirty="0">
                <a:latin typeface="Trebuchet MS"/>
                <a:cs typeface="Trebuchet MS"/>
              </a:rPr>
              <a:t> results (having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high </a:t>
            </a:r>
            <a:r>
              <a:rPr sz="950" spc="-20" dirty="0">
                <a:latin typeface="Trebuchet MS"/>
                <a:cs typeface="Trebuchet MS"/>
              </a:rPr>
              <a:t>probability)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spc="70" dirty="0">
                <a:latin typeface="Trebuchet MS"/>
                <a:cs typeface="Trebuchet MS"/>
              </a:rPr>
              <a:t>as</a:t>
            </a:r>
            <a:r>
              <a:rPr sz="950" dirty="0">
                <a:latin typeface="Trebuchet MS"/>
                <a:cs typeface="Trebuchet MS"/>
              </a:rPr>
              <a:t> annotated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data,</a:t>
            </a:r>
            <a:r>
              <a:rPr sz="950" dirty="0">
                <a:latin typeface="Trebuchet MS"/>
                <a:cs typeface="Trebuchet MS"/>
              </a:rPr>
              <a:t> </a:t>
            </a:r>
            <a:r>
              <a:rPr sz="950" spc="-30" dirty="0">
                <a:latin typeface="Trebuchet MS"/>
                <a:cs typeface="Trebuchet MS"/>
              </a:rPr>
              <a:t>train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new </a:t>
            </a:r>
            <a:r>
              <a:rPr sz="950" dirty="0">
                <a:latin typeface="Trebuchet MS"/>
                <a:cs typeface="Trebuchet MS"/>
              </a:rPr>
              <a:t>decision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list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classifier,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iterate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20" dirty="0"/>
              <a:t>Pawan</a:t>
            </a:r>
            <a:r>
              <a:rPr spc="15" dirty="0"/>
              <a:t> </a:t>
            </a:r>
            <a:r>
              <a:rPr dirty="0"/>
              <a:t>Goyal</a:t>
            </a:r>
            <a:r>
              <a:rPr spc="170" dirty="0"/>
              <a:t> </a:t>
            </a:r>
            <a:r>
              <a:rPr dirty="0"/>
              <a:t>(IIT</a:t>
            </a:r>
            <a:r>
              <a:rPr spc="15" dirty="0"/>
              <a:t> </a:t>
            </a:r>
            <a:r>
              <a:rPr spc="-10" dirty="0"/>
              <a:t>Kharagpur)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364622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4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r>
              <a:rPr dirty="0"/>
              <a:t>4</a:t>
            </a:r>
            <a:r>
              <a:rPr spc="-5" dirty="0"/>
              <a:t> </a:t>
            </a:r>
            <a:r>
              <a:rPr spc="-110" dirty="0"/>
              <a:t>/</a:t>
            </a:r>
            <a:r>
              <a:rPr spc="15" dirty="0"/>
              <a:t> </a:t>
            </a:r>
            <a:r>
              <a:rPr spc="-25" dirty="0"/>
              <a:t>14</a:t>
            </a:r>
          </a:p>
        </p:txBody>
      </p:sp>
    </p:spTree>
  </p:cSld>
  <p:clrMapOvr>
    <a:masterClrMapping/>
  </p:clrMapOvr>
  <p:transition>
    <p:cut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4608195" cy="351790"/>
          </a:xfrm>
          <a:custGeom>
            <a:avLst/>
            <a:gdLst/>
            <a:ahLst/>
            <a:cxnLst/>
            <a:rect l="l" t="t" r="r" b="b"/>
            <a:pathLst>
              <a:path w="4608195" h="351790">
                <a:moveTo>
                  <a:pt x="4608004" y="0"/>
                </a:moveTo>
                <a:lnTo>
                  <a:pt x="0" y="0"/>
                </a:lnTo>
                <a:lnTo>
                  <a:pt x="0" y="351383"/>
                </a:lnTo>
                <a:lnTo>
                  <a:pt x="4608004" y="351383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5300" y="60502"/>
            <a:ext cx="218884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i="1" spc="-20" dirty="0">
                <a:solidFill>
                  <a:srgbClr val="FFFFFF"/>
                </a:solidFill>
                <a:latin typeface="Cambria"/>
                <a:cs typeface="Cambria"/>
              </a:rPr>
              <a:t>Yarowsky’s</a:t>
            </a:r>
            <a:r>
              <a:rPr sz="1400" i="1" spc="6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Method:</a:t>
            </a:r>
            <a:r>
              <a:rPr sz="1400" i="1" spc="14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spc="-10" dirty="0">
                <a:solidFill>
                  <a:srgbClr val="FFFFFF"/>
                </a:solidFill>
                <a:latin typeface="Cambria"/>
                <a:cs typeface="Cambria"/>
              </a:rPr>
              <a:t>Example</a:t>
            </a:r>
            <a:endParaRPr sz="140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0888" y="615276"/>
            <a:ext cx="3756659" cy="2404110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20" dirty="0"/>
              <a:t>Pawan</a:t>
            </a:r>
            <a:r>
              <a:rPr spc="15" dirty="0"/>
              <a:t> </a:t>
            </a:r>
            <a:r>
              <a:rPr dirty="0"/>
              <a:t>Goyal</a:t>
            </a:r>
            <a:r>
              <a:rPr spc="170" dirty="0"/>
              <a:t> </a:t>
            </a:r>
            <a:r>
              <a:rPr dirty="0"/>
              <a:t>(IIT</a:t>
            </a:r>
            <a:r>
              <a:rPr spc="15" dirty="0"/>
              <a:t> </a:t>
            </a:r>
            <a:r>
              <a:rPr spc="-10" dirty="0"/>
              <a:t>Kharagpur)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64622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4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r>
              <a:rPr dirty="0"/>
              <a:t>5</a:t>
            </a:r>
            <a:r>
              <a:rPr spc="-5" dirty="0"/>
              <a:t> </a:t>
            </a:r>
            <a:r>
              <a:rPr spc="-110" dirty="0"/>
              <a:t>/</a:t>
            </a:r>
            <a:r>
              <a:rPr spc="15" dirty="0"/>
              <a:t> </a:t>
            </a:r>
            <a:r>
              <a:rPr spc="-25" dirty="0"/>
              <a:t>14</a:t>
            </a:r>
          </a:p>
        </p:txBody>
      </p:sp>
    </p:spTree>
  </p:cSld>
  <p:clrMapOvr>
    <a:masterClrMapping/>
  </p:clrMapOvr>
  <p:transition>
    <p:cut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4608195" cy="351790"/>
          </a:xfrm>
          <a:custGeom>
            <a:avLst/>
            <a:gdLst/>
            <a:ahLst/>
            <a:cxnLst/>
            <a:rect l="l" t="t" r="r" b="b"/>
            <a:pathLst>
              <a:path w="4608195" h="351790">
                <a:moveTo>
                  <a:pt x="4608004" y="0"/>
                </a:moveTo>
                <a:lnTo>
                  <a:pt x="0" y="0"/>
                </a:lnTo>
                <a:lnTo>
                  <a:pt x="0" y="351383"/>
                </a:lnTo>
                <a:lnTo>
                  <a:pt x="4608004" y="351383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5300" y="60502"/>
            <a:ext cx="218884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i="1" spc="-20" dirty="0">
                <a:solidFill>
                  <a:srgbClr val="FFFFFF"/>
                </a:solidFill>
                <a:latin typeface="Cambria"/>
                <a:cs typeface="Cambria"/>
              </a:rPr>
              <a:t>Yarowsky’s</a:t>
            </a:r>
            <a:r>
              <a:rPr sz="1400" i="1" spc="6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Method:</a:t>
            </a:r>
            <a:r>
              <a:rPr sz="1400" i="1" spc="14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spc="-10" dirty="0">
                <a:solidFill>
                  <a:srgbClr val="FFFFFF"/>
                </a:solidFill>
                <a:latin typeface="Cambria"/>
                <a:cs typeface="Cambria"/>
              </a:rPr>
              <a:t>Example</a:t>
            </a:r>
            <a:endParaRPr sz="140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7643" y="562572"/>
            <a:ext cx="2426969" cy="2548890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20" dirty="0"/>
              <a:t>Pawan</a:t>
            </a:r>
            <a:r>
              <a:rPr spc="15" dirty="0"/>
              <a:t> </a:t>
            </a:r>
            <a:r>
              <a:rPr dirty="0"/>
              <a:t>Goyal</a:t>
            </a:r>
            <a:r>
              <a:rPr spc="170" dirty="0"/>
              <a:t> </a:t>
            </a:r>
            <a:r>
              <a:rPr dirty="0"/>
              <a:t>(IIT</a:t>
            </a:r>
            <a:r>
              <a:rPr spc="15" dirty="0"/>
              <a:t> </a:t>
            </a:r>
            <a:r>
              <a:rPr spc="-10" dirty="0"/>
              <a:t>Kharagpur)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804873" y="3339672"/>
            <a:ext cx="9988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Word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Sense</a:t>
            </a:r>
            <a:r>
              <a:rPr sz="600" i="1" spc="5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Disambiguation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-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II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64622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4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r>
              <a:rPr dirty="0"/>
              <a:t>6</a:t>
            </a:r>
            <a:r>
              <a:rPr spc="-5" dirty="0"/>
              <a:t> </a:t>
            </a:r>
            <a:r>
              <a:rPr spc="-110" dirty="0"/>
              <a:t>/</a:t>
            </a:r>
            <a:r>
              <a:rPr spc="15" dirty="0"/>
              <a:t> </a:t>
            </a:r>
            <a:r>
              <a:rPr spc="-25" dirty="0"/>
              <a:t>14</a:t>
            </a:r>
          </a:p>
        </p:txBody>
      </p:sp>
    </p:spTree>
  </p:cSld>
  <p:clrMapOvr>
    <a:masterClrMapping/>
  </p:clrMapOvr>
  <p:transition>
    <p:cut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4608195" cy="351790"/>
          </a:xfrm>
          <a:custGeom>
            <a:avLst/>
            <a:gdLst/>
            <a:ahLst/>
            <a:cxnLst/>
            <a:rect l="l" t="t" r="r" b="b"/>
            <a:pathLst>
              <a:path w="4608195" h="351790">
                <a:moveTo>
                  <a:pt x="4608004" y="0"/>
                </a:moveTo>
                <a:lnTo>
                  <a:pt x="0" y="0"/>
                </a:lnTo>
                <a:lnTo>
                  <a:pt x="0" y="351383"/>
                </a:lnTo>
                <a:lnTo>
                  <a:pt x="4608004" y="351383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5300" y="60502"/>
            <a:ext cx="218884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i="1" spc="-20" dirty="0">
                <a:solidFill>
                  <a:srgbClr val="FFFFFF"/>
                </a:solidFill>
                <a:latin typeface="Cambria"/>
                <a:cs typeface="Cambria"/>
              </a:rPr>
              <a:t>Yarowsky’s</a:t>
            </a:r>
            <a:r>
              <a:rPr sz="1400" i="1" spc="6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Method:</a:t>
            </a:r>
            <a:r>
              <a:rPr sz="1400" i="1" spc="14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spc="-10" dirty="0">
                <a:solidFill>
                  <a:srgbClr val="FFFFFF"/>
                </a:solidFill>
                <a:latin typeface="Cambria"/>
                <a:cs typeface="Cambria"/>
              </a:rPr>
              <a:t>Example</a:t>
            </a:r>
            <a:endParaRPr sz="140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6213" y="554951"/>
            <a:ext cx="2457449" cy="2583180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20" dirty="0"/>
              <a:t>Pawan</a:t>
            </a:r>
            <a:r>
              <a:rPr spc="15" dirty="0"/>
              <a:t> </a:t>
            </a:r>
            <a:r>
              <a:rPr dirty="0"/>
              <a:t>Goyal</a:t>
            </a:r>
            <a:r>
              <a:rPr spc="170" dirty="0"/>
              <a:t> </a:t>
            </a:r>
            <a:r>
              <a:rPr dirty="0"/>
              <a:t>(IIT</a:t>
            </a:r>
            <a:r>
              <a:rPr spc="15" dirty="0"/>
              <a:t> </a:t>
            </a:r>
            <a:r>
              <a:rPr spc="-10" dirty="0"/>
              <a:t>Kharagpur)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64622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4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r>
              <a:rPr dirty="0"/>
              <a:t>7</a:t>
            </a:r>
            <a:r>
              <a:rPr spc="-5" dirty="0"/>
              <a:t> </a:t>
            </a:r>
            <a:r>
              <a:rPr spc="-110" dirty="0"/>
              <a:t>/</a:t>
            </a:r>
            <a:r>
              <a:rPr spc="15" dirty="0"/>
              <a:t> </a:t>
            </a:r>
            <a:r>
              <a:rPr spc="-25" dirty="0"/>
              <a:t>14</a:t>
            </a:r>
          </a:p>
        </p:txBody>
      </p:sp>
    </p:spTree>
  </p:cSld>
  <p:clrMapOvr>
    <a:masterClrMapping/>
  </p:clrMapOvr>
  <p:transition>
    <p:cut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4608195" cy="351790"/>
          </a:xfrm>
          <a:custGeom>
            <a:avLst/>
            <a:gdLst/>
            <a:ahLst/>
            <a:cxnLst/>
            <a:rect l="l" t="t" r="r" b="b"/>
            <a:pathLst>
              <a:path w="4608195" h="351790">
                <a:moveTo>
                  <a:pt x="4608004" y="0"/>
                </a:moveTo>
                <a:lnTo>
                  <a:pt x="0" y="0"/>
                </a:lnTo>
                <a:lnTo>
                  <a:pt x="0" y="351383"/>
                </a:lnTo>
                <a:lnTo>
                  <a:pt x="4608004" y="351383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5300" y="60502"/>
            <a:ext cx="218884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i="1" spc="-20" dirty="0">
                <a:solidFill>
                  <a:srgbClr val="FFFFFF"/>
                </a:solidFill>
                <a:latin typeface="Cambria"/>
                <a:cs typeface="Cambria"/>
              </a:rPr>
              <a:t>Yarowsky’s</a:t>
            </a:r>
            <a:r>
              <a:rPr sz="1400" i="1" spc="6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Method:</a:t>
            </a:r>
            <a:r>
              <a:rPr sz="1400" i="1" spc="14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spc="-10" dirty="0">
                <a:solidFill>
                  <a:srgbClr val="FFFFFF"/>
                </a:solidFill>
                <a:latin typeface="Cambria"/>
                <a:cs typeface="Cambria"/>
              </a:rPr>
              <a:t>Example</a:t>
            </a:r>
            <a:endParaRPr sz="140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7643" y="554951"/>
            <a:ext cx="2419350" cy="2586990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20" dirty="0"/>
              <a:t>Pawan</a:t>
            </a:r>
            <a:r>
              <a:rPr spc="15" dirty="0"/>
              <a:t> </a:t>
            </a:r>
            <a:r>
              <a:rPr dirty="0"/>
              <a:t>Goyal</a:t>
            </a:r>
            <a:r>
              <a:rPr spc="170" dirty="0"/>
              <a:t> </a:t>
            </a:r>
            <a:r>
              <a:rPr dirty="0"/>
              <a:t>(IIT</a:t>
            </a:r>
            <a:r>
              <a:rPr spc="15" dirty="0"/>
              <a:t> </a:t>
            </a:r>
            <a:r>
              <a:rPr spc="-10" dirty="0"/>
              <a:t>Kharagpur)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64622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4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r>
              <a:rPr dirty="0"/>
              <a:t>8</a:t>
            </a:r>
            <a:r>
              <a:rPr spc="-5" dirty="0"/>
              <a:t> </a:t>
            </a:r>
            <a:r>
              <a:rPr spc="-110" dirty="0"/>
              <a:t>/</a:t>
            </a:r>
            <a:r>
              <a:rPr spc="15" dirty="0"/>
              <a:t> </a:t>
            </a:r>
            <a:r>
              <a:rPr spc="-25" dirty="0"/>
              <a:t>14</a:t>
            </a:r>
          </a:p>
        </p:txBody>
      </p:sp>
    </p:spTree>
  </p:cSld>
  <p:clrMapOvr>
    <a:masterClrMapping/>
  </p:clrMapOvr>
  <p:transition>
    <p:cut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0" dirty="0"/>
              <a:t>Yarowsky’s</a:t>
            </a:r>
            <a:r>
              <a:rPr spc="25" dirty="0"/>
              <a:t> </a:t>
            </a:r>
            <a:r>
              <a:rPr spc="-10" dirty="0"/>
              <a:t>Method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919937"/>
            <a:ext cx="4483735" cy="957580"/>
            <a:chOff x="87743" y="919937"/>
            <a:chExt cx="4483735" cy="957580"/>
          </a:xfrm>
        </p:grpSpPr>
        <p:sp>
          <p:nvSpPr>
            <p:cNvPr id="4" name="object 4"/>
            <p:cNvSpPr/>
            <p:nvPr/>
          </p:nvSpPr>
          <p:spPr>
            <a:xfrm>
              <a:off x="87743" y="919937"/>
              <a:ext cx="4432935" cy="172085"/>
            </a:xfrm>
            <a:custGeom>
              <a:avLst/>
              <a:gdLst/>
              <a:ahLst/>
              <a:cxnLst/>
              <a:rect l="l" t="t" r="r" b="b"/>
              <a:pathLst>
                <a:path w="4432935" h="172084">
                  <a:moveTo>
                    <a:pt x="438176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71602"/>
                  </a:lnTo>
                  <a:lnTo>
                    <a:pt x="4432566" y="171602"/>
                  </a:lnTo>
                  <a:lnTo>
                    <a:pt x="4432566" y="50800"/>
                  </a:lnTo>
                  <a:lnTo>
                    <a:pt x="4428558" y="31075"/>
                  </a:lnTo>
                  <a:lnTo>
                    <a:pt x="4417644" y="14922"/>
                  </a:lnTo>
                  <a:lnTo>
                    <a:pt x="4401491" y="4008"/>
                  </a:lnTo>
                  <a:lnTo>
                    <a:pt x="4381766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1078890"/>
              <a:ext cx="4432566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1775371"/>
              <a:ext cx="101599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1762671"/>
              <a:ext cx="4381715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311" y="964171"/>
              <a:ext cx="50749" cy="811199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1123162"/>
              <a:ext cx="4432935" cy="703580"/>
            </a:xfrm>
            <a:custGeom>
              <a:avLst/>
              <a:gdLst/>
              <a:ahLst/>
              <a:cxnLst/>
              <a:rect l="l" t="t" r="r" b="b"/>
              <a:pathLst>
                <a:path w="4432935" h="703580">
                  <a:moveTo>
                    <a:pt x="4432566" y="0"/>
                  </a:moveTo>
                  <a:lnTo>
                    <a:pt x="0" y="0"/>
                  </a:lnTo>
                  <a:lnTo>
                    <a:pt x="0" y="652208"/>
                  </a:lnTo>
                  <a:lnTo>
                    <a:pt x="4008" y="671933"/>
                  </a:lnTo>
                  <a:lnTo>
                    <a:pt x="14922" y="688085"/>
                  </a:lnTo>
                  <a:lnTo>
                    <a:pt x="31075" y="699000"/>
                  </a:lnTo>
                  <a:lnTo>
                    <a:pt x="50800" y="703008"/>
                  </a:lnTo>
                  <a:lnTo>
                    <a:pt x="4381766" y="703008"/>
                  </a:lnTo>
                  <a:lnTo>
                    <a:pt x="4401491" y="699000"/>
                  </a:lnTo>
                  <a:lnTo>
                    <a:pt x="4417644" y="688085"/>
                  </a:lnTo>
                  <a:lnTo>
                    <a:pt x="4428558" y="671933"/>
                  </a:lnTo>
                  <a:lnTo>
                    <a:pt x="4432566" y="652208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09" y="1002271"/>
              <a:ext cx="0" cy="792480"/>
            </a:xfrm>
            <a:custGeom>
              <a:avLst/>
              <a:gdLst/>
              <a:ahLst/>
              <a:cxnLst/>
              <a:rect l="l" t="t" r="r" b="b"/>
              <a:pathLst>
                <a:path h="792480">
                  <a:moveTo>
                    <a:pt x="0" y="79214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09" y="98956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09" y="97686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09" y="96416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1597" y="1172908"/>
              <a:ext cx="64757" cy="6475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1597" y="1711896"/>
              <a:ext cx="64757" cy="64757"/>
            </a:xfrm>
            <a:prstGeom prst="rect">
              <a:avLst/>
            </a:prstGeom>
          </p:spPr>
        </p:pic>
      </p:grpSp>
      <p:grpSp>
        <p:nvGrpSpPr>
          <p:cNvPr id="16" name="object 16"/>
          <p:cNvGrpSpPr/>
          <p:nvPr/>
        </p:nvGrpSpPr>
        <p:grpSpPr>
          <a:xfrm>
            <a:off x="87743" y="1978101"/>
            <a:ext cx="4483735" cy="664845"/>
            <a:chOff x="87743" y="1978101"/>
            <a:chExt cx="4483735" cy="664845"/>
          </a:xfrm>
        </p:grpSpPr>
        <p:sp>
          <p:nvSpPr>
            <p:cNvPr id="17" name="object 17"/>
            <p:cNvSpPr/>
            <p:nvPr/>
          </p:nvSpPr>
          <p:spPr>
            <a:xfrm>
              <a:off x="87743" y="1978101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6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66" y="185674"/>
                  </a:lnTo>
                  <a:lnTo>
                    <a:pt x="4432566" y="50800"/>
                  </a:lnTo>
                  <a:lnTo>
                    <a:pt x="4428558" y="31075"/>
                  </a:lnTo>
                  <a:lnTo>
                    <a:pt x="4417644" y="14922"/>
                  </a:lnTo>
                  <a:lnTo>
                    <a:pt x="4401491" y="4008"/>
                  </a:lnTo>
                  <a:lnTo>
                    <a:pt x="4381766" y="0"/>
                  </a:lnTo>
                  <a:close/>
                </a:path>
              </a:pathLst>
            </a:custGeom>
            <a:solidFill>
              <a:srgbClr val="FF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7744" y="2151113"/>
              <a:ext cx="4432566" cy="50609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38544" y="2540939"/>
              <a:ext cx="101599" cy="10160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89344" y="2528239"/>
              <a:ext cx="4381715" cy="11430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520311" y="2022335"/>
              <a:ext cx="50749" cy="518604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87743" y="2195385"/>
              <a:ext cx="4432935" cy="396875"/>
            </a:xfrm>
            <a:custGeom>
              <a:avLst/>
              <a:gdLst/>
              <a:ahLst/>
              <a:cxnLst/>
              <a:rect l="l" t="t" r="r" b="b"/>
              <a:pathLst>
                <a:path w="4432935" h="396875">
                  <a:moveTo>
                    <a:pt x="4432566" y="0"/>
                  </a:moveTo>
                  <a:lnTo>
                    <a:pt x="0" y="0"/>
                  </a:lnTo>
                  <a:lnTo>
                    <a:pt x="0" y="345554"/>
                  </a:lnTo>
                  <a:lnTo>
                    <a:pt x="4008" y="365278"/>
                  </a:lnTo>
                  <a:lnTo>
                    <a:pt x="14922" y="381431"/>
                  </a:lnTo>
                  <a:lnTo>
                    <a:pt x="31075" y="392345"/>
                  </a:lnTo>
                  <a:lnTo>
                    <a:pt x="50800" y="396354"/>
                  </a:lnTo>
                  <a:lnTo>
                    <a:pt x="4381766" y="396354"/>
                  </a:lnTo>
                  <a:lnTo>
                    <a:pt x="4401491" y="392345"/>
                  </a:lnTo>
                  <a:lnTo>
                    <a:pt x="4417644" y="381431"/>
                  </a:lnTo>
                  <a:lnTo>
                    <a:pt x="4428558" y="365278"/>
                  </a:lnTo>
                  <a:lnTo>
                    <a:pt x="4432566" y="345554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FFE5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520309" y="2060422"/>
              <a:ext cx="0" cy="499745"/>
            </a:xfrm>
            <a:custGeom>
              <a:avLst/>
              <a:gdLst/>
              <a:ahLst/>
              <a:cxnLst/>
              <a:rect l="l" t="t" r="r" b="b"/>
              <a:pathLst>
                <a:path h="499744">
                  <a:moveTo>
                    <a:pt x="0" y="49956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520309" y="2047721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520309" y="2035021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520309" y="2022321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81597" y="2242261"/>
              <a:ext cx="64757" cy="64757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81597" y="2452293"/>
              <a:ext cx="64757" cy="64757"/>
            </a:xfrm>
            <a:prstGeom prst="rect">
              <a:avLst/>
            </a:prstGeom>
          </p:spPr>
        </p:pic>
      </p:grpSp>
      <p:sp>
        <p:nvSpPr>
          <p:cNvPr id="29" name="object 29"/>
          <p:cNvSpPr txBox="1"/>
          <p:nvPr/>
        </p:nvSpPr>
        <p:spPr>
          <a:xfrm>
            <a:off x="87744" y="850991"/>
            <a:ext cx="3275329" cy="1706245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445"/>
              </a:spcBef>
            </a:pPr>
            <a:r>
              <a:rPr sz="1100" i="1" spc="-10" dirty="0">
                <a:solidFill>
                  <a:srgbClr val="3333B2"/>
                </a:solidFill>
                <a:latin typeface="Cambria"/>
                <a:cs typeface="Cambria"/>
              </a:rPr>
              <a:t>Termination</a:t>
            </a:r>
            <a:endParaRPr sz="1100">
              <a:latin typeface="Cambria"/>
              <a:cs typeface="Cambria"/>
            </a:endParaRPr>
          </a:p>
          <a:p>
            <a:pPr marL="327660">
              <a:lnSpc>
                <a:spcPct val="100000"/>
              </a:lnSpc>
              <a:spcBef>
                <a:spcPts val="350"/>
              </a:spcBef>
            </a:pPr>
            <a:r>
              <a:rPr sz="950" dirty="0">
                <a:latin typeface="Trebuchet MS"/>
                <a:cs typeface="Trebuchet MS"/>
              </a:rPr>
              <a:t>Stop</a:t>
            </a:r>
            <a:r>
              <a:rPr sz="950" spc="114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when</a:t>
            </a:r>
            <a:endParaRPr sz="950">
              <a:latin typeface="Trebuchet MS"/>
              <a:cs typeface="Trebuchet MS"/>
            </a:endParaRPr>
          </a:p>
          <a:p>
            <a:pPr marL="603250" indent="-116205">
              <a:lnSpc>
                <a:spcPct val="100000"/>
              </a:lnSpc>
              <a:spcBef>
                <a:spcPts val="305"/>
              </a:spcBef>
              <a:buClr>
                <a:srgbClr val="D6D6EF"/>
              </a:buClr>
              <a:buSzPct val="66666"/>
              <a:buFont typeface="Lucida Sans Unicode"/>
              <a:buChar char="►"/>
              <a:tabLst>
                <a:tab pos="603250" algn="l"/>
              </a:tabLst>
            </a:pPr>
            <a:r>
              <a:rPr sz="900" dirty="0">
                <a:latin typeface="Trebuchet MS"/>
                <a:cs typeface="Trebuchet MS"/>
              </a:rPr>
              <a:t>Error</a:t>
            </a:r>
            <a:r>
              <a:rPr sz="900" spc="-1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on</a:t>
            </a:r>
            <a:r>
              <a:rPr sz="900" spc="-15" dirty="0">
                <a:latin typeface="Trebuchet MS"/>
                <a:cs typeface="Trebuchet MS"/>
              </a:rPr>
              <a:t> </a:t>
            </a:r>
            <a:r>
              <a:rPr sz="900" spc="-30" dirty="0">
                <a:latin typeface="Trebuchet MS"/>
                <a:cs typeface="Trebuchet MS"/>
              </a:rPr>
              <a:t>training</a:t>
            </a:r>
            <a:r>
              <a:rPr sz="900" spc="-15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data</a:t>
            </a:r>
            <a:r>
              <a:rPr sz="900" spc="-1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is</a:t>
            </a:r>
            <a:r>
              <a:rPr sz="900" spc="-1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less</a:t>
            </a:r>
            <a:r>
              <a:rPr sz="900" spc="-15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than</a:t>
            </a:r>
            <a:r>
              <a:rPr sz="900" spc="-1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a</a:t>
            </a:r>
            <a:r>
              <a:rPr sz="900" spc="-15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threshold</a:t>
            </a:r>
            <a:endParaRPr sz="900">
              <a:latin typeface="Trebuchet MS"/>
              <a:cs typeface="Trebuchet MS"/>
            </a:endParaRPr>
          </a:p>
          <a:p>
            <a:pPr marL="603250" indent="-116205">
              <a:lnSpc>
                <a:spcPct val="100000"/>
              </a:lnSpc>
              <a:spcBef>
                <a:spcPts val="115"/>
              </a:spcBef>
              <a:buClr>
                <a:srgbClr val="D6D6EF"/>
              </a:buClr>
              <a:buSzPct val="66666"/>
              <a:buFont typeface="Lucida Sans Unicode"/>
              <a:buChar char="►"/>
              <a:tabLst>
                <a:tab pos="603250" algn="l"/>
              </a:tabLst>
            </a:pPr>
            <a:r>
              <a:rPr sz="900" dirty="0">
                <a:latin typeface="Trebuchet MS"/>
                <a:cs typeface="Trebuchet MS"/>
              </a:rPr>
              <a:t>No</a:t>
            </a:r>
            <a:r>
              <a:rPr sz="900" spc="-20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more</a:t>
            </a:r>
            <a:r>
              <a:rPr sz="900" spc="-20" dirty="0">
                <a:latin typeface="Trebuchet MS"/>
                <a:cs typeface="Trebuchet MS"/>
              </a:rPr>
              <a:t> </a:t>
            </a:r>
            <a:r>
              <a:rPr sz="900" spc="-30" dirty="0">
                <a:latin typeface="Trebuchet MS"/>
                <a:cs typeface="Trebuchet MS"/>
              </a:rPr>
              <a:t>training</a:t>
            </a:r>
            <a:r>
              <a:rPr sz="900" spc="-20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data</a:t>
            </a:r>
            <a:r>
              <a:rPr sz="900" spc="-20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is</a:t>
            </a:r>
            <a:r>
              <a:rPr sz="900" spc="-20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covered</a:t>
            </a:r>
            <a:endParaRPr sz="900">
              <a:latin typeface="Trebuchet MS"/>
              <a:cs typeface="Trebuchet MS"/>
            </a:endParaRPr>
          </a:p>
          <a:p>
            <a:pPr marL="327660">
              <a:lnSpc>
                <a:spcPct val="100000"/>
              </a:lnSpc>
              <a:spcBef>
                <a:spcPts val="520"/>
              </a:spcBef>
            </a:pPr>
            <a:r>
              <a:rPr sz="950" spc="75" dirty="0">
                <a:latin typeface="Trebuchet MS"/>
                <a:cs typeface="Trebuchet MS"/>
              </a:rPr>
              <a:t>Use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final</a:t>
            </a:r>
            <a:r>
              <a:rPr sz="950" dirty="0">
                <a:latin typeface="Trebuchet MS"/>
                <a:cs typeface="Trebuchet MS"/>
              </a:rPr>
              <a:t> decision </a:t>
            </a:r>
            <a:r>
              <a:rPr sz="950" spc="-25" dirty="0">
                <a:latin typeface="Trebuchet MS"/>
                <a:cs typeface="Trebuchet MS"/>
              </a:rPr>
              <a:t>list</a:t>
            </a:r>
            <a:r>
              <a:rPr sz="950" dirty="0">
                <a:latin typeface="Trebuchet MS"/>
                <a:cs typeface="Trebuchet MS"/>
              </a:rPr>
              <a:t> </a:t>
            </a:r>
            <a:r>
              <a:rPr sz="950" spc="-40" dirty="0">
                <a:latin typeface="Trebuchet MS"/>
                <a:cs typeface="Trebuchet MS"/>
              </a:rPr>
              <a:t>for</a:t>
            </a:r>
            <a:r>
              <a:rPr sz="950" dirty="0">
                <a:latin typeface="Trebuchet MS"/>
                <a:cs typeface="Trebuchet MS"/>
              </a:rPr>
              <a:t> </a:t>
            </a:r>
            <a:r>
              <a:rPr sz="950" spc="110" dirty="0">
                <a:latin typeface="Trebuchet MS"/>
                <a:cs typeface="Trebuchet MS"/>
              </a:rPr>
              <a:t>WSD</a:t>
            </a:r>
            <a:endParaRPr sz="9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950">
              <a:latin typeface="Trebuchet MS"/>
              <a:cs typeface="Trebuchet MS"/>
            </a:endParaRPr>
          </a:p>
          <a:p>
            <a:pPr marL="50800">
              <a:lnSpc>
                <a:spcPct val="100000"/>
              </a:lnSpc>
            </a:pPr>
            <a:r>
              <a:rPr sz="1100" i="1" spc="-10" dirty="0">
                <a:solidFill>
                  <a:srgbClr val="FF0000"/>
                </a:solidFill>
                <a:latin typeface="Cambria"/>
                <a:cs typeface="Cambria"/>
              </a:rPr>
              <a:t>Advantages</a:t>
            </a:r>
            <a:endParaRPr sz="1100">
              <a:latin typeface="Cambria"/>
              <a:cs typeface="Cambria"/>
            </a:endParaRPr>
          </a:p>
          <a:p>
            <a:pPr marL="327660" marR="17780">
              <a:lnSpc>
                <a:spcPts val="1650"/>
              </a:lnSpc>
            </a:pPr>
            <a:r>
              <a:rPr sz="950" dirty="0">
                <a:latin typeface="Trebuchet MS"/>
                <a:cs typeface="Trebuchet MS"/>
              </a:rPr>
              <a:t>Accuracy</a:t>
            </a:r>
            <a:r>
              <a:rPr sz="950" spc="6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is</a:t>
            </a:r>
            <a:r>
              <a:rPr sz="950" spc="6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about</a:t>
            </a:r>
            <a:r>
              <a:rPr sz="950" spc="65" dirty="0">
                <a:latin typeface="Trebuchet MS"/>
                <a:cs typeface="Trebuchet MS"/>
              </a:rPr>
              <a:t> </a:t>
            </a:r>
            <a:r>
              <a:rPr sz="950" spc="70" dirty="0">
                <a:latin typeface="Trebuchet MS"/>
                <a:cs typeface="Trebuchet MS"/>
              </a:rPr>
              <a:t>as </a:t>
            </a:r>
            <a:r>
              <a:rPr sz="950" dirty="0">
                <a:latin typeface="Trebuchet MS"/>
                <a:cs typeface="Trebuchet MS"/>
              </a:rPr>
              <a:t>good</a:t>
            </a:r>
            <a:r>
              <a:rPr sz="950" spc="65" dirty="0">
                <a:latin typeface="Trebuchet MS"/>
                <a:cs typeface="Trebuchet MS"/>
              </a:rPr>
              <a:t> </a:t>
            </a:r>
            <a:r>
              <a:rPr sz="950" spc="70" dirty="0">
                <a:latin typeface="Trebuchet MS"/>
                <a:cs typeface="Trebuchet MS"/>
              </a:rPr>
              <a:t>as</a:t>
            </a:r>
            <a:r>
              <a:rPr sz="950" spc="6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7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supervised</a:t>
            </a:r>
            <a:r>
              <a:rPr sz="950" spc="6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algorithm </a:t>
            </a:r>
            <a:r>
              <a:rPr sz="950" dirty="0">
                <a:latin typeface="Trebuchet MS"/>
                <a:cs typeface="Trebuchet MS"/>
              </a:rPr>
              <a:t>Bootstrapping:</a:t>
            </a:r>
            <a:r>
              <a:rPr sz="950" spc="135" dirty="0">
                <a:latin typeface="Trebuchet MS"/>
                <a:cs typeface="Trebuchet MS"/>
              </a:rPr>
              <a:t> </a:t>
            </a:r>
            <a:r>
              <a:rPr sz="950" spc="-40" dirty="0">
                <a:latin typeface="Trebuchet MS"/>
                <a:cs typeface="Trebuchet MS"/>
              </a:rPr>
              <a:t>far</a:t>
            </a:r>
            <a:r>
              <a:rPr sz="950" spc="6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less</a:t>
            </a:r>
            <a:r>
              <a:rPr sz="950" spc="5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manual</a:t>
            </a:r>
            <a:r>
              <a:rPr sz="950" spc="6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effort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35" name="object 3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20" dirty="0"/>
              <a:t>Pawan</a:t>
            </a:r>
            <a:r>
              <a:rPr spc="15" dirty="0"/>
              <a:t> </a:t>
            </a:r>
            <a:r>
              <a:rPr dirty="0"/>
              <a:t>Goyal</a:t>
            </a:r>
            <a:r>
              <a:rPr spc="170" dirty="0"/>
              <a:t> </a:t>
            </a:r>
            <a:r>
              <a:rPr dirty="0"/>
              <a:t>(IIT</a:t>
            </a:r>
            <a:r>
              <a:rPr spc="15" dirty="0"/>
              <a:t> </a:t>
            </a:r>
            <a:r>
              <a:rPr spc="-10" dirty="0"/>
              <a:t>Kharagpur)</a:t>
            </a:r>
          </a:p>
        </p:txBody>
      </p:sp>
      <p:sp>
        <p:nvSpPr>
          <p:cNvPr id="37" name="object 37"/>
          <p:cNvSpPr txBox="1"/>
          <p:nvPr/>
        </p:nvSpPr>
        <p:spPr>
          <a:xfrm>
            <a:off x="364622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4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38" name="object 3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r>
              <a:rPr dirty="0"/>
              <a:t>9</a:t>
            </a:r>
            <a:r>
              <a:rPr spc="-5" dirty="0"/>
              <a:t> </a:t>
            </a:r>
            <a:r>
              <a:rPr spc="-110" dirty="0"/>
              <a:t>/</a:t>
            </a:r>
            <a:r>
              <a:rPr spc="15" dirty="0"/>
              <a:t> </a:t>
            </a:r>
            <a:r>
              <a:rPr spc="-25" dirty="0"/>
              <a:t>14</a:t>
            </a:r>
          </a:p>
        </p:txBody>
      </p:sp>
    </p:spTree>
  </p:cSld>
  <p:clrMapOvr>
    <a:masterClrMapping/>
  </p:clrMapOvr>
  <p:transition>
    <p:cut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HyperLex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560082"/>
            <a:ext cx="4483735" cy="985519"/>
            <a:chOff x="87743" y="560082"/>
            <a:chExt cx="4483735" cy="985519"/>
          </a:xfrm>
        </p:grpSpPr>
        <p:sp>
          <p:nvSpPr>
            <p:cNvPr id="4" name="object 4"/>
            <p:cNvSpPr/>
            <p:nvPr/>
          </p:nvSpPr>
          <p:spPr>
            <a:xfrm>
              <a:off x="87743" y="560082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4">
                  <a:moveTo>
                    <a:pt x="438176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66" y="185674"/>
                  </a:lnTo>
                  <a:lnTo>
                    <a:pt x="4432566" y="50800"/>
                  </a:lnTo>
                  <a:lnTo>
                    <a:pt x="4428558" y="31075"/>
                  </a:lnTo>
                  <a:lnTo>
                    <a:pt x="4417644" y="14922"/>
                  </a:lnTo>
                  <a:lnTo>
                    <a:pt x="4401491" y="4008"/>
                  </a:lnTo>
                  <a:lnTo>
                    <a:pt x="4381766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733094"/>
              <a:ext cx="4432566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1443634"/>
              <a:ext cx="101599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1430934"/>
              <a:ext cx="4381715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311" y="604316"/>
              <a:ext cx="50749" cy="839317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777367"/>
              <a:ext cx="4432935" cy="717550"/>
            </a:xfrm>
            <a:custGeom>
              <a:avLst/>
              <a:gdLst/>
              <a:ahLst/>
              <a:cxnLst/>
              <a:rect l="l" t="t" r="r" b="b"/>
              <a:pathLst>
                <a:path w="4432935" h="717550">
                  <a:moveTo>
                    <a:pt x="4432566" y="0"/>
                  </a:moveTo>
                  <a:lnTo>
                    <a:pt x="0" y="0"/>
                  </a:lnTo>
                  <a:lnTo>
                    <a:pt x="0" y="666267"/>
                  </a:lnTo>
                  <a:lnTo>
                    <a:pt x="4008" y="685992"/>
                  </a:lnTo>
                  <a:lnTo>
                    <a:pt x="14922" y="702144"/>
                  </a:lnTo>
                  <a:lnTo>
                    <a:pt x="31075" y="713058"/>
                  </a:lnTo>
                  <a:lnTo>
                    <a:pt x="50800" y="717067"/>
                  </a:lnTo>
                  <a:lnTo>
                    <a:pt x="4381766" y="717067"/>
                  </a:lnTo>
                  <a:lnTo>
                    <a:pt x="4401491" y="713058"/>
                  </a:lnTo>
                  <a:lnTo>
                    <a:pt x="4417644" y="702144"/>
                  </a:lnTo>
                  <a:lnTo>
                    <a:pt x="4428558" y="685992"/>
                  </a:lnTo>
                  <a:lnTo>
                    <a:pt x="4432566" y="666267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09" y="642404"/>
              <a:ext cx="0" cy="820419"/>
            </a:xfrm>
            <a:custGeom>
              <a:avLst/>
              <a:gdLst/>
              <a:ahLst/>
              <a:cxnLst/>
              <a:rect l="l" t="t" r="r" b="b"/>
              <a:pathLst>
                <a:path h="820419">
                  <a:moveTo>
                    <a:pt x="0" y="82028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09" y="62970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09" y="61700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09" y="60430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1597" y="827112"/>
              <a:ext cx="64757" cy="6475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1597" y="1209217"/>
              <a:ext cx="64757" cy="64757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125844" y="485435"/>
            <a:ext cx="4321175" cy="1001394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100" i="1" dirty="0">
                <a:solidFill>
                  <a:srgbClr val="3333B2"/>
                </a:solidFill>
                <a:latin typeface="Cambria"/>
                <a:cs typeface="Cambria"/>
              </a:rPr>
              <a:t>Key</a:t>
            </a:r>
            <a:r>
              <a:rPr sz="1100" i="1" spc="-25" dirty="0">
                <a:solidFill>
                  <a:srgbClr val="3333B2"/>
                </a:solidFill>
                <a:latin typeface="Cambria"/>
                <a:cs typeface="Cambria"/>
              </a:rPr>
              <a:t> </a:t>
            </a:r>
            <a:r>
              <a:rPr sz="1100" i="1" dirty="0">
                <a:solidFill>
                  <a:srgbClr val="3333B2"/>
                </a:solidFill>
                <a:latin typeface="Cambria"/>
                <a:cs typeface="Cambria"/>
              </a:rPr>
              <a:t>Idea:</a:t>
            </a:r>
            <a:r>
              <a:rPr sz="1100" i="1" spc="50" dirty="0">
                <a:solidFill>
                  <a:srgbClr val="3333B2"/>
                </a:solidFill>
                <a:latin typeface="Cambria"/>
                <a:cs typeface="Cambria"/>
              </a:rPr>
              <a:t> </a:t>
            </a:r>
            <a:r>
              <a:rPr sz="1100" i="1" spc="-75" dirty="0">
                <a:solidFill>
                  <a:srgbClr val="3333B2"/>
                </a:solidFill>
                <a:latin typeface="Cambria"/>
                <a:cs typeface="Cambria"/>
              </a:rPr>
              <a:t>Word</a:t>
            </a:r>
            <a:r>
              <a:rPr sz="1100" i="1" spc="15" dirty="0">
                <a:solidFill>
                  <a:srgbClr val="3333B2"/>
                </a:solidFill>
                <a:latin typeface="Cambria"/>
                <a:cs typeface="Cambria"/>
              </a:rPr>
              <a:t> </a:t>
            </a:r>
            <a:r>
              <a:rPr sz="1100" i="1" dirty="0">
                <a:solidFill>
                  <a:srgbClr val="3333B2"/>
                </a:solidFill>
                <a:latin typeface="Cambria"/>
                <a:cs typeface="Cambria"/>
              </a:rPr>
              <a:t>Sense</a:t>
            </a:r>
            <a:r>
              <a:rPr sz="1100" i="1" spc="-5" dirty="0">
                <a:solidFill>
                  <a:srgbClr val="3333B2"/>
                </a:solidFill>
                <a:latin typeface="Cambria"/>
                <a:cs typeface="Cambria"/>
              </a:rPr>
              <a:t> </a:t>
            </a:r>
            <a:r>
              <a:rPr sz="1100" i="1" spc="-10" dirty="0">
                <a:solidFill>
                  <a:srgbClr val="3333B2"/>
                </a:solidFill>
                <a:latin typeface="Cambria"/>
                <a:cs typeface="Cambria"/>
              </a:rPr>
              <a:t>Induction</a:t>
            </a:r>
            <a:endParaRPr sz="1100">
              <a:latin typeface="Cambria"/>
              <a:cs typeface="Cambria"/>
            </a:endParaRPr>
          </a:p>
          <a:p>
            <a:pPr marL="289560" marR="5080">
              <a:lnSpc>
                <a:spcPct val="118900"/>
              </a:lnSpc>
              <a:spcBef>
                <a:spcPts val="209"/>
              </a:spcBef>
            </a:pPr>
            <a:r>
              <a:rPr sz="950" dirty="0">
                <a:latin typeface="Trebuchet MS"/>
                <a:cs typeface="Trebuchet MS"/>
              </a:rPr>
              <a:t>Instead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using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“dictionary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defined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senses”,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extract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“senses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from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the </a:t>
            </a:r>
            <a:r>
              <a:rPr sz="950" dirty="0">
                <a:latin typeface="Trebuchet MS"/>
                <a:cs typeface="Trebuchet MS"/>
              </a:rPr>
              <a:t>corpus”</a:t>
            </a:r>
            <a:r>
              <a:rPr sz="950" spc="-3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itself</a:t>
            </a:r>
            <a:endParaRPr sz="950">
              <a:latin typeface="Trebuchet MS"/>
              <a:cs typeface="Trebuchet MS"/>
            </a:endParaRPr>
          </a:p>
          <a:p>
            <a:pPr marL="289560" marR="429895">
              <a:lnSpc>
                <a:spcPct val="118900"/>
              </a:lnSpc>
              <a:spcBef>
                <a:spcPts val="295"/>
              </a:spcBef>
            </a:pPr>
            <a:r>
              <a:rPr sz="950" dirty="0">
                <a:latin typeface="Trebuchet MS"/>
                <a:cs typeface="Trebuchet MS"/>
              </a:rPr>
              <a:t>These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“corpus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senses”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or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“uses”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correspond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to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clusters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similar </a:t>
            </a:r>
            <a:r>
              <a:rPr sz="950" dirty="0">
                <a:latin typeface="Trebuchet MS"/>
                <a:cs typeface="Trebuchet MS"/>
              </a:rPr>
              <a:t>contexts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spc="-40" dirty="0">
                <a:latin typeface="Trebuchet MS"/>
                <a:cs typeface="Trebuchet MS"/>
              </a:rPr>
              <a:t>for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-10" dirty="0">
                <a:latin typeface="Trebuchet MS"/>
                <a:cs typeface="Trebuchet MS"/>
              </a:rPr>
              <a:t> word.</a:t>
            </a:r>
            <a:endParaRPr sz="950">
              <a:latin typeface="Trebuchet MS"/>
              <a:cs typeface="Trebuchet MS"/>
            </a:endParaRPr>
          </a:p>
        </p:txBody>
      </p:sp>
      <p:pic>
        <p:nvPicPr>
          <p:cNvPr id="17" name="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43521" y="1709559"/>
            <a:ext cx="2921000" cy="1320799"/>
          </a:xfrm>
          <a:prstGeom prst="rect">
            <a:avLst/>
          </a:prstGeom>
        </p:spPr>
      </p:pic>
      <p:sp>
        <p:nvSpPr>
          <p:cNvPr id="23" name="object 2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20" dirty="0"/>
              <a:t>Pawan</a:t>
            </a:r>
            <a:r>
              <a:rPr spc="15" dirty="0"/>
              <a:t> </a:t>
            </a:r>
            <a:r>
              <a:rPr dirty="0"/>
              <a:t>Goyal</a:t>
            </a:r>
            <a:r>
              <a:rPr spc="170" dirty="0"/>
              <a:t> </a:t>
            </a:r>
            <a:r>
              <a:rPr dirty="0"/>
              <a:t>(IIT</a:t>
            </a:r>
            <a:r>
              <a:rPr spc="15" dirty="0"/>
              <a:t> </a:t>
            </a:r>
            <a:r>
              <a:rPr spc="-10" dirty="0"/>
              <a:t>Kharagpur)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360826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4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317426" y="3339672"/>
            <a:ext cx="236854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10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14</a:t>
            </a:r>
            <a:endParaRPr sz="600">
              <a:latin typeface="Cambria"/>
              <a:cs typeface="Cambria"/>
            </a:endParaRPr>
          </a:p>
        </p:txBody>
      </p:sp>
    </p:spTree>
  </p:cSld>
  <p:clrMapOvr>
    <a:masterClrMapping/>
  </p:clrMapOvr>
  <p:transition>
    <p:cut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HyperLex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647268"/>
            <a:ext cx="4483735" cy="2404745"/>
            <a:chOff x="87743" y="647268"/>
            <a:chExt cx="4483735" cy="2404745"/>
          </a:xfrm>
        </p:grpSpPr>
        <p:sp>
          <p:nvSpPr>
            <p:cNvPr id="4" name="object 4"/>
            <p:cNvSpPr/>
            <p:nvPr/>
          </p:nvSpPr>
          <p:spPr>
            <a:xfrm>
              <a:off x="87743" y="647268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6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66" y="185674"/>
                  </a:lnTo>
                  <a:lnTo>
                    <a:pt x="4432566" y="50800"/>
                  </a:lnTo>
                  <a:lnTo>
                    <a:pt x="4428558" y="31075"/>
                  </a:lnTo>
                  <a:lnTo>
                    <a:pt x="4417644" y="14922"/>
                  </a:lnTo>
                  <a:lnTo>
                    <a:pt x="4401491" y="4008"/>
                  </a:lnTo>
                  <a:lnTo>
                    <a:pt x="4381766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820293"/>
              <a:ext cx="4432566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2949956"/>
              <a:ext cx="101599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2937256"/>
              <a:ext cx="4381715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311" y="691502"/>
              <a:ext cx="50749" cy="2258453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864552"/>
              <a:ext cx="4432935" cy="2136775"/>
            </a:xfrm>
            <a:custGeom>
              <a:avLst/>
              <a:gdLst/>
              <a:ahLst/>
              <a:cxnLst/>
              <a:rect l="l" t="t" r="r" b="b"/>
              <a:pathLst>
                <a:path w="4432935" h="2136775">
                  <a:moveTo>
                    <a:pt x="4432566" y="0"/>
                  </a:moveTo>
                  <a:lnTo>
                    <a:pt x="0" y="0"/>
                  </a:lnTo>
                  <a:lnTo>
                    <a:pt x="0" y="2085403"/>
                  </a:lnTo>
                  <a:lnTo>
                    <a:pt x="4008" y="2105128"/>
                  </a:lnTo>
                  <a:lnTo>
                    <a:pt x="14922" y="2121281"/>
                  </a:lnTo>
                  <a:lnTo>
                    <a:pt x="31075" y="2132195"/>
                  </a:lnTo>
                  <a:lnTo>
                    <a:pt x="50800" y="2136203"/>
                  </a:lnTo>
                  <a:lnTo>
                    <a:pt x="4381766" y="2136203"/>
                  </a:lnTo>
                  <a:lnTo>
                    <a:pt x="4401491" y="2132195"/>
                  </a:lnTo>
                  <a:lnTo>
                    <a:pt x="4417644" y="2121281"/>
                  </a:lnTo>
                  <a:lnTo>
                    <a:pt x="4428558" y="2105128"/>
                  </a:lnTo>
                  <a:lnTo>
                    <a:pt x="4432566" y="2085403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09" y="729576"/>
              <a:ext cx="0" cy="2239645"/>
            </a:xfrm>
            <a:custGeom>
              <a:avLst/>
              <a:gdLst/>
              <a:ahLst/>
              <a:cxnLst/>
              <a:rect l="l" t="t" r="r" b="b"/>
              <a:pathLst>
                <a:path h="2239645">
                  <a:moveTo>
                    <a:pt x="0" y="223942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09" y="71688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09" y="70418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09" y="69148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1597" y="914298"/>
              <a:ext cx="64757" cy="6475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1597" y="1296403"/>
              <a:ext cx="64757" cy="64757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81597" y="1678508"/>
              <a:ext cx="64757" cy="64757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81597" y="1888540"/>
              <a:ext cx="64757" cy="64757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1597" y="2098573"/>
              <a:ext cx="64757" cy="64757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81597" y="2480678"/>
              <a:ext cx="64757" cy="64757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81597" y="2690711"/>
              <a:ext cx="64757" cy="64757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125844" y="572621"/>
            <a:ext cx="4324985" cy="2395220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100" i="1" spc="-20" dirty="0">
                <a:solidFill>
                  <a:srgbClr val="3333B2"/>
                </a:solidFill>
                <a:latin typeface="Cambria"/>
                <a:cs typeface="Cambria"/>
              </a:rPr>
              <a:t>Detecting</a:t>
            </a:r>
            <a:r>
              <a:rPr sz="1100" i="1" spc="-5" dirty="0">
                <a:solidFill>
                  <a:srgbClr val="3333B2"/>
                </a:solidFill>
                <a:latin typeface="Cambria"/>
                <a:cs typeface="Cambria"/>
              </a:rPr>
              <a:t> </a:t>
            </a:r>
            <a:r>
              <a:rPr sz="1100" i="1" spc="-10" dirty="0">
                <a:solidFill>
                  <a:srgbClr val="3333B2"/>
                </a:solidFill>
                <a:latin typeface="Cambria"/>
                <a:cs typeface="Cambria"/>
              </a:rPr>
              <a:t>Root</a:t>
            </a:r>
            <a:r>
              <a:rPr sz="1100" i="1" dirty="0">
                <a:solidFill>
                  <a:srgbClr val="3333B2"/>
                </a:solidFill>
                <a:latin typeface="Cambria"/>
                <a:cs typeface="Cambria"/>
              </a:rPr>
              <a:t> </a:t>
            </a:r>
            <a:r>
              <a:rPr sz="1100" i="1" spc="-20" dirty="0">
                <a:solidFill>
                  <a:srgbClr val="3333B2"/>
                </a:solidFill>
                <a:latin typeface="Cambria"/>
                <a:cs typeface="Cambria"/>
              </a:rPr>
              <a:t>Hubs</a:t>
            </a:r>
            <a:endParaRPr sz="1100">
              <a:latin typeface="Cambria"/>
              <a:cs typeface="Cambria"/>
            </a:endParaRPr>
          </a:p>
          <a:p>
            <a:pPr marL="289560" marR="209550">
              <a:lnSpc>
                <a:spcPct val="118900"/>
              </a:lnSpc>
              <a:spcBef>
                <a:spcPts val="209"/>
              </a:spcBef>
            </a:pPr>
            <a:r>
              <a:rPr sz="950" spc="-25" dirty="0">
                <a:latin typeface="Trebuchet MS"/>
                <a:cs typeface="Trebuchet MS"/>
              </a:rPr>
              <a:t>Different</a:t>
            </a:r>
            <a:r>
              <a:rPr sz="950" dirty="0">
                <a:latin typeface="Trebuchet MS"/>
                <a:cs typeface="Trebuchet MS"/>
              </a:rPr>
              <a:t> </a:t>
            </a:r>
            <a:r>
              <a:rPr sz="950" spc="60" dirty="0">
                <a:latin typeface="Trebuchet MS"/>
                <a:cs typeface="Trebuchet MS"/>
              </a:rPr>
              <a:t>uses</a:t>
            </a:r>
            <a:r>
              <a:rPr sz="950" dirty="0">
                <a:latin typeface="Trebuchet MS"/>
                <a:cs typeface="Trebuchet MS"/>
              </a:rPr>
              <a:t> of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 </a:t>
            </a:r>
            <a:r>
              <a:rPr sz="950" spc="-10" dirty="0">
                <a:latin typeface="Trebuchet MS"/>
                <a:cs typeface="Trebuchet MS"/>
              </a:rPr>
              <a:t>target</a:t>
            </a:r>
            <a:r>
              <a:rPr sz="950" dirty="0">
                <a:latin typeface="Trebuchet MS"/>
                <a:cs typeface="Trebuchet MS"/>
              </a:rPr>
              <a:t> word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form</a:t>
            </a:r>
            <a:r>
              <a:rPr sz="950" dirty="0">
                <a:latin typeface="Trebuchet MS"/>
                <a:cs typeface="Trebuchet MS"/>
              </a:rPr>
              <a:t> highly </a:t>
            </a:r>
            <a:r>
              <a:rPr sz="950" spc="-10" dirty="0">
                <a:latin typeface="Trebuchet MS"/>
                <a:cs typeface="Trebuchet MS"/>
              </a:rPr>
              <a:t>interconnected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bundles </a:t>
            </a:r>
            <a:r>
              <a:rPr sz="950" spc="-25" dirty="0">
                <a:latin typeface="Trebuchet MS"/>
                <a:cs typeface="Trebuchet MS"/>
              </a:rPr>
              <a:t>(or </a:t>
            </a:r>
            <a:r>
              <a:rPr sz="950" dirty="0">
                <a:latin typeface="Trebuchet MS"/>
                <a:cs typeface="Trebuchet MS"/>
              </a:rPr>
              <a:t>high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density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components)</a:t>
            </a:r>
            <a:endParaRPr sz="950">
              <a:latin typeface="Trebuchet MS"/>
              <a:cs typeface="Trebuchet MS"/>
            </a:endParaRPr>
          </a:p>
          <a:p>
            <a:pPr marL="289560" marR="256540">
              <a:lnSpc>
                <a:spcPct val="118900"/>
              </a:lnSpc>
              <a:spcBef>
                <a:spcPts val="295"/>
              </a:spcBef>
            </a:pPr>
            <a:r>
              <a:rPr sz="950" dirty="0">
                <a:latin typeface="Trebuchet MS"/>
                <a:cs typeface="Trebuchet MS"/>
              </a:rPr>
              <a:t>In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each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high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density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component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one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nodes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(hub)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spc="55" dirty="0">
                <a:latin typeface="Trebuchet MS"/>
                <a:cs typeface="Trebuchet MS"/>
              </a:rPr>
              <a:t>has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higher </a:t>
            </a:r>
            <a:r>
              <a:rPr sz="950" dirty="0">
                <a:latin typeface="Trebuchet MS"/>
                <a:cs typeface="Trebuchet MS"/>
              </a:rPr>
              <a:t>degree than the </a:t>
            </a:r>
            <a:r>
              <a:rPr sz="950" spc="-10" dirty="0">
                <a:latin typeface="Trebuchet MS"/>
                <a:cs typeface="Trebuchet MS"/>
              </a:rPr>
              <a:t>others.</a:t>
            </a:r>
            <a:endParaRPr sz="950">
              <a:latin typeface="Trebuchet MS"/>
              <a:cs typeface="Trebuchet MS"/>
            </a:endParaRPr>
          </a:p>
          <a:p>
            <a:pPr marL="289560">
              <a:lnSpc>
                <a:spcPct val="100000"/>
              </a:lnSpc>
              <a:spcBef>
                <a:spcPts val="365"/>
              </a:spcBef>
            </a:pPr>
            <a:r>
              <a:rPr sz="950" b="1" dirty="0">
                <a:latin typeface="Trebuchet MS"/>
                <a:cs typeface="Trebuchet MS"/>
              </a:rPr>
              <a:t>Step</a:t>
            </a:r>
            <a:r>
              <a:rPr sz="950" b="1" spc="30" dirty="0">
                <a:latin typeface="Trebuchet MS"/>
                <a:cs typeface="Trebuchet MS"/>
              </a:rPr>
              <a:t> </a:t>
            </a:r>
            <a:r>
              <a:rPr sz="950" b="1" dirty="0">
                <a:latin typeface="Trebuchet MS"/>
                <a:cs typeface="Trebuchet MS"/>
              </a:rPr>
              <a:t>1:</a:t>
            </a:r>
            <a:r>
              <a:rPr sz="950" b="1" spc="1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Construct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co-occurrence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graph,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1100" i="1" spc="-25" dirty="0">
                <a:latin typeface="Cambria"/>
                <a:cs typeface="Cambria"/>
              </a:rPr>
              <a:t>G</a:t>
            </a:r>
            <a:r>
              <a:rPr sz="950" spc="-25" dirty="0">
                <a:latin typeface="Trebuchet MS"/>
                <a:cs typeface="Trebuchet MS"/>
              </a:rPr>
              <a:t>.</a:t>
            </a:r>
            <a:endParaRPr sz="950">
              <a:latin typeface="Trebuchet MS"/>
              <a:cs typeface="Trebuchet MS"/>
            </a:endParaRPr>
          </a:p>
          <a:p>
            <a:pPr marL="289560">
              <a:lnSpc>
                <a:spcPct val="100000"/>
              </a:lnSpc>
              <a:spcBef>
                <a:spcPts val="335"/>
              </a:spcBef>
            </a:pPr>
            <a:r>
              <a:rPr sz="950" b="1" dirty="0">
                <a:latin typeface="Trebuchet MS"/>
                <a:cs typeface="Trebuchet MS"/>
              </a:rPr>
              <a:t>Step</a:t>
            </a:r>
            <a:r>
              <a:rPr sz="950" b="1" spc="35" dirty="0">
                <a:latin typeface="Trebuchet MS"/>
                <a:cs typeface="Trebuchet MS"/>
              </a:rPr>
              <a:t> </a:t>
            </a:r>
            <a:r>
              <a:rPr sz="950" b="1" dirty="0">
                <a:latin typeface="Trebuchet MS"/>
                <a:cs typeface="Trebuchet MS"/>
              </a:rPr>
              <a:t>2:</a:t>
            </a:r>
            <a:r>
              <a:rPr sz="950" b="1" spc="1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Arrange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nodes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in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1100" i="1" spc="145" dirty="0">
                <a:latin typeface="Cambria"/>
                <a:cs typeface="Cambria"/>
              </a:rPr>
              <a:t>G</a:t>
            </a:r>
            <a:r>
              <a:rPr sz="1100" i="1" spc="80" dirty="0">
                <a:latin typeface="Cambria"/>
                <a:cs typeface="Cambria"/>
              </a:rPr>
              <a:t> </a:t>
            </a:r>
            <a:r>
              <a:rPr sz="950" dirty="0">
                <a:latin typeface="Trebuchet MS"/>
                <a:cs typeface="Trebuchet MS"/>
              </a:rPr>
              <a:t>in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decreasing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order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degree.</a:t>
            </a:r>
            <a:endParaRPr sz="950">
              <a:latin typeface="Trebuchet MS"/>
              <a:cs typeface="Trebuchet MS"/>
            </a:endParaRPr>
          </a:p>
          <a:p>
            <a:pPr marL="289560" marR="5080">
              <a:lnSpc>
                <a:spcPct val="113999"/>
              </a:lnSpc>
              <a:spcBef>
                <a:spcPts val="150"/>
              </a:spcBef>
            </a:pPr>
            <a:r>
              <a:rPr sz="950" b="1" dirty="0">
                <a:latin typeface="Trebuchet MS"/>
                <a:cs typeface="Trebuchet MS"/>
              </a:rPr>
              <a:t>Step</a:t>
            </a:r>
            <a:r>
              <a:rPr sz="950" b="1" spc="10" dirty="0">
                <a:latin typeface="Trebuchet MS"/>
                <a:cs typeface="Trebuchet MS"/>
              </a:rPr>
              <a:t> </a:t>
            </a:r>
            <a:r>
              <a:rPr sz="950" b="1" dirty="0">
                <a:latin typeface="Trebuchet MS"/>
                <a:cs typeface="Trebuchet MS"/>
              </a:rPr>
              <a:t>3:</a:t>
            </a:r>
            <a:r>
              <a:rPr sz="950" b="1" spc="8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Select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node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from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1100" i="1" spc="145" dirty="0">
                <a:latin typeface="Cambria"/>
                <a:cs typeface="Cambria"/>
              </a:rPr>
              <a:t>G</a:t>
            </a:r>
            <a:r>
              <a:rPr sz="1100" i="1" spc="55" dirty="0">
                <a:latin typeface="Cambria"/>
                <a:cs typeface="Cambria"/>
              </a:rPr>
              <a:t> </a:t>
            </a:r>
            <a:r>
              <a:rPr sz="950" dirty="0">
                <a:latin typeface="Trebuchet MS"/>
                <a:cs typeface="Trebuchet MS"/>
              </a:rPr>
              <a:t>which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55" dirty="0">
                <a:latin typeface="Trebuchet MS"/>
                <a:cs typeface="Trebuchet MS"/>
              </a:rPr>
              <a:t>has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highest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degree.</a:t>
            </a:r>
            <a:r>
              <a:rPr sz="950" spc="8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This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node </a:t>
            </a:r>
            <a:r>
              <a:rPr sz="950" spc="-50" dirty="0">
                <a:latin typeface="Trebuchet MS"/>
                <a:cs typeface="Trebuchet MS"/>
              </a:rPr>
              <a:t>will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be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hub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spc="-35" dirty="0">
                <a:latin typeface="Trebuchet MS"/>
                <a:cs typeface="Trebuchet MS"/>
              </a:rPr>
              <a:t>first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high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density</a:t>
            </a:r>
            <a:r>
              <a:rPr sz="950" spc="-10" dirty="0">
                <a:latin typeface="Trebuchet MS"/>
                <a:cs typeface="Trebuchet MS"/>
              </a:rPr>
              <a:t> component.</a:t>
            </a:r>
            <a:endParaRPr sz="950">
              <a:latin typeface="Trebuchet MS"/>
              <a:cs typeface="Trebuchet MS"/>
            </a:endParaRPr>
          </a:p>
          <a:p>
            <a:pPr marL="289560">
              <a:lnSpc>
                <a:spcPct val="100000"/>
              </a:lnSpc>
              <a:spcBef>
                <a:spcPts val="360"/>
              </a:spcBef>
            </a:pPr>
            <a:r>
              <a:rPr sz="950" b="1" dirty="0">
                <a:latin typeface="Trebuchet MS"/>
                <a:cs typeface="Trebuchet MS"/>
              </a:rPr>
              <a:t>Step</a:t>
            </a:r>
            <a:r>
              <a:rPr sz="950" b="1" spc="10" dirty="0">
                <a:latin typeface="Trebuchet MS"/>
                <a:cs typeface="Trebuchet MS"/>
              </a:rPr>
              <a:t> </a:t>
            </a:r>
            <a:r>
              <a:rPr sz="950" b="1" dirty="0">
                <a:latin typeface="Trebuchet MS"/>
                <a:cs typeface="Trebuchet MS"/>
              </a:rPr>
              <a:t>4:</a:t>
            </a:r>
            <a:r>
              <a:rPr sz="950" b="1" spc="8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Delete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this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hub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and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all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its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neighbors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from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1100" i="1" spc="-25" dirty="0">
                <a:latin typeface="Cambria"/>
                <a:cs typeface="Cambria"/>
              </a:rPr>
              <a:t>G</a:t>
            </a:r>
            <a:r>
              <a:rPr sz="950" spc="-25" dirty="0">
                <a:latin typeface="Trebuchet MS"/>
                <a:cs typeface="Trebuchet MS"/>
              </a:rPr>
              <a:t>.</a:t>
            </a:r>
            <a:endParaRPr sz="950">
              <a:latin typeface="Trebuchet MS"/>
              <a:cs typeface="Trebuchet MS"/>
            </a:endParaRPr>
          </a:p>
          <a:p>
            <a:pPr marL="289560" marR="241300">
              <a:lnSpc>
                <a:spcPct val="118900"/>
              </a:lnSpc>
              <a:spcBef>
                <a:spcPts val="270"/>
              </a:spcBef>
            </a:pPr>
            <a:r>
              <a:rPr sz="950" b="1" dirty="0">
                <a:latin typeface="Trebuchet MS"/>
                <a:cs typeface="Trebuchet MS"/>
              </a:rPr>
              <a:t>Step</a:t>
            </a:r>
            <a:r>
              <a:rPr sz="950" b="1" spc="30" dirty="0">
                <a:latin typeface="Trebuchet MS"/>
                <a:cs typeface="Trebuchet MS"/>
              </a:rPr>
              <a:t> </a:t>
            </a:r>
            <a:r>
              <a:rPr sz="950" b="1" dirty="0">
                <a:latin typeface="Trebuchet MS"/>
                <a:cs typeface="Trebuchet MS"/>
              </a:rPr>
              <a:t>5:</a:t>
            </a:r>
            <a:r>
              <a:rPr sz="950" b="1" spc="10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Repeat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Step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3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and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4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to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detect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hubs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other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high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density components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20" dirty="0"/>
              <a:t>Pawan</a:t>
            </a:r>
            <a:r>
              <a:rPr spc="15" dirty="0"/>
              <a:t> </a:t>
            </a:r>
            <a:r>
              <a:rPr dirty="0"/>
              <a:t>Goyal</a:t>
            </a:r>
            <a:r>
              <a:rPr spc="170" dirty="0"/>
              <a:t> </a:t>
            </a:r>
            <a:r>
              <a:rPr dirty="0"/>
              <a:t>(IIT</a:t>
            </a:r>
            <a:r>
              <a:rPr spc="15" dirty="0"/>
              <a:t> </a:t>
            </a:r>
            <a:r>
              <a:rPr spc="-10" dirty="0"/>
              <a:t>Kharagpur)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360826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4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317426" y="3339672"/>
            <a:ext cx="236854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11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14</a:t>
            </a:r>
            <a:endParaRPr sz="600">
              <a:latin typeface="Cambria"/>
              <a:cs typeface="Cambria"/>
            </a:endParaRPr>
          </a:p>
        </p:txBody>
      </p:sp>
    </p:spTree>
  </p:cSld>
  <p:clrMapOvr>
    <a:masterClrMapping/>
  </p:clrMapOvr>
  <p:transition>
    <p:cut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4608195" cy="351790"/>
          </a:xfrm>
          <a:custGeom>
            <a:avLst/>
            <a:gdLst/>
            <a:ahLst/>
            <a:cxnLst/>
            <a:rect l="l" t="t" r="r" b="b"/>
            <a:pathLst>
              <a:path w="4608195" h="351790">
                <a:moveTo>
                  <a:pt x="4608004" y="0"/>
                </a:moveTo>
                <a:lnTo>
                  <a:pt x="0" y="0"/>
                </a:lnTo>
                <a:lnTo>
                  <a:pt x="0" y="351383"/>
                </a:lnTo>
                <a:lnTo>
                  <a:pt x="4608004" y="351383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5300" y="60502"/>
            <a:ext cx="238569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HyperLex:</a:t>
            </a:r>
            <a:r>
              <a:rPr sz="1400" i="1" spc="16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Detecting</a:t>
            </a:r>
            <a:r>
              <a:rPr sz="1400" i="1" spc="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Root</a:t>
            </a:r>
            <a:r>
              <a:rPr sz="1400" i="1" spc="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spc="-20" dirty="0">
                <a:solidFill>
                  <a:srgbClr val="FFFFFF"/>
                </a:solidFill>
                <a:latin typeface="Cambria"/>
                <a:cs typeface="Cambria"/>
              </a:rPr>
              <a:t>Hubs</a:t>
            </a:r>
            <a:endParaRPr sz="140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0596" y="1079385"/>
            <a:ext cx="3800475" cy="1282699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20" dirty="0"/>
              <a:t>Pawan</a:t>
            </a:r>
            <a:r>
              <a:rPr spc="15" dirty="0"/>
              <a:t> </a:t>
            </a:r>
            <a:r>
              <a:rPr dirty="0"/>
              <a:t>Goyal</a:t>
            </a:r>
            <a:r>
              <a:rPr spc="170" dirty="0"/>
              <a:t> </a:t>
            </a:r>
            <a:r>
              <a:rPr dirty="0"/>
              <a:t>(IIT</a:t>
            </a:r>
            <a:r>
              <a:rPr spc="15" dirty="0"/>
              <a:t> </a:t>
            </a:r>
            <a:r>
              <a:rPr spc="-10" dirty="0"/>
              <a:t>Kharagpur)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60826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4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/>
              <a:t>12</a:t>
            </a:r>
            <a:r>
              <a:rPr spc="-20" dirty="0"/>
              <a:t> </a:t>
            </a:r>
            <a:r>
              <a:rPr spc="-110" dirty="0"/>
              <a:t>/</a:t>
            </a:r>
            <a:r>
              <a:rPr spc="15" dirty="0"/>
              <a:t> </a:t>
            </a:r>
            <a:r>
              <a:rPr spc="-25" dirty="0"/>
              <a:t>14</a:t>
            </a:r>
          </a:p>
        </p:txBody>
      </p:sp>
    </p:spTree>
  </p:cSld>
  <p:clrMapOvr>
    <a:masterClrMapping/>
  </p:clrMapOvr>
  <p:transition>
    <p:cut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Delineating</a:t>
            </a:r>
            <a:r>
              <a:rPr spc="50" dirty="0"/>
              <a:t> </a:t>
            </a:r>
            <a:r>
              <a:rPr spc="-10" dirty="0"/>
              <a:t>Components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597" y="1041108"/>
            <a:ext cx="64757" cy="6475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597" y="1251140"/>
            <a:ext cx="64757" cy="64757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87743" y="1695424"/>
            <a:ext cx="4483735" cy="884555"/>
            <a:chOff x="87743" y="1695424"/>
            <a:chExt cx="4483735" cy="884555"/>
          </a:xfrm>
        </p:grpSpPr>
        <p:sp>
          <p:nvSpPr>
            <p:cNvPr id="6" name="object 6"/>
            <p:cNvSpPr/>
            <p:nvPr/>
          </p:nvSpPr>
          <p:spPr>
            <a:xfrm>
              <a:off x="87743" y="1695424"/>
              <a:ext cx="4432935" cy="199390"/>
            </a:xfrm>
            <a:custGeom>
              <a:avLst/>
              <a:gdLst/>
              <a:ahLst/>
              <a:cxnLst/>
              <a:rect l="l" t="t" r="r" b="b"/>
              <a:pathLst>
                <a:path w="4432935" h="199389">
                  <a:moveTo>
                    <a:pt x="438176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98818"/>
                  </a:lnTo>
                  <a:lnTo>
                    <a:pt x="4432566" y="198818"/>
                  </a:lnTo>
                  <a:lnTo>
                    <a:pt x="4432566" y="50800"/>
                  </a:lnTo>
                  <a:lnTo>
                    <a:pt x="4428558" y="31075"/>
                  </a:lnTo>
                  <a:lnTo>
                    <a:pt x="4417644" y="14922"/>
                  </a:lnTo>
                  <a:lnTo>
                    <a:pt x="4401491" y="4008"/>
                  </a:lnTo>
                  <a:lnTo>
                    <a:pt x="4381766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7744" y="1881593"/>
              <a:ext cx="4432566" cy="5060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8544" y="2478341"/>
              <a:ext cx="101599" cy="10160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89344" y="2465641"/>
              <a:ext cx="4381715" cy="11430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520311" y="1739671"/>
              <a:ext cx="50749" cy="738670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87743" y="1925866"/>
              <a:ext cx="4432935" cy="603885"/>
            </a:xfrm>
            <a:custGeom>
              <a:avLst/>
              <a:gdLst/>
              <a:ahLst/>
              <a:cxnLst/>
              <a:rect l="l" t="t" r="r" b="b"/>
              <a:pathLst>
                <a:path w="4432935" h="603885">
                  <a:moveTo>
                    <a:pt x="4432566" y="0"/>
                  </a:moveTo>
                  <a:lnTo>
                    <a:pt x="0" y="0"/>
                  </a:lnTo>
                  <a:lnTo>
                    <a:pt x="0" y="552475"/>
                  </a:lnTo>
                  <a:lnTo>
                    <a:pt x="4008" y="572200"/>
                  </a:lnTo>
                  <a:lnTo>
                    <a:pt x="14922" y="588352"/>
                  </a:lnTo>
                  <a:lnTo>
                    <a:pt x="31075" y="599266"/>
                  </a:lnTo>
                  <a:lnTo>
                    <a:pt x="50800" y="603275"/>
                  </a:lnTo>
                  <a:lnTo>
                    <a:pt x="4381766" y="603275"/>
                  </a:lnTo>
                  <a:lnTo>
                    <a:pt x="4401491" y="599266"/>
                  </a:lnTo>
                  <a:lnTo>
                    <a:pt x="4417644" y="588352"/>
                  </a:lnTo>
                  <a:lnTo>
                    <a:pt x="4428558" y="572200"/>
                  </a:lnTo>
                  <a:lnTo>
                    <a:pt x="4432566" y="552475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09" y="1777758"/>
              <a:ext cx="0" cy="720090"/>
            </a:xfrm>
            <a:custGeom>
              <a:avLst/>
              <a:gdLst/>
              <a:ahLst/>
              <a:cxnLst/>
              <a:rect l="l" t="t" r="r" b="b"/>
              <a:pathLst>
                <a:path h="720089">
                  <a:moveTo>
                    <a:pt x="0" y="719632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09" y="176505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520309" y="175235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520309" y="173965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75044" y="910597"/>
            <a:ext cx="4187825" cy="1253490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340360">
              <a:lnSpc>
                <a:spcPct val="100000"/>
              </a:lnSpc>
              <a:spcBef>
                <a:spcPts val="605"/>
              </a:spcBef>
            </a:pPr>
            <a:r>
              <a:rPr sz="950" dirty="0">
                <a:latin typeface="Trebuchet MS"/>
                <a:cs typeface="Trebuchet MS"/>
              </a:rPr>
              <a:t>Attach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each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node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to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root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hub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closest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to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it.</a:t>
            </a:r>
            <a:endParaRPr sz="950">
              <a:latin typeface="Trebuchet MS"/>
              <a:cs typeface="Trebuchet MS"/>
            </a:endParaRPr>
          </a:p>
          <a:p>
            <a:pPr marL="340360" marR="30480">
              <a:lnSpc>
                <a:spcPct val="118900"/>
              </a:lnSpc>
              <a:spcBef>
                <a:spcPts val="300"/>
              </a:spcBef>
            </a:pP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distance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between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two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nodes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is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measured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spc="70" dirty="0">
                <a:latin typeface="Trebuchet MS"/>
                <a:cs typeface="Trebuchet MS"/>
              </a:rPr>
              <a:t>as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smallest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spc="50" dirty="0">
                <a:latin typeface="Trebuchet MS"/>
                <a:cs typeface="Trebuchet MS"/>
              </a:rPr>
              <a:t>sum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of </a:t>
            </a:r>
            <a:r>
              <a:rPr sz="950" dirty="0">
                <a:latin typeface="Trebuchet MS"/>
                <a:cs typeface="Trebuchet MS"/>
              </a:rPr>
              <a:t>weights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edges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on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paths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linking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them.</a:t>
            </a:r>
            <a:endParaRPr sz="9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60"/>
              </a:spcBef>
            </a:pPr>
            <a:endParaRPr sz="950">
              <a:latin typeface="Trebuchet MS"/>
              <a:cs typeface="Trebuchet MS"/>
            </a:endParaRPr>
          </a:p>
          <a:p>
            <a:pPr marL="63500">
              <a:lnSpc>
                <a:spcPct val="100000"/>
              </a:lnSpc>
            </a:pPr>
            <a:r>
              <a:rPr sz="1100" i="1" spc="-20" dirty="0">
                <a:solidFill>
                  <a:srgbClr val="3333B2"/>
                </a:solidFill>
                <a:latin typeface="Cambria"/>
                <a:cs typeface="Cambria"/>
              </a:rPr>
              <a:t>Computing</a:t>
            </a:r>
            <a:r>
              <a:rPr sz="1100" i="1" spc="-15" dirty="0">
                <a:solidFill>
                  <a:srgbClr val="3333B2"/>
                </a:solidFill>
                <a:latin typeface="Cambria"/>
                <a:cs typeface="Cambria"/>
              </a:rPr>
              <a:t> </a:t>
            </a:r>
            <a:r>
              <a:rPr sz="1100" i="1" spc="-20" dirty="0">
                <a:solidFill>
                  <a:srgbClr val="3333B2"/>
                </a:solidFill>
                <a:latin typeface="Cambria"/>
                <a:cs typeface="Cambria"/>
              </a:rPr>
              <a:t>distance</a:t>
            </a:r>
            <a:r>
              <a:rPr sz="1100" i="1" spc="-15" dirty="0">
                <a:solidFill>
                  <a:srgbClr val="3333B2"/>
                </a:solidFill>
                <a:latin typeface="Cambria"/>
                <a:cs typeface="Cambria"/>
              </a:rPr>
              <a:t> </a:t>
            </a:r>
            <a:r>
              <a:rPr sz="1100" i="1" spc="-35" dirty="0">
                <a:solidFill>
                  <a:srgbClr val="3333B2"/>
                </a:solidFill>
                <a:latin typeface="Cambria"/>
                <a:cs typeface="Cambria"/>
              </a:rPr>
              <a:t>between</a:t>
            </a:r>
            <a:r>
              <a:rPr sz="1100" i="1" spc="-15" dirty="0">
                <a:solidFill>
                  <a:srgbClr val="3333B2"/>
                </a:solidFill>
                <a:latin typeface="Cambria"/>
                <a:cs typeface="Cambria"/>
              </a:rPr>
              <a:t> </a:t>
            </a:r>
            <a:r>
              <a:rPr sz="1100" i="1" spc="-45" dirty="0">
                <a:solidFill>
                  <a:srgbClr val="3333B2"/>
                </a:solidFill>
                <a:latin typeface="Cambria"/>
                <a:cs typeface="Cambria"/>
              </a:rPr>
              <a:t>two</a:t>
            </a:r>
            <a:r>
              <a:rPr sz="1100" i="1" spc="-15" dirty="0">
                <a:solidFill>
                  <a:srgbClr val="3333B2"/>
                </a:solidFill>
                <a:latin typeface="Cambria"/>
                <a:cs typeface="Cambria"/>
              </a:rPr>
              <a:t> </a:t>
            </a:r>
            <a:r>
              <a:rPr sz="1100" i="1" spc="-10" dirty="0">
                <a:solidFill>
                  <a:srgbClr val="3333B2"/>
                </a:solidFill>
                <a:latin typeface="Cambria"/>
                <a:cs typeface="Cambria"/>
              </a:rPr>
              <a:t>nodes</a:t>
            </a:r>
            <a:r>
              <a:rPr sz="1100" i="1" spc="-15" dirty="0">
                <a:solidFill>
                  <a:srgbClr val="3333B2"/>
                </a:solidFill>
                <a:latin typeface="Cambria"/>
                <a:cs typeface="Cambria"/>
              </a:rPr>
              <a:t> </a:t>
            </a:r>
            <a:r>
              <a:rPr sz="1100" i="1" dirty="0">
                <a:solidFill>
                  <a:srgbClr val="3333B2"/>
                </a:solidFill>
                <a:latin typeface="Cambria"/>
                <a:cs typeface="Cambria"/>
              </a:rPr>
              <a:t>w</a:t>
            </a:r>
            <a:r>
              <a:rPr sz="1200" i="1" baseline="-10416" dirty="0">
                <a:solidFill>
                  <a:srgbClr val="3333B2"/>
                </a:solidFill>
                <a:latin typeface="Cambria"/>
                <a:cs typeface="Cambria"/>
              </a:rPr>
              <a:t>i</a:t>
            </a:r>
            <a:r>
              <a:rPr sz="1200" i="1" spc="135" baseline="-10416" dirty="0">
                <a:solidFill>
                  <a:srgbClr val="3333B2"/>
                </a:solidFill>
                <a:latin typeface="Cambria"/>
                <a:cs typeface="Cambria"/>
              </a:rPr>
              <a:t> </a:t>
            </a:r>
            <a:r>
              <a:rPr sz="1100" i="1" spc="-10" dirty="0">
                <a:solidFill>
                  <a:srgbClr val="3333B2"/>
                </a:solidFill>
                <a:latin typeface="Cambria"/>
                <a:cs typeface="Cambria"/>
              </a:rPr>
              <a:t>and</a:t>
            </a:r>
            <a:r>
              <a:rPr sz="1100" i="1" spc="-15" dirty="0">
                <a:solidFill>
                  <a:srgbClr val="3333B2"/>
                </a:solidFill>
                <a:latin typeface="Cambria"/>
                <a:cs typeface="Cambria"/>
              </a:rPr>
              <a:t> </a:t>
            </a:r>
            <a:r>
              <a:rPr sz="1100" i="1" spc="-25" dirty="0">
                <a:solidFill>
                  <a:srgbClr val="3333B2"/>
                </a:solidFill>
                <a:latin typeface="Cambria"/>
                <a:cs typeface="Cambria"/>
              </a:rPr>
              <a:t>w</a:t>
            </a:r>
            <a:r>
              <a:rPr sz="1200" i="1" spc="-37" baseline="-10416" dirty="0">
                <a:solidFill>
                  <a:srgbClr val="3333B2"/>
                </a:solidFill>
                <a:latin typeface="Cambria"/>
                <a:cs typeface="Cambria"/>
              </a:rPr>
              <a:t>j</a:t>
            </a:r>
            <a:endParaRPr sz="1200" baseline="-10416">
              <a:latin typeface="Cambria"/>
              <a:cs typeface="Cambria"/>
            </a:endParaRPr>
          </a:p>
          <a:p>
            <a:pPr marL="269875" algn="ctr">
              <a:lnSpc>
                <a:spcPct val="100000"/>
              </a:lnSpc>
              <a:spcBef>
                <a:spcPts val="1010"/>
              </a:spcBef>
            </a:pPr>
            <a:r>
              <a:rPr sz="1100" i="1" dirty="0">
                <a:latin typeface="Cambria"/>
                <a:cs typeface="Cambria"/>
              </a:rPr>
              <a:t>w</a:t>
            </a:r>
            <a:r>
              <a:rPr sz="1200" i="1" baseline="-10416" dirty="0">
                <a:latin typeface="Cambria"/>
                <a:cs typeface="Cambria"/>
              </a:rPr>
              <a:t>ij</a:t>
            </a:r>
            <a:r>
              <a:rPr sz="1200" i="1" spc="172" baseline="-10416" dirty="0">
                <a:latin typeface="Cambria"/>
                <a:cs typeface="Cambria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=</a:t>
            </a:r>
            <a:r>
              <a:rPr sz="1100" spc="-95" dirty="0">
                <a:latin typeface="Lucida Sans Unicode"/>
                <a:cs typeface="Lucida Sans Unicode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1</a:t>
            </a:r>
            <a:r>
              <a:rPr sz="1100" spc="-125" dirty="0">
                <a:latin typeface="Times New Roman"/>
                <a:cs typeface="Times New Roman"/>
              </a:rPr>
              <a:t> </a:t>
            </a:r>
            <a:r>
              <a:rPr sz="1100" spc="-190" dirty="0">
                <a:latin typeface="Lucida Sans Unicode"/>
                <a:cs typeface="Lucida Sans Unicode"/>
              </a:rPr>
              <a:t>−</a:t>
            </a:r>
            <a:r>
              <a:rPr sz="1100" spc="-195" dirty="0">
                <a:latin typeface="Lucida Sans Unicode"/>
                <a:cs typeface="Lucida Sans Unicode"/>
              </a:rPr>
              <a:t> </a:t>
            </a:r>
            <a:r>
              <a:rPr sz="1100" i="1" spc="-30" dirty="0">
                <a:latin typeface="Cambria"/>
                <a:cs typeface="Cambria"/>
              </a:rPr>
              <a:t>max</a:t>
            </a:r>
            <a:r>
              <a:rPr sz="1100" spc="-30" dirty="0">
                <a:latin typeface="Lucida Sans Unicode"/>
                <a:cs typeface="Lucida Sans Unicode"/>
              </a:rPr>
              <a:t>{</a:t>
            </a:r>
            <a:r>
              <a:rPr sz="1100" i="1" spc="-30" dirty="0">
                <a:latin typeface="Cambria"/>
                <a:cs typeface="Cambria"/>
              </a:rPr>
              <a:t>P</a:t>
            </a:r>
            <a:r>
              <a:rPr sz="1100" spc="-30" dirty="0">
                <a:latin typeface="Lucida Sans Unicode"/>
                <a:cs typeface="Lucida Sans Unicode"/>
              </a:rPr>
              <a:t>(</a:t>
            </a:r>
            <a:r>
              <a:rPr sz="1100" i="1" spc="-30" dirty="0">
                <a:latin typeface="Cambria"/>
                <a:cs typeface="Cambria"/>
              </a:rPr>
              <a:t>w</a:t>
            </a:r>
            <a:r>
              <a:rPr sz="1200" i="1" spc="-44" baseline="-10416" dirty="0">
                <a:latin typeface="Cambria"/>
                <a:cs typeface="Cambria"/>
              </a:rPr>
              <a:t>i</a:t>
            </a:r>
            <a:r>
              <a:rPr sz="1100" spc="-30" dirty="0">
                <a:latin typeface="Lucida Sans Unicode"/>
                <a:cs typeface="Lucida Sans Unicode"/>
              </a:rPr>
              <a:t>|</a:t>
            </a:r>
            <a:r>
              <a:rPr sz="1100" i="1" spc="-30" dirty="0">
                <a:latin typeface="Cambria"/>
                <a:cs typeface="Cambria"/>
              </a:rPr>
              <a:t>w</a:t>
            </a:r>
            <a:r>
              <a:rPr sz="1200" i="1" spc="-44" baseline="-10416" dirty="0">
                <a:latin typeface="Cambria"/>
                <a:cs typeface="Cambria"/>
              </a:rPr>
              <a:t>j</a:t>
            </a:r>
            <a:r>
              <a:rPr sz="1100" spc="-30" dirty="0">
                <a:latin typeface="Lucida Sans Unicode"/>
                <a:cs typeface="Lucida Sans Unicode"/>
              </a:rPr>
              <a:t>),</a:t>
            </a:r>
            <a:r>
              <a:rPr sz="1100" spc="-225" dirty="0">
                <a:latin typeface="Lucida Sans Unicode"/>
                <a:cs typeface="Lucida Sans Unicode"/>
              </a:rPr>
              <a:t> </a:t>
            </a:r>
            <a:r>
              <a:rPr sz="1100" i="1" spc="-10" dirty="0">
                <a:latin typeface="Cambria"/>
                <a:cs typeface="Cambria"/>
              </a:rPr>
              <a:t>P</a:t>
            </a:r>
            <a:r>
              <a:rPr sz="1100" spc="-10" dirty="0">
                <a:latin typeface="Lucida Sans Unicode"/>
                <a:cs typeface="Lucida Sans Unicode"/>
              </a:rPr>
              <a:t>(</a:t>
            </a:r>
            <a:r>
              <a:rPr sz="1100" i="1" spc="-10" dirty="0">
                <a:latin typeface="Cambria"/>
                <a:cs typeface="Cambria"/>
              </a:rPr>
              <a:t>w</a:t>
            </a:r>
            <a:r>
              <a:rPr sz="1200" i="1" spc="-15" baseline="-10416" dirty="0">
                <a:latin typeface="Cambria"/>
                <a:cs typeface="Cambria"/>
              </a:rPr>
              <a:t>j</a:t>
            </a:r>
            <a:r>
              <a:rPr sz="1100" spc="-10" dirty="0">
                <a:latin typeface="Lucida Sans Unicode"/>
                <a:cs typeface="Lucida Sans Unicode"/>
              </a:rPr>
              <a:t>|</a:t>
            </a:r>
            <a:r>
              <a:rPr sz="1100" i="1" spc="-10" dirty="0">
                <a:latin typeface="Cambria"/>
                <a:cs typeface="Cambria"/>
              </a:rPr>
              <a:t>w</a:t>
            </a:r>
            <a:r>
              <a:rPr sz="1200" i="1" spc="-15" baseline="-10416" dirty="0">
                <a:latin typeface="Cambria"/>
                <a:cs typeface="Cambria"/>
              </a:rPr>
              <a:t>i</a:t>
            </a:r>
            <a:r>
              <a:rPr sz="1100" spc="-10" dirty="0">
                <a:latin typeface="Lucida Sans Unicode"/>
                <a:cs typeface="Lucida Sans Unicode"/>
              </a:rPr>
              <a:t>)}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00444" y="2254961"/>
            <a:ext cx="131064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950" dirty="0">
                <a:latin typeface="Trebuchet MS"/>
                <a:cs typeface="Trebuchet MS"/>
              </a:rPr>
              <a:t>where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1100" i="1" spc="-20" dirty="0">
                <a:latin typeface="Cambria"/>
                <a:cs typeface="Cambria"/>
              </a:rPr>
              <a:t>P</a:t>
            </a:r>
            <a:r>
              <a:rPr sz="1100" spc="-20" dirty="0">
                <a:latin typeface="Lucida Sans Unicode"/>
                <a:cs typeface="Lucida Sans Unicode"/>
              </a:rPr>
              <a:t>(</a:t>
            </a:r>
            <a:r>
              <a:rPr sz="1100" i="1" spc="-20" dirty="0">
                <a:latin typeface="Cambria"/>
                <a:cs typeface="Cambria"/>
              </a:rPr>
              <a:t>w</a:t>
            </a:r>
            <a:r>
              <a:rPr sz="1200" i="1" spc="-30" baseline="-10416" dirty="0">
                <a:latin typeface="Cambria"/>
                <a:cs typeface="Cambria"/>
              </a:rPr>
              <a:t>i</a:t>
            </a:r>
            <a:r>
              <a:rPr sz="1100" spc="-20" dirty="0">
                <a:latin typeface="Lucida Sans Unicode"/>
                <a:cs typeface="Lucida Sans Unicode"/>
              </a:rPr>
              <a:t>|</a:t>
            </a:r>
            <a:r>
              <a:rPr sz="1100" i="1" spc="-20" dirty="0">
                <a:latin typeface="Cambria"/>
                <a:cs typeface="Cambria"/>
              </a:rPr>
              <a:t>w</a:t>
            </a:r>
            <a:r>
              <a:rPr sz="1200" i="1" spc="-30" baseline="-10416" dirty="0">
                <a:latin typeface="Cambria"/>
                <a:cs typeface="Cambria"/>
              </a:rPr>
              <a:t>j</a:t>
            </a:r>
            <a:r>
              <a:rPr sz="1100" spc="-20" dirty="0">
                <a:latin typeface="Lucida Sans Unicode"/>
                <a:cs typeface="Lucida Sans Unicode"/>
              </a:rPr>
              <a:t>)</a:t>
            </a:r>
            <a:r>
              <a:rPr sz="1100" spc="-90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=</a:t>
            </a:r>
            <a:r>
              <a:rPr sz="1100" spc="40" dirty="0">
                <a:latin typeface="Lucida Sans Unicode"/>
                <a:cs typeface="Lucida Sans Unicode"/>
              </a:rPr>
              <a:t> </a:t>
            </a:r>
            <a:r>
              <a:rPr sz="1200" i="1" u="sng" spc="-15" baseline="41666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freq</a:t>
            </a:r>
            <a:r>
              <a:rPr sz="900" i="1" u="sng" spc="-15" baseline="46296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ij</a:t>
            </a:r>
            <a:endParaRPr sz="900" baseline="46296">
              <a:latin typeface="Cambria"/>
              <a:cs typeface="Cambri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143571" y="2340089"/>
            <a:ext cx="2571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800" i="1" spc="-10" dirty="0">
                <a:latin typeface="Cambria"/>
                <a:cs typeface="Cambria"/>
              </a:rPr>
              <a:t>freq</a:t>
            </a:r>
            <a:r>
              <a:rPr sz="900" i="1" spc="-15" baseline="-9259" dirty="0">
                <a:latin typeface="Cambria"/>
                <a:cs typeface="Cambria"/>
              </a:rPr>
              <a:t>j</a:t>
            </a:r>
            <a:endParaRPr sz="900" baseline="-9259">
              <a:latin typeface="Cambria"/>
              <a:cs typeface="Cambria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20" dirty="0"/>
              <a:t>Pawan</a:t>
            </a:r>
            <a:r>
              <a:rPr spc="15" dirty="0"/>
              <a:t> </a:t>
            </a:r>
            <a:r>
              <a:rPr dirty="0"/>
              <a:t>Goyal</a:t>
            </a:r>
            <a:r>
              <a:rPr spc="170" dirty="0"/>
              <a:t> </a:t>
            </a:r>
            <a:r>
              <a:rPr dirty="0"/>
              <a:t>(IIT</a:t>
            </a:r>
            <a:r>
              <a:rPr spc="15" dirty="0"/>
              <a:t> </a:t>
            </a:r>
            <a:r>
              <a:rPr spc="-10" dirty="0"/>
              <a:t>Kharagpur)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360826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4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317426" y="3339672"/>
            <a:ext cx="236854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13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14</a:t>
            </a:r>
            <a:endParaRPr sz="600">
              <a:latin typeface="Cambria"/>
              <a:cs typeface="Cambria"/>
            </a:endParaRPr>
          </a:p>
        </p:txBody>
      </p:sp>
    </p:spTree>
  </p:cSld>
  <p:clrMapOvr>
    <a:masterClrMapping/>
  </p:clrMapOvr>
  <p:transition>
    <p:cut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Disambiguation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597" y="746861"/>
            <a:ext cx="64757" cy="6475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77532" y="641040"/>
            <a:ext cx="4104640" cy="97790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38100" marR="30480">
              <a:lnSpc>
                <a:spcPct val="113999"/>
              </a:lnSpc>
              <a:spcBef>
                <a:spcPts val="75"/>
              </a:spcBef>
            </a:pPr>
            <a:r>
              <a:rPr sz="950" dirty="0">
                <a:latin typeface="Trebuchet MS"/>
                <a:cs typeface="Trebuchet MS"/>
              </a:rPr>
              <a:t>Let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1100" i="1" dirty="0">
                <a:latin typeface="Cambria"/>
                <a:cs typeface="Cambria"/>
              </a:rPr>
              <a:t>W</a:t>
            </a:r>
            <a:r>
              <a:rPr sz="1100" i="1" spc="90" dirty="0">
                <a:latin typeface="Cambria"/>
                <a:cs typeface="Cambria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=</a:t>
            </a:r>
            <a:r>
              <a:rPr sz="1100" spc="-95" dirty="0">
                <a:latin typeface="Lucida Sans Unicode"/>
                <a:cs typeface="Lucida Sans Unicode"/>
              </a:rPr>
              <a:t> </a:t>
            </a:r>
            <a:r>
              <a:rPr sz="1100" spc="-25" dirty="0">
                <a:latin typeface="Lucida Sans Unicode"/>
                <a:cs typeface="Lucida Sans Unicode"/>
              </a:rPr>
              <a:t>(</a:t>
            </a:r>
            <a:r>
              <a:rPr sz="1100" i="1" spc="-25" dirty="0">
                <a:latin typeface="Cambria"/>
                <a:cs typeface="Cambria"/>
              </a:rPr>
              <a:t>w</a:t>
            </a:r>
            <a:r>
              <a:rPr sz="1200" spc="-37" baseline="-10416" dirty="0">
                <a:latin typeface="Times New Roman"/>
                <a:cs typeface="Times New Roman"/>
              </a:rPr>
              <a:t>1</a:t>
            </a:r>
            <a:r>
              <a:rPr sz="1100" spc="-25" dirty="0">
                <a:latin typeface="Lucida Sans Unicode"/>
                <a:cs typeface="Lucida Sans Unicode"/>
              </a:rPr>
              <a:t>,</a:t>
            </a:r>
            <a:r>
              <a:rPr sz="1100" spc="-225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Cambria"/>
                <a:cs typeface="Cambria"/>
              </a:rPr>
              <a:t>w</a:t>
            </a:r>
            <a:r>
              <a:rPr sz="1200" baseline="-10416" dirty="0">
                <a:latin typeface="Times New Roman"/>
                <a:cs typeface="Times New Roman"/>
              </a:rPr>
              <a:t>2</a:t>
            </a:r>
            <a:r>
              <a:rPr sz="1100" dirty="0">
                <a:latin typeface="Lucida Sans Unicode"/>
                <a:cs typeface="Lucida Sans Unicode"/>
              </a:rPr>
              <a:t>,...,</a:t>
            </a:r>
            <a:r>
              <a:rPr sz="1100" spc="-225" dirty="0">
                <a:latin typeface="Lucida Sans Unicode"/>
                <a:cs typeface="Lucida Sans Unicode"/>
              </a:rPr>
              <a:t> </a:t>
            </a:r>
            <a:r>
              <a:rPr sz="1100" i="1" spc="-45" dirty="0">
                <a:latin typeface="Cambria"/>
                <a:cs typeface="Cambria"/>
              </a:rPr>
              <a:t>w</a:t>
            </a:r>
            <a:r>
              <a:rPr sz="1200" i="1" spc="-67" baseline="-10416" dirty="0">
                <a:latin typeface="Cambria"/>
                <a:cs typeface="Cambria"/>
              </a:rPr>
              <a:t>i</a:t>
            </a:r>
            <a:r>
              <a:rPr sz="1100" spc="-45" dirty="0">
                <a:latin typeface="Lucida Sans Unicode"/>
                <a:cs typeface="Lucida Sans Unicode"/>
              </a:rPr>
              <a:t>,</a:t>
            </a:r>
            <a:r>
              <a:rPr sz="1100" spc="-220" dirty="0">
                <a:latin typeface="Lucida Sans Unicode"/>
                <a:cs typeface="Lucida Sans Unicode"/>
              </a:rPr>
              <a:t> </a:t>
            </a:r>
            <a:r>
              <a:rPr sz="1100" spc="-90" dirty="0">
                <a:latin typeface="Lucida Sans Unicode"/>
                <a:cs typeface="Lucida Sans Unicode"/>
              </a:rPr>
              <a:t>.</a:t>
            </a:r>
            <a:r>
              <a:rPr sz="1100" spc="-225" dirty="0">
                <a:latin typeface="Lucida Sans Unicode"/>
                <a:cs typeface="Lucida Sans Unicode"/>
              </a:rPr>
              <a:t> </a:t>
            </a:r>
            <a:r>
              <a:rPr sz="1100" spc="-90" dirty="0">
                <a:latin typeface="Lucida Sans Unicode"/>
                <a:cs typeface="Lucida Sans Unicode"/>
              </a:rPr>
              <a:t>.</a:t>
            </a:r>
            <a:r>
              <a:rPr sz="1100" spc="-225" dirty="0">
                <a:latin typeface="Lucida Sans Unicode"/>
                <a:cs typeface="Lucida Sans Unicode"/>
              </a:rPr>
              <a:t> </a:t>
            </a:r>
            <a:r>
              <a:rPr sz="1100" spc="-90" dirty="0">
                <a:latin typeface="Lucida Sans Unicode"/>
                <a:cs typeface="Lucida Sans Unicode"/>
              </a:rPr>
              <a:t>.</a:t>
            </a:r>
            <a:r>
              <a:rPr sz="1100" spc="-225" dirty="0">
                <a:latin typeface="Lucida Sans Unicode"/>
                <a:cs typeface="Lucida Sans Unicode"/>
              </a:rPr>
              <a:t> </a:t>
            </a:r>
            <a:r>
              <a:rPr sz="1100" spc="-90" dirty="0">
                <a:latin typeface="Lucida Sans Unicode"/>
                <a:cs typeface="Lucida Sans Unicode"/>
              </a:rPr>
              <a:t>,</a:t>
            </a:r>
            <a:r>
              <a:rPr sz="1100" spc="-225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Cambria"/>
                <a:cs typeface="Cambria"/>
              </a:rPr>
              <a:t>w</a:t>
            </a:r>
            <a:r>
              <a:rPr sz="1200" i="1" baseline="-10416" dirty="0">
                <a:latin typeface="Cambria"/>
                <a:cs typeface="Cambria"/>
              </a:rPr>
              <a:t>n</a:t>
            </a:r>
            <a:r>
              <a:rPr sz="1100" dirty="0">
                <a:latin typeface="Lucida Sans Unicode"/>
                <a:cs typeface="Lucida Sans Unicode"/>
              </a:rPr>
              <a:t>)</a:t>
            </a:r>
            <a:r>
              <a:rPr sz="1100" spc="-60" dirty="0">
                <a:latin typeface="Lucida Sans Unicode"/>
                <a:cs typeface="Lucida Sans Unicode"/>
              </a:rPr>
              <a:t> </a:t>
            </a:r>
            <a:r>
              <a:rPr sz="950" dirty="0">
                <a:latin typeface="Trebuchet MS"/>
                <a:cs typeface="Trebuchet MS"/>
              </a:rPr>
              <a:t>be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 </a:t>
            </a:r>
            <a:r>
              <a:rPr sz="950" spc="-20" dirty="0">
                <a:latin typeface="Trebuchet MS"/>
                <a:cs typeface="Trebuchet MS"/>
              </a:rPr>
              <a:t>context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in which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1100" i="1" dirty="0">
                <a:latin typeface="Cambria"/>
                <a:cs typeface="Cambria"/>
              </a:rPr>
              <a:t>w</a:t>
            </a:r>
            <a:r>
              <a:rPr sz="1200" i="1" baseline="-10416" dirty="0">
                <a:latin typeface="Cambria"/>
                <a:cs typeface="Cambria"/>
              </a:rPr>
              <a:t>i</a:t>
            </a:r>
            <a:r>
              <a:rPr sz="1200" i="1" spc="240" baseline="-10416" dirty="0">
                <a:latin typeface="Cambria"/>
                <a:cs typeface="Cambria"/>
              </a:rPr>
              <a:t> </a:t>
            </a:r>
            <a:r>
              <a:rPr sz="950" dirty="0">
                <a:latin typeface="Trebuchet MS"/>
                <a:cs typeface="Trebuchet MS"/>
              </a:rPr>
              <a:t>is an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instance </a:t>
            </a:r>
            <a:r>
              <a:rPr sz="950" spc="-25" dirty="0">
                <a:latin typeface="Trebuchet MS"/>
                <a:cs typeface="Trebuchet MS"/>
              </a:rPr>
              <a:t>of </a:t>
            </a:r>
            <a:r>
              <a:rPr sz="950" dirty="0">
                <a:latin typeface="Trebuchet MS"/>
                <a:cs typeface="Trebuchet MS"/>
              </a:rPr>
              <a:t>our</a:t>
            </a:r>
            <a:r>
              <a:rPr sz="950" spc="-4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target</a:t>
            </a:r>
            <a:r>
              <a:rPr sz="950" spc="-3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word.</a:t>
            </a:r>
            <a:endParaRPr sz="950">
              <a:latin typeface="Trebuchet MS"/>
              <a:cs typeface="Trebuchet MS"/>
            </a:endParaRPr>
          </a:p>
          <a:p>
            <a:pPr marL="38100">
              <a:lnSpc>
                <a:spcPct val="100000"/>
              </a:lnSpc>
              <a:spcBef>
                <a:spcPts val="365"/>
              </a:spcBef>
            </a:pPr>
            <a:r>
              <a:rPr sz="950" dirty="0">
                <a:latin typeface="Trebuchet MS"/>
                <a:cs typeface="Trebuchet MS"/>
              </a:rPr>
              <a:t>Let </a:t>
            </a:r>
            <a:r>
              <a:rPr sz="1100" i="1" dirty="0">
                <a:latin typeface="Cambria"/>
                <a:cs typeface="Cambria"/>
              </a:rPr>
              <a:t>w</a:t>
            </a:r>
            <a:r>
              <a:rPr sz="1200" i="1" baseline="-10416" dirty="0">
                <a:latin typeface="Cambria"/>
                <a:cs typeface="Cambria"/>
              </a:rPr>
              <a:t>i</a:t>
            </a:r>
            <a:r>
              <a:rPr sz="1200" i="1" spc="247" baseline="-10416" dirty="0">
                <a:latin typeface="Cambria"/>
                <a:cs typeface="Cambria"/>
              </a:rPr>
              <a:t> </a:t>
            </a:r>
            <a:r>
              <a:rPr sz="950" spc="55" dirty="0">
                <a:latin typeface="Trebuchet MS"/>
                <a:cs typeface="Trebuchet MS"/>
              </a:rPr>
              <a:t>has</a:t>
            </a:r>
            <a:r>
              <a:rPr sz="950" dirty="0">
                <a:latin typeface="Trebuchet MS"/>
                <a:cs typeface="Trebuchet MS"/>
              </a:rPr>
              <a:t> </a:t>
            </a:r>
            <a:r>
              <a:rPr sz="1100" i="1" dirty="0">
                <a:latin typeface="Cambria"/>
                <a:cs typeface="Cambria"/>
              </a:rPr>
              <a:t>k</a:t>
            </a:r>
            <a:r>
              <a:rPr sz="1100" i="1" spc="60" dirty="0">
                <a:latin typeface="Cambria"/>
                <a:cs typeface="Cambria"/>
              </a:rPr>
              <a:t> </a:t>
            </a:r>
            <a:r>
              <a:rPr sz="950" dirty="0">
                <a:latin typeface="Trebuchet MS"/>
                <a:cs typeface="Trebuchet MS"/>
              </a:rPr>
              <a:t>hubs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in </a:t>
            </a:r>
            <a:r>
              <a:rPr sz="950" spc="-10" dirty="0">
                <a:latin typeface="Trebuchet MS"/>
                <a:cs typeface="Trebuchet MS"/>
              </a:rPr>
              <a:t>its</a:t>
            </a:r>
            <a:r>
              <a:rPr sz="950" dirty="0">
                <a:latin typeface="Trebuchet MS"/>
                <a:cs typeface="Trebuchet MS"/>
              </a:rPr>
              <a:t> minimum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spanning </a:t>
            </a:r>
            <a:r>
              <a:rPr sz="950" spc="-20" dirty="0">
                <a:latin typeface="Trebuchet MS"/>
                <a:cs typeface="Trebuchet MS"/>
              </a:rPr>
              <a:t>tree</a:t>
            </a:r>
            <a:endParaRPr sz="950">
              <a:latin typeface="Trebuchet MS"/>
              <a:cs typeface="Trebuchet MS"/>
            </a:endParaRPr>
          </a:p>
          <a:p>
            <a:pPr marL="38100" marR="393065">
              <a:lnSpc>
                <a:spcPct val="102699"/>
              </a:lnSpc>
              <a:spcBef>
                <a:spcPts val="300"/>
              </a:spcBef>
            </a:pPr>
            <a:r>
              <a:rPr sz="950" spc="90" dirty="0">
                <a:latin typeface="Trebuchet MS"/>
                <a:cs typeface="Trebuchet MS"/>
              </a:rPr>
              <a:t>A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score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vector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1100" i="1" dirty="0">
                <a:latin typeface="Cambria"/>
                <a:cs typeface="Cambria"/>
              </a:rPr>
              <a:t>s</a:t>
            </a:r>
            <a:r>
              <a:rPr sz="1100" i="1" spc="75" dirty="0">
                <a:latin typeface="Cambria"/>
                <a:cs typeface="Cambria"/>
              </a:rPr>
              <a:t> </a:t>
            </a:r>
            <a:r>
              <a:rPr sz="950" dirty="0">
                <a:latin typeface="Trebuchet MS"/>
                <a:cs typeface="Trebuchet MS"/>
              </a:rPr>
              <a:t>is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associated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spc="-40" dirty="0">
                <a:latin typeface="Trebuchet MS"/>
                <a:cs typeface="Trebuchet MS"/>
              </a:rPr>
              <a:t>with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each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1100" i="1" dirty="0">
                <a:latin typeface="Cambria"/>
                <a:cs typeface="Cambria"/>
              </a:rPr>
              <a:t>w</a:t>
            </a:r>
            <a:r>
              <a:rPr sz="1200" i="1" baseline="-10416" dirty="0">
                <a:latin typeface="Cambria"/>
                <a:cs typeface="Cambria"/>
              </a:rPr>
              <a:t>j</a:t>
            </a:r>
            <a:r>
              <a:rPr sz="1200" i="1" spc="232" baseline="-10416" dirty="0">
                <a:latin typeface="Cambria"/>
                <a:cs typeface="Cambria"/>
              </a:rPr>
              <a:t> </a:t>
            </a:r>
            <a:r>
              <a:rPr sz="1100" spc="-300" dirty="0">
                <a:latin typeface="Lucida Sans Unicode"/>
                <a:cs typeface="Lucida Sans Unicode"/>
              </a:rPr>
              <a:t>∈</a:t>
            </a:r>
            <a:r>
              <a:rPr sz="1100" spc="-75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Cambria"/>
                <a:cs typeface="Cambria"/>
              </a:rPr>
              <a:t>W</a:t>
            </a:r>
            <a:r>
              <a:rPr sz="1100" dirty="0">
                <a:latin typeface="Lucida Sans Unicode"/>
                <a:cs typeface="Lucida Sans Unicode"/>
              </a:rPr>
              <a:t>(</a:t>
            </a:r>
            <a:r>
              <a:rPr sz="1100" i="1" dirty="0">
                <a:latin typeface="Cambria"/>
                <a:cs typeface="Cambria"/>
              </a:rPr>
              <a:t>j</a:t>
            </a:r>
            <a:r>
              <a:rPr sz="1100" i="1" spc="35" dirty="0">
                <a:latin typeface="Cambria"/>
                <a:cs typeface="Cambria"/>
              </a:rPr>
              <a:t> </a:t>
            </a:r>
            <a:r>
              <a:rPr sz="1100" spc="90" dirty="0">
                <a:latin typeface="Arial MT"/>
                <a:cs typeface="Arial MT"/>
              </a:rPr>
              <a:t>≠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i="1" dirty="0">
                <a:latin typeface="Cambria"/>
                <a:cs typeface="Cambria"/>
              </a:rPr>
              <a:t>i</a:t>
            </a:r>
            <a:r>
              <a:rPr sz="1100" dirty="0">
                <a:latin typeface="Lucida Sans Unicode"/>
                <a:cs typeface="Lucida Sans Unicode"/>
              </a:rPr>
              <a:t>)</a:t>
            </a:r>
            <a:r>
              <a:rPr sz="950" dirty="0">
                <a:latin typeface="Trebuchet MS"/>
                <a:cs typeface="Trebuchet MS"/>
              </a:rPr>
              <a:t>,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such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spc="-30" dirty="0">
                <a:latin typeface="Trebuchet MS"/>
                <a:cs typeface="Trebuchet MS"/>
              </a:rPr>
              <a:t>that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1100" i="1" spc="-25" dirty="0">
                <a:latin typeface="Cambria"/>
                <a:cs typeface="Cambria"/>
              </a:rPr>
              <a:t>s</a:t>
            </a:r>
            <a:r>
              <a:rPr sz="1200" i="1" spc="-37" baseline="-10416" dirty="0">
                <a:latin typeface="Cambria"/>
                <a:cs typeface="Cambria"/>
              </a:rPr>
              <a:t>k</a:t>
            </a:r>
            <a:r>
              <a:rPr sz="1200" i="1" spc="750" baseline="-10416" dirty="0">
                <a:latin typeface="Cambria"/>
                <a:cs typeface="Cambria"/>
              </a:rPr>
              <a:t> </a:t>
            </a:r>
            <a:r>
              <a:rPr sz="950" dirty="0">
                <a:latin typeface="Trebuchet MS"/>
                <a:cs typeface="Trebuchet MS"/>
              </a:rPr>
              <a:t>represents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contribution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1100" i="1" spc="-45" dirty="0">
                <a:latin typeface="Cambria"/>
                <a:cs typeface="Cambria"/>
              </a:rPr>
              <a:t>k</a:t>
            </a:r>
            <a:r>
              <a:rPr sz="950" spc="-45" dirty="0">
                <a:latin typeface="Trebuchet MS"/>
                <a:cs typeface="Trebuchet MS"/>
              </a:rPr>
              <a:t>th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hub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as:</a:t>
            </a:r>
            <a:endParaRPr sz="950">
              <a:latin typeface="Trebuchet MS"/>
              <a:cs typeface="Trebuchet MS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597" y="1128966"/>
            <a:ext cx="64757" cy="6475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597" y="1338999"/>
            <a:ext cx="64757" cy="64757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129842" y="1792922"/>
            <a:ext cx="2619375" cy="47370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0"/>
              </a:spcBef>
              <a:tabLst>
                <a:tab pos="283845" algn="l"/>
                <a:tab pos="533400" algn="l"/>
                <a:tab pos="846455" algn="l"/>
                <a:tab pos="1228725" algn="l"/>
              </a:tabLst>
            </a:pPr>
            <a:r>
              <a:rPr sz="1100" i="1" spc="-25" dirty="0">
                <a:latin typeface="Cambria"/>
                <a:cs typeface="Cambria"/>
              </a:rPr>
              <a:t>s</a:t>
            </a:r>
            <a:r>
              <a:rPr sz="1200" i="1" spc="-37" baseline="-10416" dirty="0">
                <a:latin typeface="Cambria"/>
                <a:cs typeface="Cambria"/>
              </a:rPr>
              <a:t>k</a:t>
            </a:r>
            <a:r>
              <a:rPr sz="1200" i="1" baseline="-10416" dirty="0">
                <a:latin typeface="Cambria"/>
                <a:cs typeface="Cambria"/>
              </a:rPr>
              <a:t>	</a:t>
            </a:r>
            <a:r>
              <a:rPr sz="1100" spc="-50" dirty="0">
                <a:latin typeface="Lucida Sans Unicode"/>
                <a:cs typeface="Lucida Sans Unicode"/>
              </a:rPr>
              <a:t>=</a:t>
            </a:r>
            <a:r>
              <a:rPr sz="1100" dirty="0">
                <a:latin typeface="Lucida Sans Unicode"/>
                <a:cs typeface="Lucida Sans Unicode"/>
              </a:rPr>
              <a:t>	</a:t>
            </a:r>
            <a:r>
              <a:rPr sz="1650" u="sng" baseline="37878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1650" u="sng" spc="-75" baseline="37878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</a:t>
            </a:r>
            <a:r>
              <a:rPr sz="1650" u="sng" baseline="37878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1650" spc="-240" baseline="37878" dirty="0">
                <a:latin typeface="Times New Roman"/>
                <a:cs typeface="Times New Roman"/>
              </a:rPr>
              <a:t> </a:t>
            </a:r>
            <a:r>
              <a:rPr sz="950" spc="-70" dirty="0">
                <a:latin typeface="Trebuchet MS"/>
                <a:cs typeface="Trebuchet MS"/>
              </a:rPr>
              <a:t>if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1100" i="1" dirty="0">
                <a:latin typeface="Cambria"/>
                <a:cs typeface="Cambria"/>
              </a:rPr>
              <a:t>h</a:t>
            </a:r>
            <a:r>
              <a:rPr sz="1200" i="1" baseline="-10416" dirty="0">
                <a:latin typeface="Cambria"/>
                <a:cs typeface="Cambria"/>
              </a:rPr>
              <a:t>k</a:t>
            </a:r>
            <a:r>
              <a:rPr sz="1200" i="1" spc="240" baseline="-10416" dirty="0">
                <a:latin typeface="Cambria"/>
                <a:cs typeface="Cambria"/>
              </a:rPr>
              <a:t> </a:t>
            </a:r>
            <a:r>
              <a:rPr sz="950" dirty="0">
                <a:latin typeface="Trebuchet MS"/>
                <a:cs typeface="Trebuchet MS"/>
              </a:rPr>
              <a:t>is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an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ancestor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1100" i="1" dirty="0">
                <a:latin typeface="Cambria"/>
                <a:cs typeface="Cambria"/>
              </a:rPr>
              <a:t>w</a:t>
            </a:r>
            <a:r>
              <a:rPr sz="1200" i="1" baseline="-10416" dirty="0">
                <a:latin typeface="Cambria"/>
                <a:cs typeface="Cambria"/>
              </a:rPr>
              <a:t>j</a:t>
            </a:r>
            <a:endParaRPr sz="1200" baseline="-10416">
              <a:latin typeface="Cambria"/>
              <a:cs typeface="Cambria"/>
            </a:endParaRPr>
          </a:p>
          <a:p>
            <a:pPr marL="69215">
              <a:lnSpc>
                <a:spcPct val="100000"/>
              </a:lnSpc>
              <a:spcBef>
                <a:spcPts val="894"/>
              </a:spcBef>
            </a:pPr>
            <a:r>
              <a:rPr sz="1100" i="1" spc="-25" dirty="0">
                <a:latin typeface="Cambria"/>
                <a:cs typeface="Cambria"/>
              </a:rPr>
              <a:t>s</a:t>
            </a:r>
            <a:r>
              <a:rPr sz="1200" i="1" spc="-37" baseline="-10416" dirty="0">
                <a:latin typeface="Cambria"/>
                <a:cs typeface="Cambria"/>
              </a:rPr>
              <a:t>i</a:t>
            </a:r>
            <a:endParaRPr sz="1200" baseline="-10416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75956" y="1868599"/>
            <a:ext cx="1021080" cy="397510"/>
          </a:xfrm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L="287020">
              <a:lnSpc>
                <a:spcPct val="100000"/>
              </a:lnSpc>
              <a:spcBef>
                <a:spcPts val="245"/>
              </a:spcBef>
            </a:pPr>
            <a:r>
              <a:rPr sz="1100" spc="-10" dirty="0">
                <a:latin typeface="Times New Roman"/>
                <a:cs typeface="Times New Roman"/>
              </a:rPr>
              <a:t>1</a:t>
            </a:r>
            <a:r>
              <a:rPr sz="1100" spc="-114" dirty="0">
                <a:latin typeface="Times New Roman"/>
                <a:cs typeface="Times New Roman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+</a:t>
            </a:r>
            <a:r>
              <a:rPr sz="1100" spc="-185" dirty="0">
                <a:latin typeface="Lucida Sans Unicode"/>
                <a:cs typeface="Lucida Sans Unicode"/>
              </a:rPr>
              <a:t> </a:t>
            </a:r>
            <a:r>
              <a:rPr sz="1100" i="1" spc="-20" dirty="0">
                <a:latin typeface="Cambria"/>
                <a:cs typeface="Cambria"/>
              </a:rPr>
              <a:t>d</a:t>
            </a:r>
            <a:r>
              <a:rPr sz="1100" spc="-20" dirty="0">
                <a:latin typeface="Lucida Sans Unicode"/>
                <a:cs typeface="Lucida Sans Unicode"/>
              </a:rPr>
              <a:t>(</a:t>
            </a:r>
            <a:r>
              <a:rPr sz="1100" i="1" spc="-20" dirty="0">
                <a:latin typeface="Cambria"/>
                <a:cs typeface="Cambria"/>
              </a:rPr>
              <a:t>h</a:t>
            </a:r>
            <a:r>
              <a:rPr sz="1200" i="1" spc="-30" baseline="-10416" dirty="0">
                <a:latin typeface="Cambria"/>
                <a:cs typeface="Cambria"/>
              </a:rPr>
              <a:t>k</a:t>
            </a:r>
            <a:r>
              <a:rPr sz="1100" spc="-20" dirty="0">
                <a:latin typeface="Lucida Sans Unicode"/>
                <a:cs typeface="Lucida Sans Unicode"/>
              </a:rPr>
              <a:t>,</a:t>
            </a:r>
            <a:r>
              <a:rPr sz="1100" spc="-220" dirty="0">
                <a:latin typeface="Lucida Sans Unicode"/>
                <a:cs typeface="Lucida Sans Unicode"/>
              </a:rPr>
              <a:t> </a:t>
            </a:r>
            <a:r>
              <a:rPr sz="1100" i="1" spc="-25" dirty="0">
                <a:latin typeface="Cambria"/>
                <a:cs typeface="Cambria"/>
              </a:rPr>
              <a:t>w</a:t>
            </a:r>
            <a:r>
              <a:rPr sz="1200" i="1" spc="-37" baseline="-10416" dirty="0">
                <a:latin typeface="Cambria"/>
                <a:cs typeface="Cambria"/>
              </a:rPr>
              <a:t>j</a:t>
            </a:r>
            <a:r>
              <a:rPr sz="1100" spc="-25" dirty="0">
                <a:latin typeface="Lucida Sans Unicode"/>
                <a:cs typeface="Lucida Sans Unicode"/>
              </a:rPr>
              <a:t>)</a:t>
            </a:r>
            <a:endParaRPr sz="1100">
              <a:latin typeface="Lucida Sans Unicode"/>
              <a:cs typeface="Lucida Sans Unicode"/>
            </a:endParaRPr>
          </a:p>
          <a:p>
            <a:pPr marL="38100">
              <a:lnSpc>
                <a:spcPct val="100000"/>
              </a:lnSpc>
              <a:spcBef>
                <a:spcPts val="145"/>
              </a:spcBef>
            </a:pPr>
            <a:r>
              <a:rPr sz="1100" dirty="0">
                <a:latin typeface="Lucida Sans Unicode"/>
                <a:cs typeface="Lucida Sans Unicode"/>
              </a:rPr>
              <a:t>=</a:t>
            </a:r>
            <a:r>
              <a:rPr sz="1100" spc="130" dirty="0">
                <a:latin typeface="Lucida Sans Unicode"/>
                <a:cs typeface="Lucida Sans Unicode"/>
              </a:rPr>
              <a:t>  </a:t>
            </a:r>
            <a:r>
              <a:rPr sz="1100" dirty="0">
                <a:latin typeface="Times New Roman"/>
                <a:cs typeface="Times New Roman"/>
              </a:rPr>
              <a:t>0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otherwise.</a:t>
            </a:r>
            <a:endParaRPr sz="950">
              <a:latin typeface="Trebuchet MS"/>
              <a:cs typeface="Trebuchet MS"/>
            </a:endParaRPr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597" y="2469616"/>
            <a:ext cx="64757" cy="64757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377532" y="2321617"/>
            <a:ext cx="3744595" cy="635635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38100" marR="30480">
              <a:lnSpc>
                <a:spcPct val="127800"/>
              </a:lnSpc>
              <a:spcBef>
                <a:spcPts val="225"/>
              </a:spcBef>
            </a:pPr>
            <a:r>
              <a:rPr sz="950" dirty="0">
                <a:latin typeface="Trebuchet MS"/>
                <a:cs typeface="Trebuchet MS"/>
              </a:rPr>
              <a:t>All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score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vectors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associated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spc="-40" dirty="0">
                <a:latin typeface="Trebuchet MS"/>
                <a:cs typeface="Trebuchet MS"/>
              </a:rPr>
              <a:t>with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all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1100" i="1" dirty="0">
                <a:latin typeface="Cambria"/>
                <a:cs typeface="Cambria"/>
              </a:rPr>
              <a:t>w</a:t>
            </a:r>
            <a:r>
              <a:rPr sz="1200" i="1" baseline="-10416" dirty="0">
                <a:latin typeface="Cambria"/>
                <a:cs typeface="Cambria"/>
              </a:rPr>
              <a:t>j</a:t>
            </a:r>
            <a:r>
              <a:rPr sz="1200" i="1" spc="247" baseline="-10416" dirty="0">
                <a:latin typeface="Cambria"/>
                <a:cs typeface="Cambria"/>
              </a:rPr>
              <a:t> </a:t>
            </a:r>
            <a:r>
              <a:rPr sz="1100" spc="-300" dirty="0">
                <a:latin typeface="Lucida Sans Unicode"/>
                <a:cs typeface="Lucida Sans Unicode"/>
              </a:rPr>
              <a:t>∈</a:t>
            </a:r>
            <a:r>
              <a:rPr sz="1100" spc="-70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Cambria"/>
                <a:cs typeface="Cambria"/>
              </a:rPr>
              <a:t>W</a:t>
            </a:r>
            <a:r>
              <a:rPr sz="1100" dirty="0">
                <a:latin typeface="Lucida Sans Unicode"/>
                <a:cs typeface="Lucida Sans Unicode"/>
              </a:rPr>
              <a:t>(</a:t>
            </a:r>
            <a:r>
              <a:rPr sz="1100" i="1" dirty="0">
                <a:latin typeface="Cambria"/>
                <a:cs typeface="Cambria"/>
              </a:rPr>
              <a:t>j</a:t>
            </a:r>
            <a:r>
              <a:rPr sz="1100" i="1" spc="45" dirty="0">
                <a:latin typeface="Cambria"/>
                <a:cs typeface="Cambria"/>
              </a:rPr>
              <a:t> </a:t>
            </a:r>
            <a:r>
              <a:rPr sz="1100" spc="90" dirty="0">
                <a:latin typeface="Arial MT"/>
                <a:cs typeface="Arial MT"/>
              </a:rPr>
              <a:t>≠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i="1" dirty="0">
                <a:latin typeface="Cambria"/>
                <a:cs typeface="Cambria"/>
              </a:rPr>
              <a:t>i</a:t>
            </a:r>
            <a:r>
              <a:rPr sz="1100" dirty="0">
                <a:latin typeface="Lucida Sans Unicode"/>
                <a:cs typeface="Lucida Sans Unicode"/>
              </a:rPr>
              <a:t>)</a:t>
            </a:r>
            <a:r>
              <a:rPr sz="1100" spc="-25" dirty="0">
                <a:latin typeface="Lucida Sans Unicode"/>
                <a:cs typeface="Lucida Sans Unicode"/>
              </a:rPr>
              <a:t> </a:t>
            </a:r>
            <a:r>
              <a:rPr sz="950" dirty="0">
                <a:latin typeface="Trebuchet MS"/>
                <a:cs typeface="Trebuchet MS"/>
              </a:rPr>
              <a:t>are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summed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up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hub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which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receives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maximum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score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is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chosen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spc="70" dirty="0">
                <a:latin typeface="Trebuchet MS"/>
                <a:cs typeface="Trebuchet MS"/>
              </a:rPr>
              <a:t>as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most </a:t>
            </a:r>
            <a:r>
              <a:rPr sz="950" dirty="0">
                <a:latin typeface="Trebuchet MS"/>
                <a:cs typeface="Trebuchet MS"/>
              </a:rPr>
              <a:t>appropriate</a:t>
            </a:r>
            <a:r>
              <a:rPr sz="950" spc="-55" dirty="0">
                <a:latin typeface="Trebuchet MS"/>
                <a:cs typeface="Trebuchet MS"/>
              </a:rPr>
              <a:t> </a:t>
            </a:r>
            <a:r>
              <a:rPr sz="950" spc="45" dirty="0">
                <a:latin typeface="Trebuchet MS"/>
                <a:cs typeface="Trebuchet MS"/>
              </a:rPr>
              <a:t>sense</a:t>
            </a:r>
            <a:endParaRPr sz="950">
              <a:latin typeface="Trebuchet MS"/>
              <a:cs typeface="Trebuchet MS"/>
            </a:endParaRPr>
          </a:p>
        </p:txBody>
      </p:sp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1597" y="2679649"/>
            <a:ext cx="64757" cy="64757"/>
          </a:xfrm>
          <a:prstGeom prst="rect">
            <a:avLst/>
          </a:prstGeom>
        </p:spPr>
      </p:pic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20" dirty="0"/>
              <a:t>Pawan</a:t>
            </a:r>
            <a:r>
              <a:rPr spc="15" dirty="0"/>
              <a:t> </a:t>
            </a:r>
            <a:r>
              <a:rPr dirty="0"/>
              <a:t>Goyal</a:t>
            </a:r>
            <a:r>
              <a:rPr spc="170" dirty="0"/>
              <a:t> </a:t>
            </a:r>
            <a:r>
              <a:rPr dirty="0"/>
              <a:t>(IIT</a:t>
            </a:r>
            <a:r>
              <a:rPr spc="15" dirty="0"/>
              <a:t> </a:t>
            </a:r>
            <a:r>
              <a:rPr spc="-10" dirty="0"/>
              <a:t>Kharagpur)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360826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4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317426" y="3339672"/>
            <a:ext cx="236854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14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14</a:t>
            </a:r>
            <a:endParaRPr sz="600">
              <a:latin typeface="Cambria"/>
              <a:cs typeface="Cambria"/>
            </a:endParaRPr>
          </a:p>
        </p:txBody>
      </p:sp>
    </p:spTree>
  </p:cSld>
  <p:clrMapOvr>
    <a:masterClrMapping/>
  </p:clrMapOvr>
  <p:transition>
    <p:cut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7743" y="908939"/>
            <a:ext cx="4432935" cy="82550"/>
          </a:xfrm>
          <a:custGeom>
            <a:avLst/>
            <a:gdLst/>
            <a:ahLst/>
            <a:cxnLst/>
            <a:rect l="l" t="t" r="r" b="b"/>
            <a:pathLst>
              <a:path w="4432935" h="82550">
                <a:moveTo>
                  <a:pt x="4381766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82384"/>
                </a:lnTo>
                <a:lnTo>
                  <a:pt x="4432566" y="82384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4" y="14922"/>
                </a:lnTo>
                <a:lnTo>
                  <a:pt x="4401491" y="4008"/>
                </a:lnTo>
                <a:lnTo>
                  <a:pt x="4381766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87743" y="953363"/>
            <a:ext cx="4483735" cy="347345"/>
            <a:chOff x="87743" y="953363"/>
            <a:chExt cx="4483735" cy="34734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8544" y="1198854"/>
              <a:ext cx="101599" cy="1016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344" y="1186154"/>
              <a:ext cx="4381715" cy="1143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20311" y="959510"/>
              <a:ext cx="50749" cy="239344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87743" y="953363"/>
              <a:ext cx="4432935" cy="296545"/>
            </a:xfrm>
            <a:custGeom>
              <a:avLst/>
              <a:gdLst/>
              <a:ahLst/>
              <a:cxnLst/>
              <a:rect l="l" t="t" r="r" b="b"/>
              <a:pathLst>
                <a:path w="4432935" h="296544">
                  <a:moveTo>
                    <a:pt x="4432566" y="0"/>
                  </a:moveTo>
                  <a:lnTo>
                    <a:pt x="0" y="0"/>
                  </a:lnTo>
                  <a:lnTo>
                    <a:pt x="0" y="245490"/>
                  </a:lnTo>
                  <a:lnTo>
                    <a:pt x="4008" y="265215"/>
                  </a:lnTo>
                  <a:lnTo>
                    <a:pt x="14922" y="281368"/>
                  </a:lnTo>
                  <a:lnTo>
                    <a:pt x="31075" y="292282"/>
                  </a:lnTo>
                  <a:lnTo>
                    <a:pt x="50800" y="296290"/>
                  </a:lnTo>
                  <a:lnTo>
                    <a:pt x="4381766" y="296290"/>
                  </a:lnTo>
                  <a:lnTo>
                    <a:pt x="4401491" y="292282"/>
                  </a:lnTo>
                  <a:lnTo>
                    <a:pt x="4417644" y="281368"/>
                  </a:lnTo>
                  <a:lnTo>
                    <a:pt x="4428558" y="265215"/>
                  </a:lnTo>
                  <a:lnTo>
                    <a:pt x="4432566" y="245490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520309" y="997597"/>
              <a:ext cx="0" cy="220345"/>
            </a:xfrm>
            <a:custGeom>
              <a:avLst/>
              <a:gdLst/>
              <a:ahLst/>
              <a:cxnLst/>
              <a:rect l="l" t="t" r="r" b="b"/>
              <a:pathLst>
                <a:path h="220344">
                  <a:moveTo>
                    <a:pt x="0" y="220306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520309" y="98490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09" y="97220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09" y="95950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259077" y="957732"/>
            <a:ext cx="209042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Novel</a:t>
            </a:r>
            <a:r>
              <a:rPr sz="14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spc="-60" dirty="0">
                <a:solidFill>
                  <a:srgbClr val="FFFFFF"/>
                </a:solidFill>
                <a:latin typeface="Cambria"/>
                <a:cs typeface="Cambria"/>
              </a:rPr>
              <a:t>Word</a:t>
            </a:r>
            <a:r>
              <a:rPr sz="14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Sense</a:t>
            </a:r>
            <a:r>
              <a:rPr sz="14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spc="-10" dirty="0">
                <a:solidFill>
                  <a:srgbClr val="FFFFFF"/>
                </a:solidFill>
                <a:latin typeface="Cambria"/>
                <a:cs typeface="Cambria"/>
              </a:rPr>
              <a:t>Detection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20" dirty="0"/>
              <a:t>Pawan</a:t>
            </a:r>
            <a:r>
              <a:rPr spc="15" dirty="0"/>
              <a:t> </a:t>
            </a:r>
            <a:r>
              <a:rPr dirty="0"/>
              <a:t>Goyal</a:t>
            </a:r>
            <a:r>
              <a:rPr spc="170" dirty="0"/>
              <a:t> </a:t>
            </a:r>
            <a:r>
              <a:rPr dirty="0"/>
              <a:t>(IIT</a:t>
            </a:r>
            <a:r>
              <a:rPr spc="15" dirty="0"/>
              <a:t> </a:t>
            </a:r>
            <a:r>
              <a:rPr spc="-10" dirty="0"/>
              <a:t>Kharagpur)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368418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5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13664">
              <a:lnSpc>
                <a:spcPct val="100000"/>
              </a:lnSpc>
              <a:spcBef>
                <a:spcPts val="50"/>
              </a:spcBef>
            </a:pPr>
            <a:r>
              <a:rPr dirty="0"/>
              <a:t>1</a:t>
            </a:r>
            <a:r>
              <a:rPr spc="-5" dirty="0"/>
              <a:t> </a:t>
            </a:r>
            <a:r>
              <a:rPr spc="-110" dirty="0"/>
              <a:t>/</a:t>
            </a:r>
            <a:r>
              <a:rPr spc="15" dirty="0"/>
              <a:t> </a:t>
            </a:r>
            <a:r>
              <a:rPr spc="-50" dirty="0"/>
              <a:t>5</a:t>
            </a:r>
          </a:p>
        </p:txBody>
      </p:sp>
    </p:spTree>
  </p:cSld>
  <p:clrMapOvr>
    <a:masterClrMapping/>
  </p:clrMapOvr>
  <p:transition>
    <p:cut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4608195" cy="351790"/>
          </a:xfrm>
          <a:custGeom>
            <a:avLst/>
            <a:gdLst/>
            <a:ahLst/>
            <a:cxnLst/>
            <a:rect l="l" t="t" r="r" b="b"/>
            <a:pathLst>
              <a:path w="4608195" h="351790">
                <a:moveTo>
                  <a:pt x="4608004" y="0"/>
                </a:moveTo>
                <a:lnTo>
                  <a:pt x="0" y="0"/>
                </a:lnTo>
                <a:lnTo>
                  <a:pt x="0" y="351383"/>
                </a:lnTo>
                <a:lnTo>
                  <a:pt x="4608004" y="351383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7743" y="470293"/>
            <a:ext cx="4432935" cy="176530"/>
          </a:xfrm>
          <a:custGeom>
            <a:avLst/>
            <a:gdLst/>
            <a:ahLst/>
            <a:cxnLst/>
            <a:rect l="l" t="t" r="r" b="b"/>
            <a:pathLst>
              <a:path w="4432935" h="176529">
                <a:moveTo>
                  <a:pt x="4381766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76314"/>
                </a:lnTo>
                <a:lnTo>
                  <a:pt x="4432566" y="176314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4" y="14922"/>
                </a:lnTo>
                <a:lnTo>
                  <a:pt x="4401491" y="4008"/>
                </a:lnTo>
                <a:lnTo>
                  <a:pt x="4381766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5300" y="60502"/>
            <a:ext cx="1809114" cy="5822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i="1" spc="-25" dirty="0">
                <a:solidFill>
                  <a:srgbClr val="FFFFFF"/>
                </a:solidFill>
                <a:latin typeface="Cambria"/>
                <a:cs typeface="Cambria"/>
              </a:rPr>
              <a:t>Tracking</a:t>
            </a:r>
            <a:r>
              <a:rPr sz="14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Sense</a:t>
            </a:r>
            <a:r>
              <a:rPr sz="1400" i="1" spc="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spc="-10" dirty="0">
                <a:solidFill>
                  <a:srgbClr val="FFFFFF"/>
                </a:solidFill>
                <a:latin typeface="Cambria"/>
                <a:cs typeface="Cambria"/>
              </a:rPr>
              <a:t>Changes</a:t>
            </a:r>
            <a:endParaRPr sz="1400">
              <a:latin typeface="Cambria"/>
              <a:cs typeface="Cambria"/>
            </a:endParaRPr>
          </a:p>
          <a:p>
            <a:pPr marL="43180">
              <a:lnSpc>
                <a:spcPct val="100000"/>
              </a:lnSpc>
              <a:spcBef>
                <a:spcPts val="1350"/>
              </a:spcBef>
            </a:pPr>
            <a:r>
              <a:rPr sz="1100" i="1" dirty="0">
                <a:solidFill>
                  <a:srgbClr val="3333B2"/>
                </a:solidFill>
                <a:latin typeface="Cambria"/>
                <a:cs typeface="Cambria"/>
              </a:rPr>
              <a:t>Classical</a:t>
            </a:r>
            <a:r>
              <a:rPr sz="1100" i="1" spc="145" dirty="0">
                <a:solidFill>
                  <a:srgbClr val="3333B2"/>
                </a:solidFill>
                <a:latin typeface="Cambria"/>
                <a:cs typeface="Cambria"/>
              </a:rPr>
              <a:t> </a:t>
            </a:r>
            <a:r>
              <a:rPr sz="1100" i="1" spc="-20" dirty="0">
                <a:solidFill>
                  <a:srgbClr val="3333B2"/>
                </a:solidFill>
                <a:latin typeface="Cambria"/>
                <a:cs typeface="Cambria"/>
              </a:rPr>
              <a:t>sense</a:t>
            </a:r>
            <a:endParaRPr sz="1100">
              <a:latin typeface="Cambria"/>
              <a:cs typeface="Cambri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87743" y="514535"/>
            <a:ext cx="4483735" cy="1246505"/>
            <a:chOff x="87743" y="514535"/>
            <a:chExt cx="4483735" cy="124650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633958"/>
              <a:ext cx="4483315" cy="16482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20311" y="514540"/>
              <a:ext cx="50749" cy="182638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87743" y="678243"/>
              <a:ext cx="4432935" cy="69850"/>
            </a:xfrm>
            <a:custGeom>
              <a:avLst/>
              <a:gdLst/>
              <a:ahLst/>
              <a:cxnLst/>
              <a:rect l="l" t="t" r="r" b="b"/>
              <a:pathLst>
                <a:path w="4432935" h="69850">
                  <a:moveTo>
                    <a:pt x="4432566" y="0"/>
                  </a:moveTo>
                  <a:lnTo>
                    <a:pt x="0" y="0"/>
                  </a:lnTo>
                  <a:lnTo>
                    <a:pt x="0" y="18935"/>
                  </a:lnTo>
                  <a:lnTo>
                    <a:pt x="4008" y="38660"/>
                  </a:lnTo>
                  <a:lnTo>
                    <a:pt x="14922" y="54813"/>
                  </a:lnTo>
                  <a:lnTo>
                    <a:pt x="31075" y="65727"/>
                  </a:lnTo>
                  <a:lnTo>
                    <a:pt x="50800" y="69735"/>
                  </a:lnTo>
                  <a:lnTo>
                    <a:pt x="4381766" y="69735"/>
                  </a:lnTo>
                  <a:lnTo>
                    <a:pt x="4401491" y="65727"/>
                  </a:lnTo>
                  <a:lnTo>
                    <a:pt x="4417644" y="54813"/>
                  </a:lnTo>
                  <a:lnTo>
                    <a:pt x="4428558" y="38660"/>
                  </a:lnTo>
                  <a:lnTo>
                    <a:pt x="4432566" y="18935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520309" y="552640"/>
              <a:ext cx="0" cy="163830"/>
            </a:xfrm>
            <a:custGeom>
              <a:avLst/>
              <a:gdLst/>
              <a:ahLst/>
              <a:cxnLst/>
              <a:rect l="l" t="t" r="r" b="b"/>
              <a:pathLst>
                <a:path h="163829">
                  <a:moveTo>
                    <a:pt x="0" y="16358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09" y="53993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09" y="52723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09" y="51453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25512" y="804524"/>
              <a:ext cx="2700020" cy="955988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3612806" y="1606423"/>
            <a:ext cx="76200" cy="1352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700" spc="-50" dirty="0">
                <a:latin typeface="Trebuchet MS"/>
                <a:cs typeface="Trebuchet MS"/>
              </a:rPr>
              <a:t>1</a:t>
            </a:r>
            <a:endParaRPr sz="700">
              <a:latin typeface="Trebuchet MS"/>
              <a:cs typeface="Trebuchet MS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7743" y="1848256"/>
            <a:ext cx="4432935" cy="176530"/>
          </a:xfrm>
          <a:custGeom>
            <a:avLst/>
            <a:gdLst/>
            <a:ahLst/>
            <a:cxnLst/>
            <a:rect l="l" t="t" r="r" b="b"/>
            <a:pathLst>
              <a:path w="4432935" h="176530">
                <a:moveTo>
                  <a:pt x="4381766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76314"/>
                </a:lnTo>
                <a:lnTo>
                  <a:pt x="4432566" y="176314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4" y="14922"/>
                </a:lnTo>
                <a:lnTo>
                  <a:pt x="4401491" y="4008"/>
                </a:lnTo>
                <a:lnTo>
                  <a:pt x="4381766" y="0"/>
                </a:lnTo>
                <a:close/>
              </a:path>
            </a:pathLst>
          </a:custGeom>
          <a:solidFill>
            <a:srgbClr val="FF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25844" y="1829041"/>
            <a:ext cx="68199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dirty="0">
                <a:solidFill>
                  <a:srgbClr val="FF0000"/>
                </a:solidFill>
                <a:latin typeface="Cambria"/>
                <a:cs typeface="Cambria"/>
              </a:rPr>
              <a:t>Novel</a:t>
            </a:r>
            <a:r>
              <a:rPr sz="1100" i="1" spc="-5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100" i="1" spc="-10" dirty="0">
                <a:solidFill>
                  <a:srgbClr val="FF0000"/>
                </a:solidFill>
                <a:latin typeface="Cambria"/>
                <a:cs typeface="Cambria"/>
              </a:rPr>
              <a:t>sense</a:t>
            </a:r>
            <a:endParaRPr sz="1100">
              <a:latin typeface="Cambria"/>
              <a:cs typeface="Cambria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87743" y="1892490"/>
            <a:ext cx="4483735" cy="284480"/>
            <a:chOff x="87743" y="1892490"/>
            <a:chExt cx="4483735" cy="284480"/>
          </a:xfrm>
        </p:grpSpPr>
        <p:pic>
          <p:nvPicPr>
            <p:cNvPr id="18" name="object 1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7744" y="2011921"/>
              <a:ext cx="4483315" cy="16482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520311" y="1892490"/>
              <a:ext cx="50749" cy="182651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87743" y="2056206"/>
              <a:ext cx="4432935" cy="69850"/>
            </a:xfrm>
            <a:custGeom>
              <a:avLst/>
              <a:gdLst/>
              <a:ahLst/>
              <a:cxnLst/>
              <a:rect l="l" t="t" r="r" b="b"/>
              <a:pathLst>
                <a:path w="4432935" h="69850">
                  <a:moveTo>
                    <a:pt x="4432566" y="0"/>
                  </a:moveTo>
                  <a:lnTo>
                    <a:pt x="0" y="0"/>
                  </a:lnTo>
                  <a:lnTo>
                    <a:pt x="0" y="18935"/>
                  </a:lnTo>
                  <a:lnTo>
                    <a:pt x="4008" y="38660"/>
                  </a:lnTo>
                  <a:lnTo>
                    <a:pt x="14922" y="54813"/>
                  </a:lnTo>
                  <a:lnTo>
                    <a:pt x="31075" y="65727"/>
                  </a:lnTo>
                  <a:lnTo>
                    <a:pt x="50800" y="69735"/>
                  </a:lnTo>
                  <a:lnTo>
                    <a:pt x="4381766" y="69735"/>
                  </a:lnTo>
                  <a:lnTo>
                    <a:pt x="4401491" y="65727"/>
                  </a:lnTo>
                  <a:lnTo>
                    <a:pt x="4417644" y="54813"/>
                  </a:lnTo>
                  <a:lnTo>
                    <a:pt x="4428558" y="38660"/>
                  </a:lnTo>
                  <a:lnTo>
                    <a:pt x="4432566" y="18935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FFE5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520309" y="1930603"/>
              <a:ext cx="0" cy="163830"/>
            </a:xfrm>
            <a:custGeom>
              <a:avLst/>
              <a:gdLst/>
              <a:ahLst/>
              <a:cxnLst/>
              <a:rect l="l" t="t" r="r" b="b"/>
              <a:pathLst>
                <a:path h="163830">
                  <a:moveTo>
                    <a:pt x="0" y="16358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520309" y="1917898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520309" y="1905198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520309" y="1892498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5" name="object 25"/>
          <p:cNvGrpSpPr/>
          <p:nvPr/>
        </p:nvGrpSpPr>
        <p:grpSpPr>
          <a:xfrm>
            <a:off x="138544" y="2238237"/>
            <a:ext cx="3736340" cy="927735"/>
            <a:chOff x="138544" y="2238237"/>
            <a:chExt cx="3736340" cy="927735"/>
          </a:xfrm>
        </p:grpSpPr>
        <p:pic>
          <p:nvPicPr>
            <p:cNvPr id="26" name="object 2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33556" y="2238237"/>
              <a:ext cx="3140847" cy="898269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138544" y="3163036"/>
              <a:ext cx="1828800" cy="0"/>
            </a:xfrm>
            <a:custGeom>
              <a:avLst/>
              <a:gdLst/>
              <a:ahLst/>
              <a:cxnLst/>
              <a:rect l="l" t="t" r="r" b="b"/>
              <a:pathLst>
                <a:path w="1828800">
                  <a:moveTo>
                    <a:pt x="0" y="0"/>
                  </a:moveTo>
                  <a:lnTo>
                    <a:pt x="182880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259676" y="3166592"/>
            <a:ext cx="1882775" cy="17018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900" spc="-120" baseline="32407" dirty="0">
                <a:latin typeface="Trebuchet MS"/>
                <a:cs typeface="Trebuchet MS"/>
              </a:rPr>
              <a:t>1</a:t>
            </a:r>
            <a:r>
              <a:rPr sz="900" spc="-80" dirty="0">
                <a:latin typeface="Courier New"/>
                <a:cs typeface="Courier New"/>
                <a:hlinkClick r:id="rId8"/>
              </a:rPr>
              <a:t>http://www.merriam-</a:t>
            </a:r>
            <a:r>
              <a:rPr sz="900" spc="-75" dirty="0">
                <a:latin typeface="Courier New"/>
                <a:cs typeface="Courier New"/>
                <a:hlinkClick r:id="rId8"/>
              </a:rPr>
              <a:t>webster.com/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34" name="object 3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20" dirty="0"/>
              <a:t>Pawan</a:t>
            </a:r>
            <a:r>
              <a:rPr spc="15" dirty="0"/>
              <a:t> </a:t>
            </a:r>
            <a:r>
              <a:rPr dirty="0"/>
              <a:t>Goyal</a:t>
            </a:r>
            <a:r>
              <a:rPr spc="170" dirty="0"/>
              <a:t> </a:t>
            </a:r>
            <a:r>
              <a:rPr dirty="0"/>
              <a:t>(IIT</a:t>
            </a:r>
            <a:r>
              <a:rPr spc="15" dirty="0"/>
              <a:t> </a:t>
            </a:r>
            <a:r>
              <a:rPr spc="-10" dirty="0"/>
              <a:t>Kharagpur)</a:t>
            </a:r>
          </a:p>
        </p:txBody>
      </p:sp>
      <p:sp>
        <p:nvSpPr>
          <p:cNvPr id="36" name="object 36"/>
          <p:cNvSpPr txBox="1"/>
          <p:nvPr/>
        </p:nvSpPr>
        <p:spPr>
          <a:xfrm>
            <a:off x="368418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5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393346" y="3339672"/>
            <a:ext cx="1606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2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5</a:t>
            </a:r>
            <a:endParaRPr sz="600">
              <a:latin typeface="Cambria"/>
              <a:cs typeface="Cambria"/>
            </a:endParaRPr>
          </a:p>
        </p:txBody>
      </p:sp>
    </p:spTree>
  </p:cSld>
  <p:clrMapOvr>
    <a:masterClrMapping/>
  </p:clrMapOvr>
  <p:transition>
    <p:cut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Comparing</a:t>
            </a:r>
            <a:r>
              <a:rPr spc="50" dirty="0"/>
              <a:t> </a:t>
            </a:r>
            <a:r>
              <a:rPr dirty="0"/>
              <a:t>sense</a:t>
            </a:r>
            <a:r>
              <a:rPr spc="50" dirty="0"/>
              <a:t> </a:t>
            </a:r>
            <a:r>
              <a:rPr spc="-10" dirty="0"/>
              <a:t>clusters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597" y="756285"/>
            <a:ext cx="64757" cy="6475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2932" y="663747"/>
            <a:ext cx="3903345" cy="3695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18900"/>
              </a:lnSpc>
              <a:spcBef>
                <a:spcPts val="90"/>
              </a:spcBef>
            </a:pPr>
            <a:r>
              <a:rPr sz="950" spc="-20" dirty="0">
                <a:latin typeface="Trebuchet MS"/>
                <a:cs typeface="Trebuchet MS"/>
              </a:rPr>
              <a:t>If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word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undergoes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spc="55" dirty="0">
                <a:latin typeface="Trebuchet MS"/>
                <a:cs typeface="Trebuchet MS"/>
              </a:rPr>
              <a:t>sense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change,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this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can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be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detected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by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comparing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25" dirty="0">
                <a:latin typeface="Trebuchet MS"/>
                <a:cs typeface="Trebuchet MS"/>
              </a:rPr>
              <a:t> </a:t>
            </a:r>
            <a:r>
              <a:rPr sz="950" spc="55" dirty="0">
                <a:latin typeface="Trebuchet MS"/>
                <a:cs typeface="Trebuchet MS"/>
              </a:rPr>
              <a:t>sense</a:t>
            </a:r>
            <a:r>
              <a:rPr sz="950" spc="-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clusters</a:t>
            </a:r>
            <a:r>
              <a:rPr sz="950" spc="-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obtained</a:t>
            </a:r>
            <a:r>
              <a:rPr sz="950" spc="-2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from</a:t>
            </a:r>
            <a:r>
              <a:rPr sz="950" spc="-20" dirty="0">
                <a:latin typeface="Trebuchet MS"/>
                <a:cs typeface="Trebuchet MS"/>
              </a:rPr>
              <a:t> two </a:t>
            </a:r>
            <a:r>
              <a:rPr sz="950" spc="-35" dirty="0">
                <a:latin typeface="Trebuchet MS"/>
                <a:cs typeface="Trebuchet MS"/>
              </a:rPr>
              <a:t>different</a:t>
            </a:r>
            <a:r>
              <a:rPr sz="950" spc="-2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time </a:t>
            </a:r>
            <a:r>
              <a:rPr sz="950" spc="-10" dirty="0">
                <a:latin typeface="Trebuchet MS"/>
                <a:cs typeface="Trebuchet MS"/>
              </a:rPr>
              <a:t>periods</a:t>
            </a:r>
            <a:endParaRPr sz="950">
              <a:latin typeface="Trebuchet MS"/>
              <a:cs typeface="Trebuchet MS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8270" y="1266562"/>
            <a:ext cx="3591518" cy="1580097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20" dirty="0"/>
              <a:t>Pawan</a:t>
            </a:r>
            <a:r>
              <a:rPr spc="15" dirty="0"/>
              <a:t> </a:t>
            </a:r>
            <a:r>
              <a:rPr dirty="0"/>
              <a:t>Goyal</a:t>
            </a:r>
            <a:r>
              <a:rPr spc="170" dirty="0"/>
              <a:t> </a:t>
            </a:r>
            <a:r>
              <a:rPr dirty="0"/>
              <a:t>(IIT</a:t>
            </a:r>
            <a:r>
              <a:rPr spc="15" dirty="0"/>
              <a:t> </a:t>
            </a:r>
            <a:r>
              <a:rPr spc="-10" dirty="0"/>
              <a:t>Kharagpur)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368418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5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393346" y="3339672"/>
            <a:ext cx="1606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3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5</a:t>
            </a:r>
            <a:endParaRPr sz="600">
              <a:latin typeface="Cambria"/>
              <a:cs typeface="Cambria"/>
            </a:endParaRPr>
          </a:p>
        </p:txBody>
      </p:sp>
    </p:spTree>
  </p:cSld>
  <p:clrMapOvr>
    <a:masterClrMapping/>
  </p:clrMapOvr>
  <p:transition>
    <p:cut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4608195" cy="351790"/>
          </a:xfrm>
          <a:custGeom>
            <a:avLst/>
            <a:gdLst/>
            <a:ahLst/>
            <a:cxnLst/>
            <a:rect l="l" t="t" r="r" b="b"/>
            <a:pathLst>
              <a:path w="4608195" h="351790">
                <a:moveTo>
                  <a:pt x="4608004" y="0"/>
                </a:moveTo>
                <a:lnTo>
                  <a:pt x="0" y="0"/>
                </a:lnTo>
                <a:lnTo>
                  <a:pt x="0" y="351383"/>
                </a:lnTo>
                <a:lnTo>
                  <a:pt x="4608004" y="351383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5300" y="60502"/>
            <a:ext cx="194945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Split,</a:t>
            </a:r>
            <a:r>
              <a:rPr sz="14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join,</a:t>
            </a:r>
            <a:r>
              <a:rPr sz="1400" i="1" spc="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birth</a:t>
            </a:r>
            <a:r>
              <a:rPr sz="14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and</a:t>
            </a:r>
            <a:r>
              <a:rPr sz="1400" i="1" spc="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spc="-25" dirty="0">
                <a:solidFill>
                  <a:srgbClr val="FFFFFF"/>
                </a:solidFill>
                <a:latin typeface="Cambria"/>
                <a:cs typeface="Cambria"/>
              </a:rPr>
              <a:t>death</a:t>
            </a:r>
            <a:endParaRPr sz="140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2654" y="521189"/>
            <a:ext cx="3190477" cy="2643182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20" dirty="0"/>
              <a:t>Pawan</a:t>
            </a:r>
            <a:r>
              <a:rPr spc="15" dirty="0"/>
              <a:t> </a:t>
            </a:r>
            <a:r>
              <a:rPr dirty="0"/>
              <a:t>Goyal</a:t>
            </a:r>
            <a:r>
              <a:rPr spc="170" dirty="0"/>
              <a:t> </a:t>
            </a:r>
            <a:r>
              <a:rPr dirty="0"/>
              <a:t>(IIT</a:t>
            </a:r>
            <a:r>
              <a:rPr spc="15" dirty="0"/>
              <a:t> </a:t>
            </a:r>
            <a:r>
              <a:rPr spc="-10" dirty="0"/>
              <a:t>Kharagpur)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68418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5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13664">
              <a:lnSpc>
                <a:spcPct val="100000"/>
              </a:lnSpc>
              <a:spcBef>
                <a:spcPts val="50"/>
              </a:spcBef>
            </a:pPr>
            <a:r>
              <a:rPr dirty="0"/>
              <a:t>4</a:t>
            </a:r>
            <a:r>
              <a:rPr spc="-5" dirty="0"/>
              <a:t> </a:t>
            </a:r>
            <a:r>
              <a:rPr spc="-110" dirty="0"/>
              <a:t>/</a:t>
            </a:r>
            <a:r>
              <a:rPr spc="15" dirty="0"/>
              <a:t> </a:t>
            </a:r>
            <a:r>
              <a:rPr spc="-50" dirty="0"/>
              <a:t>5</a:t>
            </a:r>
          </a:p>
        </p:txBody>
      </p:sp>
    </p:spTree>
  </p:cSld>
  <p:clrMapOvr>
    <a:masterClrMapping/>
  </p:clrMapOvr>
  <p:transition>
    <p:cut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4608195" cy="351790"/>
          </a:xfrm>
          <a:custGeom>
            <a:avLst/>
            <a:gdLst/>
            <a:ahLst/>
            <a:cxnLst/>
            <a:rect l="l" t="t" r="r" b="b"/>
            <a:pathLst>
              <a:path w="4608195" h="351790">
                <a:moveTo>
                  <a:pt x="4608004" y="0"/>
                </a:moveTo>
                <a:lnTo>
                  <a:pt x="0" y="0"/>
                </a:lnTo>
                <a:lnTo>
                  <a:pt x="0" y="351383"/>
                </a:lnTo>
                <a:lnTo>
                  <a:pt x="4608004" y="351383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5300" y="60502"/>
            <a:ext cx="170561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A</a:t>
            </a:r>
            <a:r>
              <a:rPr sz="1400" i="1" spc="1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real</a:t>
            </a:r>
            <a:r>
              <a:rPr sz="1400" i="1" spc="1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example</a:t>
            </a:r>
            <a:r>
              <a:rPr sz="1400" i="1" spc="1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of</a:t>
            </a:r>
            <a:r>
              <a:rPr sz="14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spc="-20" dirty="0">
                <a:solidFill>
                  <a:srgbClr val="FFFFFF"/>
                </a:solidFill>
                <a:latin typeface="Cambria"/>
                <a:cs typeface="Cambria"/>
              </a:rPr>
              <a:t>birth</a:t>
            </a:r>
            <a:endParaRPr sz="140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4450" y="888296"/>
            <a:ext cx="3252551" cy="1851736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20" dirty="0"/>
              <a:t>Pawan</a:t>
            </a:r>
            <a:r>
              <a:rPr spc="15" dirty="0"/>
              <a:t> </a:t>
            </a:r>
            <a:r>
              <a:rPr dirty="0"/>
              <a:t>Goyal</a:t>
            </a:r>
            <a:r>
              <a:rPr spc="170" dirty="0"/>
              <a:t> </a:t>
            </a:r>
            <a:r>
              <a:rPr dirty="0"/>
              <a:t>(IIT</a:t>
            </a:r>
            <a:r>
              <a:rPr spc="15" dirty="0"/>
              <a:t> </a:t>
            </a:r>
            <a:r>
              <a:rPr spc="-10" dirty="0"/>
              <a:t>Kharagpur)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68418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5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13664">
              <a:lnSpc>
                <a:spcPct val="100000"/>
              </a:lnSpc>
              <a:spcBef>
                <a:spcPts val="50"/>
              </a:spcBef>
            </a:pPr>
            <a:r>
              <a:rPr dirty="0"/>
              <a:t>5</a:t>
            </a:r>
            <a:r>
              <a:rPr spc="-5" dirty="0"/>
              <a:t> </a:t>
            </a:r>
            <a:r>
              <a:rPr spc="-110" dirty="0"/>
              <a:t>/</a:t>
            </a:r>
            <a:r>
              <a:rPr spc="15" dirty="0"/>
              <a:t> </a:t>
            </a:r>
            <a:r>
              <a:rPr spc="-50" dirty="0"/>
              <a:t>5</a:t>
            </a:r>
          </a:p>
        </p:txBody>
      </p: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61</TotalTime>
  <Words>2784</Words>
  <Application>Microsoft Office PowerPoint</Application>
  <PresentationFormat>Custom</PresentationFormat>
  <Paragraphs>443</Paragraphs>
  <Slides>48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49" baseType="lpstr">
      <vt:lpstr>Office Theme</vt:lpstr>
      <vt:lpstr>PowerPoint Presentation</vt:lpstr>
      <vt:lpstr>Lexical Semantics</vt:lpstr>
      <vt:lpstr>PowerPoint Presentation</vt:lpstr>
      <vt:lpstr>Example: meaning related facts?</vt:lpstr>
      <vt:lpstr>Relations between word meanings</vt:lpstr>
      <vt:lpstr>Homonymy</vt:lpstr>
      <vt:lpstr>Problems for NLP applications</vt:lpstr>
      <vt:lpstr>Polysemy</vt:lpstr>
      <vt:lpstr>Polysemy: multiple related meanings</vt:lpstr>
      <vt:lpstr>Polysemy: multiple related meanings</vt:lpstr>
      <vt:lpstr>Synonymy</vt:lpstr>
      <vt:lpstr>Synonymy: A relation between senses</vt:lpstr>
      <vt:lpstr>Synonyms</vt:lpstr>
      <vt:lpstr>Antonyms</vt:lpstr>
      <vt:lpstr>Hyponymy and Hypernymy</vt:lpstr>
      <vt:lpstr>Hyponymy more formally</vt:lpstr>
      <vt:lpstr>Meronyms and holonyms</vt:lpstr>
      <vt:lpstr>PowerPoint Presentation</vt:lpstr>
      <vt:lpstr>Word Sense Disambiguation (WSD)</vt:lpstr>
      <vt:lpstr>Algorithms</vt:lpstr>
      <vt:lpstr>Knowledge Based Approaches</vt:lpstr>
      <vt:lpstr>Lesk’s Algorithm</vt:lpstr>
      <vt:lpstr>Walker’s Algorithm</vt:lpstr>
      <vt:lpstr>PowerPoint Presentation</vt:lpstr>
      <vt:lpstr>PowerPoint Presentation</vt:lpstr>
      <vt:lpstr>PowerPoint Presentation</vt:lpstr>
      <vt:lpstr>PowerPoint Presentation</vt:lpstr>
      <vt:lpstr>Naïve Bayes for WSD</vt:lpstr>
      <vt:lpstr>Training for Naïve Bayes</vt:lpstr>
      <vt:lpstr>PowerPoint Presentation</vt:lpstr>
      <vt:lpstr>Minimally Supervised WSD - Yarowsky</vt:lpstr>
      <vt:lpstr>More about heuristics</vt:lpstr>
      <vt:lpstr>Yarowsky’s Method</vt:lpstr>
      <vt:lpstr>PowerPoint Presentation</vt:lpstr>
      <vt:lpstr>PowerPoint Presentation</vt:lpstr>
      <vt:lpstr>PowerPoint Presentation</vt:lpstr>
      <vt:lpstr>PowerPoint Presentation</vt:lpstr>
      <vt:lpstr>Yarowsky’s Method</vt:lpstr>
      <vt:lpstr>HyperLex</vt:lpstr>
      <vt:lpstr>HyperLex</vt:lpstr>
      <vt:lpstr>PowerPoint Presentation</vt:lpstr>
      <vt:lpstr>Delineating Components</vt:lpstr>
      <vt:lpstr>Disambiguation</vt:lpstr>
      <vt:lpstr>PowerPoint Presentation</vt:lpstr>
      <vt:lpstr>PowerPoint Presentation</vt:lpstr>
      <vt:lpstr>Comparing sense clusters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Pawan Goyal</dc:creator>
  <cp:lastModifiedBy>Sujit</cp:lastModifiedBy>
  <cp:revision>7</cp:revision>
  <dcterms:created xsi:type="dcterms:W3CDTF">2023-11-21T12:48:04Z</dcterms:created>
  <dcterms:modified xsi:type="dcterms:W3CDTF">2026-03-04T05:20:42Z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2017-03-08T00:00:00Z</vt:filetime>
  </property>
  <property fmtid="{D5CDD505-2E9C-101B-9397-08002B2CF9AE}" pid="3" name="Creator">
    <vt:lpwstr>LaTeX with Beamer class version 3.36</vt:lpwstr>
  </property>
  <property fmtid="{D5CDD505-2E9C-101B-9397-08002B2CF9AE}" pid="4" name="LastSaved">
    <vt:filetime>2023-11-21T00:00:00Z</vt:filetime>
  </property>
  <property fmtid="{D5CDD505-2E9C-101B-9397-08002B2CF9AE}" pid="5" name="PTEX.Fullbanner">
    <vt:lpwstr>This is pdfTeX, Version 3.14159265-2.6-1.40.17 (TeX Live 2016/MacPorts 2016_1) kpathsea version 6.2.2</vt:lpwstr>
  </property>
  <property fmtid="{D5CDD505-2E9C-101B-9397-08002B2CF9AE}" pid="6" name="Producer">
    <vt:lpwstr>pdfTeX-1.40.17</vt:lpwstr>
  </property>
</Properties>
</file>